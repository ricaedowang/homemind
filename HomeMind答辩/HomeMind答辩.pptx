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Image src=&quot;assets/home_atmosphere.png&quot; style={{ position: 'absolute', top: 0, left: 0, width: 1280, height: 720, objectFit: 'cover' }} /&gt;&#10;    &lt;Box style={{ position: 'absolute', top: 0, left: 0, width: 1280, height: 720, background: 'linear-gradient(90deg, rgba(11,17,32,0.95) 0%, rgba(11,17,32,0.86) 40%, rgba(11,17,32,0.30) 100%)' }} /&gt;&#10;&#10;    &lt;Box style={{ position: 'relative', zIndex: 1, paddingLeft: 96, paddingTop: 150, width: 780 }}&gt;&#10;        &lt;Box style={{ flexDirection: 'row', alignItems: 'center', gap: 14, marginBottom: 30 }}&gt;&#10;            &lt;Box style={{ width: 48, height: 3, background: '#38BDF8' }} /&gt;&#10;            &lt;Text style={{ fontSize: 14, color: '#38BDF8', letterSpacing: 4, fontWeight: 700 }}&gt;智能家居 AI 管家&lt;/Text&gt;&#10;        &lt;/Box&gt;&#10;&#10;        &lt;Text style={{ fontSize: 68, fontWeight: 700, color: '#F8FAFC', lineHeight: 1.1, letterSpacing: 1 }}&gt;HomeMind&lt;/Text&gt;&#10;        &lt;Text style={{ fontSize: 34, fontWeight: 700, color: '#F8FAFC', lineHeight: 1.35, marginTop: 14, letterSpacing: 1 }}&gt;让智能家居真正「听得懂人话」&lt;/Text&gt;&#10;&#10;        &lt;Box style={{ width: 460, height: 1, background: 'rgba(248,250,252,0.16)', marginTop: 34 }} /&gt;&#10;&#10;        &lt;Text style={{ fontSize: 20, color: 'rgba(248,250,252,0.72)', lineHeight: 1.8, marginTop: 26, width: 540 }}&gt;&#10;            听得懂 · 记得住 · 管得住&#10;        &lt;/Text&gt;&#10;&#10;        &lt;Box style={{ flexDirection: 'row', gap: 56, marginTop: 72 }}&gt;&#10;            &lt;Box&gt;&#10;                &lt;Text style={{ fontSize: 12, color: 'rgba(248,250,252,0.42)', letterSpacing: 2 }}&gt;汇报人&lt;/Text&gt;&#10;                &lt;Text style={{ fontSize: 19, color: '#F8FAFC', marginTop: 8 }}&gt;[ 你的名字 ]&lt;/Text&gt;&#10;            &lt;/Box&gt;&#10;            &lt;Box&gt;&#10;                &lt;Text style={{ fontSize: 12, color: 'rgba(248,250,252,0.42)', letterSpacing: 2 }}&gt;项目规模&lt;/Text&gt;&#10;                &lt;Text style={{ fontSize: 19, color: '#F8FAFC', marginTop: 8, fontFamily: 'Consolas' }}&gt;16,531 行 / 76 提交&lt;/Text&gt;&#10;            &lt;/Box&gt;&#10;            &lt;Box&gt;&#10;                &lt;Text style={{ fontSize: 12, color: 'rgba(248,250,252,0.42)', letterSpacing: 2 }}&gt;日期&lt;/Text&gt;&#10;                &lt;Text style={{ fontSize: 19, color: '#F8FAFC', marginTop: 8 }}&gt;2026.10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5000"/>
                </a:srgbClr>
              </a:gs>
              <a:gs pos="40000">
                <a:srgbClr val="0B1120">
                  <a:alpha val="86000"/>
                </a:srgbClr>
              </a:gs>
              <a:gs pos="100000">
                <a:srgbClr val="0B1120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矩形 4"/>
          <p:cNvSpPr/>
          <p:nvPr/>
        </p:nvSpPr>
        <p:spPr>
          <a:xfrm>
            <a:off x="914400" y="1495425"/>
            <a:ext cx="4572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1504950" y="1428750"/>
            <a:ext cx="14192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 spc="300">
                <a:solidFill>
                  <a:srgbClr val="38BDF8"/>
                </a:solidFill>
                <a:latin typeface="微软雅黑"/>
                <a:ea typeface="微软雅黑"/>
              </a:rPr>
              <a:t>智能家居</a:t>
            </a:r>
            <a:r>
              <a:rPr lang="en-US" sz="1050" b="1" spc="300">
                <a:solidFill>
                  <a:srgbClr val="38BDF8"/>
                </a:solidFill>
                <a:latin typeface="微软雅黑"/>
                <a:ea typeface="微软雅黑"/>
              </a:rPr>
              <a:t> AI </a:t>
            </a:r>
            <a:r>
              <a:rPr lang="zh-CN" sz="1050" b="1" spc="300">
                <a:solidFill>
                  <a:srgbClr val="38BDF8"/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876425"/>
            <a:ext cx="6515100" cy="8572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5100" b="1" spc="75">
                <a:solidFill>
                  <a:srgbClr val="F8FAFC"/>
                </a:solidFill>
                <a:latin typeface="微软雅黑"/>
                <a:ea typeface="微软雅黑"/>
              </a:rPr>
              <a:t>HomeMind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2867025"/>
            <a:ext cx="65151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2550" b="1" spc="75">
                <a:solidFill>
                  <a:srgbClr val="F8FAFC"/>
                </a:solidFill>
                <a:latin typeface="微软雅黑"/>
                <a:ea typeface="微软雅黑"/>
              </a:rPr>
              <a:t>让智能家居真正「听得懂人话」</a:t>
            </a:r>
            <a:endParaRPr/>
          </a:p>
        </p:txBody>
      </p:sp>
      <p:sp>
        <p:nvSpPr>
          <p:cNvPr id="9" name="矩形 8"/>
          <p:cNvSpPr/>
          <p:nvPr/>
        </p:nvSpPr>
        <p:spPr>
          <a:xfrm>
            <a:off x="914400" y="3724275"/>
            <a:ext cx="4381500" cy="9525"/>
          </a:xfrm>
          <a:prstGeom prst="rect">
            <a:avLst/>
          </a:prstGeom>
          <a:solidFill>
            <a:srgbClr val="F8FAFC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914400" y="3981450"/>
            <a:ext cx="5143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500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听得懂</a:t>
            </a:r>
            <a:r>
              <a:rPr lang="en-US" sz="1500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记得住</a:t>
            </a:r>
            <a:r>
              <a:rPr lang="en-US" sz="1500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管得住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5086350"/>
            <a:ext cx="981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汇报人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5305425"/>
            <a:ext cx="9810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dirty="0">
                <a:solidFill>
                  <a:srgbClr val="F8FAFC"/>
                </a:solidFill>
                <a:latin typeface="微软雅黑"/>
                <a:ea typeface="微软雅黑"/>
              </a:rPr>
              <a:t>AI-06 </a:t>
            </a:r>
            <a:r>
              <a:rPr lang="zh-CN" altLang="en-US" sz="1425" dirty="0">
                <a:solidFill>
                  <a:srgbClr val="F8FAFC"/>
                </a:solidFill>
                <a:latin typeface="微软雅黑"/>
                <a:ea typeface="微软雅黑"/>
              </a:rPr>
              <a:t>王宪龙</a:t>
            </a:r>
            <a:endParaRPr lang="en-US" altLang="zh-CN" sz="1425" dirty="0">
              <a:solidFill>
                <a:srgbClr val="F8FAFC"/>
              </a:solidFill>
              <a:latin typeface="微软雅黑"/>
              <a:ea typeface="微软雅黑"/>
            </a:endParaRPr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428875" y="5086350"/>
            <a:ext cx="19526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项目规模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2428875" y="5305425"/>
            <a:ext cx="19526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F8FAFC"/>
                </a:solidFill>
                <a:latin typeface="Consolas"/>
                <a:ea typeface="Consolas"/>
              </a:rPr>
              <a:t>16,531 </a:t>
            </a:r>
            <a:r>
              <a:rPr lang="zh-CN" sz="1425">
                <a:solidFill>
                  <a:srgbClr val="F8FAFC"/>
                </a:solidFill>
                <a:latin typeface="Consolas"/>
                <a:ea typeface="Consolas"/>
              </a:rPr>
              <a:t>行</a:t>
            </a:r>
            <a:r>
              <a:rPr lang="en-US" sz="1425">
                <a:solidFill>
                  <a:srgbClr val="F8FAFC"/>
                </a:solidFill>
                <a:latin typeface="Consolas"/>
                <a:ea typeface="Consolas"/>
              </a:rPr>
              <a:t> / 76 </a:t>
            </a:r>
            <a:r>
              <a:rPr lang="zh-CN" sz="1425">
                <a:solidFill>
                  <a:srgbClr val="F8FAFC"/>
                </a:solidFill>
                <a:latin typeface="Consolas"/>
                <a:ea typeface="Consolas"/>
              </a:rPr>
              <a:t>提交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914900" y="5086350"/>
            <a:ext cx="647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日期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4914900" y="5305425"/>
            <a:ext cx="647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dirty="0">
                <a:solidFill>
                  <a:srgbClr val="F8FAFC"/>
                </a:solidFill>
                <a:latin typeface="微软雅黑"/>
                <a:ea typeface="微软雅黑"/>
              </a:rPr>
              <a:t>2026.10.22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00, paddingLeft: 64, paddingRight: 64, paddingTop: 30, flexDirection: 'row', alignItems: 'center', gap: 18 }}&gt;&#10;        &lt;Box style={{ width: 4, height: 34, background: '#38BDF8' }} /&gt;&#10;        &lt;Text style={{ fontSize: 36, fontWeight: 700, color: '#F8FAFC', letterSpacing: 0.5 }}&gt;为什么需要这个项目&lt;/Text&gt;&#10;    &lt;/Box&gt;&#10;&#10;    &lt;Box style={{ height: 66, paddingLeft: 64, paddingRight: 64, flexDirection: 'row', gap: 16 }}&gt;&#10;        &lt;Box style={{ flex: 1, background: 'rgba(56,189,248,0.08)', border: '1px solid rgba(56,189,248,0.25)', borderRadius: 8, padding: '10px 20px', flexDirection: 'row', alignItems: 'center', gap: 12 }}&gt;&#10;            &lt;Text style={{ fontSize: 24, fontWeight: 700, color: '#38BDF8', fontFamily: 'Consolas' }}&gt;6,870 亿&lt;/Text&gt;&#10;            &lt;Text style={{ fontSize: 14, color: 'rgba(248,250,252,0.55)' }}&gt;中国智能家居市场（2025，IDC 口径）&lt;/Text&gt;&#10;        &lt;/Box&gt;&#10;        &lt;Box style={{ flex: 1, background: 'rgba(56,189,248,0.08)', border: '1px solid rgba(56,189,248,0.25)', borderRadius: 8, padding: '10px 20px', flexDirection: 'row', alignItems: 'center', gap: 12 }}&gt;&#10;            &lt;Text style={{ fontSize: 24, fontWeight: 700, color: '#38BDF8', fontFamily: 'Consolas' }}&gt;89%&lt;/Text&gt;&#10;            &lt;Text style={{ fontSize: 14, color: 'rgba(248,250,252,0.55)' }}&gt;语音交互激活率 · 日均 6.3 次指令&lt;/Text&gt;&#10;        &lt;/Box&gt;&#10;        &lt;Box style={{ flex: 1, background: 'rgba(56,189,248,0.08)', border: '1px solid rgba(56,189,248,0.25)', borderRadius: 8, padding: '10px 20px', flexDirection: 'row', alignItems: 'center', gap: 12 }}&gt;&#10;            &lt;Text style={{ fontSize: 24, fontWeight: 700, color: '#38BDF8', fontFamily: 'Consolas' }}&gt;6.8 台&lt;/Text&gt;&#10;            &lt;Text style={{ fontSize: 14, color: 'rgba(248,250,252,0.55)' }}&gt;每户平均连接设备（2021 年仅 2.3 台）&lt;/Text&gt;&#10;        &lt;/Box&gt;&#10;    &lt;/Box&gt;&#10;&#10;    &lt;Box style={{ height: 490, paddingLeft: 64, paddingRight: 64, flexDirection: 'row', gap: 52, paddingTop: 16 }}&gt;&#10;        &lt;Box style={{ width: 660, flexDirection: 'column', gap: 12 }}&gt;&#10;            &lt;Box style={{ flexDirection: 'row', gap: 22, background: '#16223A', border: '1px solid rgba(248,250,252,0.10)', borderRadius: 10, padding: '19px 24px' }}&gt;&#10;                &lt;Text style={{ fontSize: 34, fontWeight: 700, color: '#38BDF8', fontFamily: 'Consolas', lineHeight: 1.1, width: 52 }}&gt;01&lt;/Text&gt;&#10;                &lt;Box style={{ width: 522 }}&gt;&#10;                    &lt;Text style={{ fontSize: 22, fontWeight: 700, color: '#F8FAFC' }}&gt;记不住你的习惯&lt;/Text&gt;&#10;                    &lt;Text style={{ fontSize: 18, color: 'rgba(248,250,252,0.62)', lineHeight: 1.6, marginTop: 8 }}&gt;&#10;                        说了十遍&quot;空调 26 度&quot;，它每天还问你要开几度。&#10;                    &lt;/Text&gt;&#10;                &lt;/Box&gt;&#10;            &lt;/Box&gt;&#10;&#10;            &lt;Box style={{ flexDirection: 'row', gap: 22, background: '#16223A', border: '1px solid rgba(248,250,252,0.10)', borderRadius: 10, padding: '19px 24px' }}&gt;&#10;                &lt;Text style={{ fontSize: 34, fontWeight: 700, color: '#38BDF8', fontFamily: 'Consolas', lineHeight: 1.1, width: 52 }}&gt;02&lt;/Text&gt;&#10;                &lt;Box style={{ width: 522 }}&gt;&#10;                    &lt;Text style={{ fontSize: 22, fontWeight: 700, color: '#F8FAFC' }}&gt;听不懂话外之意&lt;/Text&gt;&#10;                    &lt;Text style={{ fontSize: 18, color: 'rgba(248,250,252,0.62)', lineHeight: 1.6, marginTop: 8 }}&gt;&#10;                        你说&quot;提醒我九点关灯&quot;，它当场就把灯关了。&#10;                    &lt;/Text&gt;&#10;                &lt;/Box&gt;&#10;            &lt;/Box&gt;&#10;&#10;            &lt;Box style={{ flexDirection: 'row', gap: 22, background: '#16223A', border: '1px solid rgba(248,250,252,0.10)', borderRadius: 10, padding: '19px 24px' }}&gt;&#10;                &lt;Text style={{ fontSize: 34, fontWeight: 700, color: '#38BDF8', fontFamily: 'Consolas', lineHeight: 1.1, width: 52 }}&gt;03&lt;/Text&gt;&#10;                &lt;Box style={{ width: 522 }}&gt;&#10;                    &lt;Text style={{ fontSize: 22, fontWeight: 700, color: '#F8FAFC' }}&gt;没有边界感&lt;/Text&gt;&#10;                    &lt;Text style={{ fontSize: 18, color: 'rgba(248,250,252,0.62)', lineHeight: 1.6, marginTop: 8 }}&gt;&#10;                        一个账号能控制所有人家的设备，设备说动就动。&#10;                    &lt;/Text&gt;&#10;                &lt;/Box&gt;&#10;            &lt;/Box&gt;&#10;        &lt;/Box&gt;&#10;&#10;        &lt;Box style={{ width: 440, justifyContent: 'center' }}&gt;&#10;            &lt;Box style={{ background: 'rgba(56,189,248,0.08)', border: '1px solid rgba(56,189,248,0.30)', borderRadius: 10, padding: '30px 30px' }}&gt;&#10;                &lt;Text style={{ fontSize: 13, color: '#38BDF8', letterSpacing: 3, fontWeight: 700 }}&gt;所以问题的根源是&lt;/Text&gt;&#10;                &lt;Text style={{ fontSize: 26, fontWeight: 700, color: '#F8FAFC', lineHeight: 1.5, marginTop: 16 }}&gt;&#10;                    设备越来越多，&lt;br /&gt;却缺了「理解」和「约束」两层。&#10;                &lt;/Text&gt;&#10;                &lt;Box style={{ width: 60, height: 1, background: 'rgba(248,250,252,0.20)', marginTop: 22 }} /&gt;&#10;                &lt;Text style={{ fontSize: 18, color: 'rgba(248,250,252,0.62)', lineHeight: 1.75, marginTop: 18 }}&gt;&#10;                    理解：听懂并记住；&lt;br /&gt;约束：兜住别乱动。&lt;br /&gt;&#10;                    这三个痛点，就是我要解决的三件事。&#10;                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矩形 189"/>
          <p:cNvSpPr/>
          <p:nvPr/>
        </p:nvSpPr>
        <p:spPr>
          <a:xfrm>
            <a:off x="609600" y="4572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819150" y="409575"/>
            <a:ext cx="31337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为什么需要这个项目</a:t>
            </a:r>
            <a:endParaRPr/>
          </a:p>
        </p:txBody>
      </p:sp>
      <p:sp>
        <p:nvSpPr>
          <p:cNvPr id="192" name="矩形: 圆角 191"/>
          <p:cNvSpPr/>
          <p:nvPr/>
        </p:nvSpPr>
        <p:spPr>
          <a:xfrm>
            <a:off x="609600" y="952500"/>
            <a:ext cx="3552825" cy="628650"/>
          </a:xfrm>
          <a:prstGeom prst="roundRect">
            <a:avLst>
              <a:gd name="adj" fmla="val 12121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800100" y="1133475"/>
            <a:ext cx="9429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8BDF8"/>
                </a:solidFill>
                <a:latin typeface="Consolas"/>
                <a:ea typeface="Consolas"/>
              </a:rPr>
              <a:t>6,870 </a:t>
            </a:r>
            <a:r>
              <a:rPr lang="zh-CN" sz="1800" b="1">
                <a:solidFill>
                  <a:srgbClr val="38BDF8"/>
                </a:solidFill>
                <a:latin typeface="Consolas"/>
                <a:ea typeface="Consolas"/>
              </a:rPr>
              <a:t>亿</a:t>
            </a:r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857375" y="1190625"/>
            <a:ext cx="2114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中国智能家居市场（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2025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，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IDC 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口径）</a:t>
            </a:r>
            <a:endParaRPr/>
          </a:p>
        </p:txBody>
      </p:sp>
      <p:sp>
        <p:nvSpPr>
          <p:cNvPr id="195" name="矩形: 圆角 194"/>
          <p:cNvSpPr/>
          <p:nvPr/>
        </p:nvSpPr>
        <p:spPr>
          <a:xfrm>
            <a:off x="4314825" y="952500"/>
            <a:ext cx="3562350" cy="628650"/>
          </a:xfrm>
          <a:prstGeom prst="roundRect">
            <a:avLst>
              <a:gd name="adj" fmla="val 12121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4505325" y="1133475"/>
            <a:ext cx="381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8BDF8"/>
                </a:solidFill>
                <a:latin typeface="Consolas"/>
                <a:ea typeface="Consolas"/>
              </a:rPr>
              <a:t>89%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5000625" y="1190625"/>
            <a:ext cx="2000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语音交互激活率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日均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6.3 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次指令</a:t>
            </a:r>
            <a:endParaRPr/>
          </a:p>
        </p:txBody>
      </p:sp>
      <p:sp>
        <p:nvSpPr>
          <p:cNvPr id="198" name="矩形: 圆角 197"/>
          <p:cNvSpPr/>
          <p:nvPr/>
        </p:nvSpPr>
        <p:spPr>
          <a:xfrm>
            <a:off x="8029575" y="952500"/>
            <a:ext cx="3552825" cy="628650"/>
          </a:xfrm>
          <a:prstGeom prst="roundRect">
            <a:avLst>
              <a:gd name="adj" fmla="val 12121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8220075" y="1133475"/>
            <a:ext cx="7524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8BDF8"/>
                </a:solidFill>
                <a:latin typeface="Consolas"/>
                <a:ea typeface="Consolas"/>
              </a:rPr>
              <a:t>6.8 </a:t>
            </a:r>
            <a:r>
              <a:rPr lang="zh-CN" sz="1800" b="1">
                <a:solidFill>
                  <a:srgbClr val="38BDF8"/>
                </a:solidFill>
                <a:latin typeface="Consolas"/>
                <a:ea typeface="Consolas"/>
              </a:rPr>
              <a:t>台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9086850" y="1190625"/>
            <a:ext cx="2305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每户平均连接设备（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2021 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年仅</a:t>
            </a:r>
            <a:r>
              <a:rPr lang="en-US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2.3 </a:t>
            </a:r>
            <a:r>
              <a:rPr lang="zh-CN" sz="105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台）</a:t>
            </a:r>
            <a:endParaRPr/>
          </a:p>
        </p:txBody>
      </p:sp>
      <p:sp>
        <p:nvSpPr>
          <p:cNvPr id="201" name="矩形: 圆角 200"/>
          <p:cNvSpPr/>
          <p:nvPr/>
        </p:nvSpPr>
        <p:spPr>
          <a:xfrm>
            <a:off x="609600" y="173355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838200" y="1914525"/>
            <a:ext cx="4953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550" b="1" dirty="0">
                <a:solidFill>
                  <a:srgbClr val="38BDF8"/>
                </a:solidFill>
                <a:latin typeface="Consolas"/>
                <a:ea typeface="Consolas"/>
              </a:rPr>
              <a:t>01</a:t>
            </a:r>
            <a:endParaRPr dirty="0"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1543050" y="1914525"/>
            <a:ext cx="4972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 dirty="0">
                <a:solidFill>
                  <a:srgbClr val="F8FAFC"/>
                </a:solidFill>
                <a:latin typeface="微软雅黑"/>
                <a:ea typeface="微软雅黑"/>
              </a:rPr>
              <a:t>记不住你的习惯</a:t>
            </a:r>
            <a:endParaRPr dirty="0"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543050" y="2247900"/>
            <a:ext cx="49720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说了十遍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空调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度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，它每天还问你要开几度。</a:t>
            </a:r>
            <a:endParaRPr/>
          </a:p>
        </p:txBody>
      </p:sp>
      <p:sp>
        <p:nvSpPr>
          <p:cNvPr id="205" name="矩形: 圆角 204"/>
          <p:cNvSpPr/>
          <p:nvPr/>
        </p:nvSpPr>
        <p:spPr>
          <a:xfrm>
            <a:off x="609600" y="287655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38200" y="3057525"/>
            <a:ext cx="4953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8BD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543050" y="3057525"/>
            <a:ext cx="4972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听不懂话外之意</a:t>
            </a:r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543050" y="3390900"/>
            <a:ext cx="49720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你说</a:t>
            </a:r>
            <a:r>
              <a:rPr lang="en-US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提醒我九点关灯</a:t>
            </a:r>
            <a:r>
              <a:rPr lang="en-US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，它当场就把灯关了。</a:t>
            </a:r>
            <a:endParaRPr dirty="0"/>
          </a:p>
        </p:txBody>
      </p:sp>
      <p:sp>
        <p:nvSpPr>
          <p:cNvPr id="209" name="矩形: 圆角 208"/>
          <p:cNvSpPr/>
          <p:nvPr/>
        </p:nvSpPr>
        <p:spPr>
          <a:xfrm>
            <a:off x="609600" y="401955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838200" y="4200525"/>
            <a:ext cx="4953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8BDF8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543050" y="4200525"/>
            <a:ext cx="4972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没有边界感</a:t>
            </a:r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543050" y="4533900"/>
            <a:ext cx="49720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 dirty="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一个账号能控制所有人家的设备，设备说动就动。</a:t>
            </a:r>
            <a:endParaRPr dirty="0"/>
          </a:p>
        </p:txBody>
      </p:sp>
      <p:sp>
        <p:nvSpPr>
          <p:cNvPr id="213" name="矩形: 圆角 212"/>
          <p:cNvSpPr/>
          <p:nvPr/>
        </p:nvSpPr>
        <p:spPr>
          <a:xfrm>
            <a:off x="7391400" y="2143125"/>
            <a:ext cx="4191000" cy="3695700"/>
          </a:xfrm>
          <a:prstGeom prst="roundRect">
            <a:avLst>
              <a:gd name="adj" fmla="val 2577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7677150" y="2428875"/>
            <a:ext cx="36195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38BDF8"/>
                </a:solidFill>
                <a:latin typeface="微软雅黑"/>
                <a:ea typeface="微软雅黑"/>
              </a:rPr>
              <a:t>所以问题的根源是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7677150" y="2733675"/>
            <a:ext cx="3619500" cy="1343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950" b="1" dirty="0">
                <a:solidFill>
                  <a:srgbClr val="F8FAFC"/>
                </a:solidFill>
                <a:latin typeface="微软雅黑"/>
                <a:ea typeface="微软雅黑"/>
              </a:rPr>
              <a:t>设备越来越多，</a:t>
            </a:r>
            <a:endParaRPr dirty="0"/>
          </a:p>
          <a:p>
            <a:pPr>
              <a:lnSpc>
                <a:spcPct val="150000"/>
              </a:lnSpc>
            </a:pPr>
            <a:r>
              <a:rPr lang="zh-CN" sz="1950" b="1" dirty="0">
                <a:solidFill>
                  <a:srgbClr val="F8FAFC"/>
                </a:solidFill>
                <a:latin typeface="微软雅黑"/>
                <a:ea typeface="微软雅黑"/>
              </a:rPr>
              <a:t>却缺了「理解」和「约束」两层。</a:t>
            </a:r>
            <a:endParaRPr dirty="0"/>
          </a:p>
        </p:txBody>
      </p:sp>
      <p:sp>
        <p:nvSpPr>
          <p:cNvPr id="216" name="矩形 215"/>
          <p:cNvSpPr/>
          <p:nvPr/>
        </p:nvSpPr>
        <p:spPr>
          <a:xfrm>
            <a:off x="7677150" y="4286250"/>
            <a:ext cx="571500" cy="9525"/>
          </a:xfrm>
          <a:prstGeom prst="rect">
            <a:avLst/>
          </a:prstGeom>
          <a:solidFill>
            <a:srgbClr val="F8FAFC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677150" y="4467225"/>
            <a:ext cx="3619500" cy="1085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理解：听懂并记住；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约束：兜住别乱动。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这三个痛点，就是我要解决的三件事。</a:t>
            </a:r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02 / 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项目目标：听得懂 · 记得住 · 管得住&lt;/Text&gt;&#10;    &lt;/Box&gt;&#10;&#10;    &lt;Box style={{ height: 546, paddingLeft: 64, paddingRight: 64, flexDirection: 'row', gap: 52 }}&gt;&#10;        &lt;Box style={{ width: 340, justifyContent: 'center' }}&gt;&#10;            &lt;Text style={{ fontSize: 96, fontWeight: 700, color: 'rgba(56,189,248,0.22)', fontFamily: 'Consolas', lineHeight: 1 }}&gt;03&lt;/Text&gt;&#10;            &lt;Text style={{ fontSize: 30, fontWeight: 700, color: '#F8FAFC', lineHeight: 1.5, marginTop: 18 }}&gt;&#10;                三个能力&lt;br /&gt;各解决&lt;br /&gt;一个痛点&#10;            &lt;/Text&gt;&#10;            &lt;Box style={{ width: 56, height: 3, background: '#38BDF8', marginTop: 26 }} /&gt;&#10;            &lt;Text style={{ fontSize: 17, color: 'rgba(248,250,252,0.55)', lineHeight: 1.8, marginTop: 22, width: 300 }}&gt;&#10;                业务目标：三个能力对三个痛点。&lt;br /&gt;&#10;                技术目标：记忆改变行为、&lt;br /&gt;安全是硬约束。&#10;            &lt;/Text&gt;&#10;        &lt;/Box&gt;&#10;&#10;        &lt;Box style={{ width: 760, flexDirection: 'column', gap: 22 }}&gt;&#10;            &lt;Box style={{ flex: 1, flexDirection: 'row', gap: 18, alignItems: 'center', background: '#16223A', border: '1px solid rgba(56,189,248,0.22)', borderRadius: 10, padding: '26px 26px' }}&gt;&#10;                &lt;Text style={{ fontSize: 13, color: '#38BDF8', fontFamily: 'Consolas', fontWeight: 700, width: 44, letterSpacing: 1 }}&gt;A-1&lt;/Text&gt;&#10;                &lt;Box style={{ width: 668 }}&gt;&#10;                    &lt;Text style={{ fontSize: 24, fontWeight: 700, color: '#F8FAFC' }}&gt;听得懂&lt;/Text&gt;&#10;                    &lt;Text style={{ fontSize: 18, color: 'rgba(248,250,252,0.62)', lineHeight: 1.7, marginTop: 9 }}&gt;&#10;                        听懂话外之意：&lt;span style={{ color: '#38BDF8' }}&gt;&quot;提醒关灯&quot;和&quot;现在关灯&quot;是两回事&lt;/span&gt;。&lt;br /&gt;&#10;                        说不清的时候，反问一句，而不是闷头替你决定。&#10;                    &lt;/Text&gt;&#10;                &lt;/Box&gt;&#10;            &lt;/Box&gt;&#10;&#10;            &lt;Box style={{ flex: 1, flexDirection: 'row', gap: 18, alignItems: 'center', background: '#16223A', border: '1px solid rgba(56,189,248,0.22)', borderRadius: 10, padding: '26px 26px' }}&gt;&#10;                &lt;Text style={{ fontSize: 13, color: '#38BDF8', fontFamily: 'Consolas', fontWeight: 700, width: 44, letterSpacing: 1 }}&gt;A-2&lt;/Text&gt;&#10;                &lt;Box style={{ width: 668 }}&gt;&#10;                    &lt;Text style={{ fontSize: 24, fontWeight: 700, color: '#F8FAFC' }}&gt;记得住&lt;/Text&gt;&#10;                    &lt;Text style={{ fontSize: 18, color: 'rgba(248,250,252,0.62)', lineHeight: 1.7, marginTop: 9 }}&gt;&#10;                        记住你的习惯，&lt;span style={{ color: '#38BDF8' }}&gt;让记忆真的改变行为&lt;/span&gt;——&lt;br /&gt;&#10;                        说&quot;开空调&quot;，它直接按你记下的 26 度来。&#10;                    &lt;/Text&gt;&#10;                &lt;/Box&gt;&#10;            &lt;/Box&gt;&#10;&#10;            &lt;Box style={{ flex: 1, flexDirection: 'row', gap: 18, alignItems: 'center', background: 'rgba(251,113,133,0.08)', border: '1px solid rgba(251,113,133,0.42)', borderRadius: 10, padding: '26px 26px' }}&gt;&#10;                &lt;Text style={{ fontSize: 13, color: '#FB7185', fontFamily: 'Consolas', fontWeight: 700, width: 44, letterSpacing: 1 }}&gt;A-3&lt;/Text&gt;&#10;                &lt;Box style={{ width: 668 }}&gt;&#10;                    &lt;Text style={{ fontSize: 24, fontWeight: 700, color: '#F8FAFC' }}&gt;管得住&lt;/Text&gt;&#10;                    &lt;Text style={{ fontSize: 18, color: 'rgba(248,250,252,0.62)', lineHeight: 1.7, marginTop: 9 }}&gt;&#10;                        该问的问、该拦的拦：&lt;span style={{ color: '#FB7185' }}&gt;高危动作二次确认，跨家庭一律拦下&lt;/span&gt;。&lt;br /&gt;&#10;                        这一条，才是智能家居能不能落地的分水岭。&#10;                    &lt;/Text&gt;&#10;                &lt;/Box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3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矩形 2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矩形 221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19150" y="476250"/>
            <a:ext cx="55530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项目目标：听得懂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记得住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管得住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09600" y="1466850"/>
            <a:ext cx="323850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8BDF8">
                    <a:alpha val="22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609600" y="2743200"/>
            <a:ext cx="3238500" cy="1543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8FAFC"/>
                </a:solidFill>
                <a:latin typeface="微软雅黑"/>
                <a:ea typeface="微软雅黑"/>
              </a:rPr>
              <a:t>三个能力</a:t>
            </a:r>
            <a:endParaRPr/>
          </a:p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8FAFC"/>
                </a:solidFill>
                <a:latin typeface="微软雅黑"/>
                <a:ea typeface="微软雅黑"/>
              </a:rPr>
              <a:t>各解决</a:t>
            </a:r>
            <a:endParaRPr/>
          </a:p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8FAFC"/>
                </a:solidFill>
                <a:latin typeface="微软雅黑"/>
                <a:ea typeface="微软雅黑"/>
              </a:rPr>
              <a:t>一个痛点</a:t>
            </a:r>
            <a:endParaRPr/>
          </a:p>
        </p:txBody>
      </p:sp>
      <p:sp>
        <p:nvSpPr>
          <p:cNvPr id="226" name="矩形 225"/>
          <p:cNvSpPr/>
          <p:nvPr/>
        </p:nvSpPr>
        <p:spPr>
          <a:xfrm>
            <a:off x="609600" y="4533900"/>
            <a:ext cx="5334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609600" y="4772025"/>
            <a:ext cx="2857500" cy="1057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业务目标：三个能力对三个痛点。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技术目标：记忆改变行为、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安全是硬约束。</a:t>
            </a:r>
            <a:endParaRPr/>
          </a:p>
        </p:txBody>
      </p:sp>
      <p:sp>
        <p:nvSpPr>
          <p:cNvPr id="228" name="矩形: 圆角 227"/>
          <p:cNvSpPr/>
          <p:nvPr/>
        </p:nvSpPr>
        <p:spPr>
          <a:xfrm>
            <a:off x="4343400" y="1047750"/>
            <a:ext cx="7239000" cy="1590675"/>
          </a:xfrm>
          <a:prstGeom prst="roundRect">
            <a:avLst>
              <a:gd name="adj" fmla="val 5988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4591050" y="1771650"/>
            <a:ext cx="4095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A-1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5172075" y="1314450"/>
            <a:ext cx="6362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微软雅黑"/>
                <a:ea typeface="微软雅黑"/>
              </a:rPr>
              <a:t>听得懂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5172075" y="1676400"/>
            <a:ext cx="6362700" cy="704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听懂话外之意：</a:t>
            </a:r>
            <a:r>
              <a:rPr lang="en-US" sz="1350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38BDF8"/>
                </a:solidFill>
                <a:latin typeface="微软雅黑"/>
                <a:ea typeface="微软雅黑"/>
              </a:rPr>
              <a:t>提醒关灯</a:t>
            </a:r>
            <a:r>
              <a:rPr lang="en-US" sz="1350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38BDF8"/>
                </a:solidFill>
                <a:latin typeface="微软雅黑"/>
                <a:ea typeface="微软雅黑"/>
              </a:rPr>
              <a:t>和</a:t>
            </a:r>
            <a:r>
              <a:rPr lang="en-US" sz="1350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38BDF8"/>
                </a:solidFill>
                <a:latin typeface="微软雅黑"/>
                <a:ea typeface="微软雅黑"/>
              </a:rPr>
              <a:t>现在关灯</a:t>
            </a:r>
            <a:r>
              <a:rPr lang="en-US" sz="1350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38BDF8"/>
                </a:solidFill>
                <a:latin typeface="微软雅黑"/>
                <a:ea typeface="微软雅黑"/>
              </a:rPr>
              <a:t>是两回事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说不清的时候，反问一句，而不是闷头替你决定。</a:t>
            </a:r>
            <a:endParaRPr/>
          </a:p>
        </p:txBody>
      </p:sp>
      <p:sp>
        <p:nvSpPr>
          <p:cNvPr id="232" name="矩形: 圆角 231"/>
          <p:cNvSpPr/>
          <p:nvPr/>
        </p:nvSpPr>
        <p:spPr>
          <a:xfrm>
            <a:off x="4343400" y="2847975"/>
            <a:ext cx="7239000" cy="1600200"/>
          </a:xfrm>
          <a:prstGeom prst="roundRect">
            <a:avLst>
              <a:gd name="adj" fmla="val 5952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4591050" y="3571875"/>
            <a:ext cx="4095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A-2</a:t>
            </a:r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5172075" y="3114675"/>
            <a:ext cx="6362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微软雅黑"/>
                <a:ea typeface="微软雅黑"/>
              </a:rPr>
              <a:t>记得住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5172075" y="3476625"/>
            <a:ext cx="6362700" cy="704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记住你的习惯，</a:t>
            </a:r>
            <a:r>
              <a:rPr lang="zh-CN" sz="1350">
                <a:solidFill>
                  <a:srgbClr val="38BDF8"/>
                </a:solidFill>
                <a:latin typeface="微软雅黑"/>
                <a:ea typeface="微软雅黑"/>
              </a:rPr>
              <a:t>让记忆真的改变行为</a:t>
            </a:r>
            <a:r>
              <a:rPr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——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说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开空调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，它直接按你记下的</a:t>
            </a:r>
            <a:r>
              <a:rPr lang="en-US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度来。</a:t>
            </a:r>
            <a:endParaRPr/>
          </a:p>
        </p:txBody>
      </p:sp>
      <p:sp>
        <p:nvSpPr>
          <p:cNvPr id="236" name="矩形: 圆角 235"/>
          <p:cNvSpPr/>
          <p:nvPr/>
        </p:nvSpPr>
        <p:spPr>
          <a:xfrm>
            <a:off x="4343400" y="4657725"/>
            <a:ext cx="7239000" cy="1590675"/>
          </a:xfrm>
          <a:prstGeom prst="roundRect">
            <a:avLst>
              <a:gd name="adj" fmla="val 5988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591050" y="5381625"/>
            <a:ext cx="4095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B7185"/>
                </a:solidFill>
                <a:latin typeface="Consolas"/>
                <a:ea typeface="Consolas"/>
              </a:rPr>
              <a:t>A-3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5172075" y="4924425"/>
            <a:ext cx="6362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微软雅黑"/>
                <a:ea typeface="微软雅黑"/>
              </a:rPr>
              <a:t>管得住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172075" y="5286375"/>
            <a:ext cx="6362700" cy="704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该问的问、该拦的拦：</a:t>
            </a:r>
            <a:r>
              <a:rPr lang="zh-CN" sz="1350">
                <a:solidFill>
                  <a:srgbClr val="FB7185"/>
                </a:solidFill>
                <a:latin typeface="微软雅黑"/>
                <a:ea typeface="微软雅黑"/>
              </a:rPr>
              <a:t>高危动作二次确认，跨家庭一律拦下</a:t>
            </a: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这一条，才是智能家居能不能落地的分水岭。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03 / 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系统架构设计&lt;/Text&gt;&#10;    &lt;/Box&gt;&#10;&#10;    &lt;Box style={{ height: 546, paddingLeft: 64, paddingRight: 64, flexDirection: 'row', gap: 48 }}&gt;&#10;        &lt;Box style={{ width: 560, flexDirection: 'column', gap: 10, justifyContent: 'center' }}&gt;&#10;            &lt;Box style={{ flexDirection: 'row', gap: 16, alignItems: 'center' }}&gt;&#10;                &lt;Text style={{ fontSize: 15, fontWeight: 700, color: '#38BDF8', width: 70 }}&gt;编排&lt;/Text&gt;&#10;                &lt;Text style={{ fontSize: 16, color: 'rgba(248,250,252,0.66)' }}&gt;LangGraph 两张图：单 Agent 主链路 + Supervisor 多 Agent&lt;/Text&gt;&#10;            &lt;/Box&gt;&#10;            &lt;Box style={{ height: 1, background: 'rgba(248,250,252,0.08)' }} /&gt;&#10;            &lt;Box style={{ flexDirection: 'row', gap: 16, alignItems: 'center' }}&gt;&#10;                &lt;Text style={{ fontSize: 15, fontWeight: 700, color: '#38BDF8', width: 70 }}&gt;模型&lt;/Text&gt;&#10;                &lt;Text style={{ fontSize: 16, color: 'rgba(248,250,252,0.66)' }}&gt;DeepSeek + 规则引擎兜底（双模，任一可独立跑通）&lt;/Text&gt;&#10;            &lt;/Box&gt;&#10;            &lt;Box style={{ height: 1, background: 'rgba(248,250,252,0.08)' }} /&gt;&#10;            &lt;Box style={{ flexDirection: 'row', gap: 16, alignItems: 'center' }}&gt;&#10;                &lt;Text style={{ fontSize: 15, fontWeight: 700, color: '#38BDF8', width: 70 }}&gt;工具&lt;/Text&gt;&#10;                &lt;Text style={{ fontSize: 16, color: 'rgba(248,250,252,0.66)' }}&gt;自建 ToolRegistry：超时 / 重试 / 熔断 / 幂等&lt;/Text&gt;&#10;            &lt;/Box&gt;&#10;            &lt;Box style={{ height: 1, background: 'rgba(248,250,252,0.08)' }} /&gt;&#10;            &lt;Box style={{ flexDirection: 'row', gap: 16, alignItems: 'center' }}&gt;&#10;                &lt;Text style={{ fontSize: 15, fontWeight: 700, color: '#38BDF8', width: 70 }}&gt;记忆&lt;/Text&gt;&#10;                &lt;Text style={{ fontSize: 16, color: 'rgba(248,250,252,0.66)' }}&gt;短期 Redis + 长期 SQLite + 语义本地 embedding&lt;/Text&gt;&#10;            &lt;/Box&gt;&#10;            &lt;Box style={{ height: 1, background: 'rgba(248,250,252,0.08)' }} /&gt;&#10;            &lt;Box style={{ flexDirection: 'row', gap: 16, alignItems: 'center' }}&gt;&#10;                &lt;Text style={{ fontSize: 15, fontWeight: 700, color: '#38BDF8', width: 70 }}&gt;隔离&lt;/Text&gt;&#10;                &lt;Text style={{ fontSize: 16, color: 'rgba(248,250,252,0.66)' }}&gt;JWT + PBKDF2 · family_id 全链路穿透&lt;/Text&gt;&#10;            &lt;/Box&gt;&#10;            &lt;Box style={{ height: 1, background: 'rgba(248,250,252,0.08)' }} /&gt;&#10;            &lt;Box style={{ flexDirection: 'row', gap: 16, alignItems: 'center' }}&gt;&#10;                &lt;Text style={{ fontSize: 15, fontWeight: 700, color: '#38BDF8', width: 70 }}&gt;前端&lt;/Text&gt;&#10;                &lt;Text style={{ fontSize: 16, color: 'rgba(248,250,252,0.66)' }}&gt;零构建原生 Web（无 React/Vite），移动端优先&lt;/Text&gt;&#10;            &lt;/Box&gt;&#10;        &lt;/Box&gt;&#10;&#10;        &lt;Box style={{ width: 560, flexDirection: 'column', gap: 16, justifyContent: 'center' }}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亮点 1&lt;/Text&gt;&#10;                &lt;Text style={{ fontSize: 20, fontWeight: 700, color: '#F8FAFC', marginTop: 8 }}&gt;治理逻辑只有一处&lt;/Text&gt;&#10;                &lt;Text style={{ fontSize: 16, color: 'rgba(248,250,252,0.58)', lineHeight: 1.7, marginTop: 8 }}&gt;超时/重试/熔断/幂等统一在 execution，主链路与子 Agent 共用，禁止各写一套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亮点 2&lt;/Text&gt;&#10;                &lt;Text style={{ fontSize: 20, fontWeight: 700, color: '#F8FAFC', marginTop: 8 }}&gt;多 Agent 是职责隔离，不是多个模型&lt;/Text&gt;&#10;                &lt;Text style={{ fontSize: 16, color: 'rgba(248,250,252,0.58)', lineHeight: 1.7, marginTop: 8 }}&gt;三个子 Agent 各有工具白名单，日程管家拿不到门锁——这是第二道安全防线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亮点 3&lt;/Text&gt;&#10;                &lt;Text style={{ fontSize: 20, fontWeight: 700, color: '#F8FAFC', marginTop: 8 }}&gt;人机协同：把&quot;不误操作&quot;做成硬约束&lt;/Text&gt;&#10;                &lt;Text style={{ fontSize: 16, color: 'rgba(248,250,252,0.58)', lineHeight: 1.7, marginTop: 8 }}&gt;有歧义反问、高危二次确认——不是提示词里的请求，是代码里的闸。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矩形 2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矩形 243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819150" y="476250"/>
            <a:ext cx="20859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系统架构设计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609600" y="2590800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编排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428750" y="2581275"/>
            <a:ext cx="4038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LangGraph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两张图：单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Agent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主链路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+ Supervisor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多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48" name="矩形 247"/>
          <p:cNvSpPr/>
          <p:nvPr/>
        </p:nvSpPr>
        <p:spPr>
          <a:xfrm>
            <a:off x="609600" y="2867025"/>
            <a:ext cx="5334000" cy="9525"/>
          </a:xfrm>
          <a:prstGeom prst="rect">
            <a:avLst/>
          </a:prstGeom>
          <a:solidFill>
            <a:srgbClr val="F8FAFC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09600" y="2981325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模型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428750" y="2971800"/>
            <a:ext cx="3619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DeepSeek +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规则引擎兜底（双模，任一可独立跑通）</a:t>
            </a:r>
            <a:endParaRPr/>
          </a:p>
        </p:txBody>
      </p:sp>
      <p:sp>
        <p:nvSpPr>
          <p:cNvPr id="251" name="矩形 250"/>
          <p:cNvSpPr/>
          <p:nvPr/>
        </p:nvSpPr>
        <p:spPr>
          <a:xfrm>
            <a:off x="609600" y="3257550"/>
            <a:ext cx="5334000" cy="9525"/>
          </a:xfrm>
          <a:prstGeom prst="rect">
            <a:avLst/>
          </a:prstGeom>
          <a:solidFill>
            <a:srgbClr val="F8FAFC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609600" y="3371850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工具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1428750" y="3362325"/>
            <a:ext cx="3000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自建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ToolRegistry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：超时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重试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熔断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幂等</a:t>
            </a:r>
            <a:endParaRPr/>
          </a:p>
        </p:txBody>
      </p:sp>
      <p:sp>
        <p:nvSpPr>
          <p:cNvPr id="254" name="矩形 253"/>
          <p:cNvSpPr/>
          <p:nvPr/>
        </p:nvSpPr>
        <p:spPr>
          <a:xfrm>
            <a:off x="609600" y="3648075"/>
            <a:ext cx="5334000" cy="9525"/>
          </a:xfrm>
          <a:prstGeom prst="rect">
            <a:avLst/>
          </a:prstGeom>
          <a:solidFill>
            <a:srgbClr val="F8FAFC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09600" y="3762375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记忆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428750" y="3752850"/>
            <a:ext cx="331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短期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Redis +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长期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SQLite +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语义本地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embedding</a:t>
            </a:r>
            <a:endParaRPr/>
          </a:p>
        </p:txBody>
      </p:sp>
      <p:sp>
        <p:nvSpPr>
          <p:cNvPr id="257" name="矩形 256"/>
          <p:cNvSpPr/>
          <p:nvPr/>
        </p:nvSpPr>
        <p:spPr>
          <a:xfrm>
            <a:off x="609600" y="4038600"/>
            <a:ext cx="5334000" cy="9525"/>
          </a:xfrm>
          <a:prstGeom prst="rect">
            <a:avLst/>
          </a:prstGeom>
          <a:solidFill>
            <a:srgbClr val="F8FAFC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09600" y="4152900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隔离</a:t>
            </a:r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428750" y="4143375"/>
            <a:ext cx="2590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JWT + PBKDF2 · family_id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全链路穿透</a:t>
            </a:r>
            <a:endParaRPr/>
          </a:p>
        </p:txBody>
      </p:sp>
      <p:sp>
        <p:nvSpPr>
          <p:cNvPr id="260" name="矩形 259"/>
          <p:cNvSpPr/>
          <p:nvPr/>
        </p:nvSpPr>
        <p:spPr>
          <a:xfrm>
            <a:off x="609600" y="4429125"/>
            <a:ext cx="5334000" cy="9525"/>
          </a:xfrm>
          <a:prstGeom prst="rect">
            <a:avLst/>
          </a:prstGeom>
          <a:solidFill>
            <a:srgbClr val="F8FAFC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09600" y="4543425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/>
                <a:ea typeface="微软雅黑"/>
              </a:rPr>
              <a:t>前端</a:t>
            </a:r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428750" y="4533900"/>
            <a:ext cx="3219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零构建原生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Web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（无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React/Vite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），移动端优先</a:t>
            </a:r>
            <a:endParaRPr/>
          </a:p>
        </p:txBody>
      </p:sp>
      <p:sp>
        <p:nvSpPr>
          <p:cNvPr id="263" name="矩形: 圆角 262"/>
          <p:cNvSpPr/>
          <p:nvPr/>
        </p:nvSpPr>
        <p:spPr>
          <a:xfrm>
            <a:off x="6324600" y="1343025"/>
            <a:ext cx="5334000" cy="1543050"/>
          </a:xfrm>
          <a:prstGeom prst="roundRect">
            <a:avLst>
              <a:gd name="adj" fmla="val 6173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553200" y="1533525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亮点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1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553200" y="1762125"/>
            <a:ext cx="4876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治理逻辑只有一处</a:t>
            </a:r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553200" y="2066925"/>
            <a:ext cx="48768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超时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重试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熔断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幂等统一在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execution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，主链路与子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Agent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共用，禁止各写一套。</a:t>
            </a:r>
            <a:endParaRPr/>
          </a:p>
        </p:txBody>
      </p:sp>
      <p:sp>
        <p:nvSpPr>
          <p:cNvPr id="267" name="矩形: 圆角 266"/>
          <p:cNvSpPr/>
          <p:nvPr/>
        </p:nvSpPr>
        <p:spPr>
          <a:xfrm>
            <a:off x="6324600" y="3038475"/>
            <a:ext cx="5334000" cy="1543050"/>
          </a:xfrm>
          <a:prstGeom prst="roundRect">
            <a:avLst>
              <a:gd name="adj" fmla="val 6173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553200" y="3228975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亮点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2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553200" y="3457575"/>
            <a:ext cx="4876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多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 Agent 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是职责隔离，不是多个模型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553200" y="3762375"/>
            <a:ext cx="48768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三个子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Agent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各有工具白名单，日程管家拿不到门锁——这是第二道安全防线。</a:t>
            </a:r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6324600" y="4733925"/>
            <a:ext cx="5334000" cy="1228725"/>
          </a:xfrm>
          <a:prstGeom prst="roundRect">
            <a:avLst>
              <a:gd name="adj" fmla="val 7752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553200" y="4924425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亮点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3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6553200" y="5153025"/>
            <a:ext cx="4876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人机协同：把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不误操作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做成硬约束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553200" y="5457825"/>
            <a:ext cx="4876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有歧义反问、高危二次确认——不是提示词里的请求，是代码里的闸。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04 / 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智能体分工与协作&lt;/Text&gt;&#10;        &lt;Text style={{ fontSize: 16, color: 'rgba(248,250,252,0.42)', marginTop: 8 }}&gt;不是多个模型聊天，是职责隔离 + 最小权限&lt;/Text&gt;&#10;    &lt;/Box&gt;&#10;&#10;    &lt;Box style={{ height: 546, paddingLeft: 64, paddingRight: 64, flexDirection: 'column', gap: 22, justifyContent: 'center' }}&gt;&#10;        &lt;Box style={{ flexDirection: 'row', gap: 14, alignItems: 'stretch' }}&gt;&#10;            &lt;Box style={{ flex: 1, background: '#16223A', border: '1px solid rgba(248,250,252,0.10)', borderRadius: 10, padding: '20px 18px' }}&gt;&#10;                &lt;Text style={{ fontSize: 13, color: '#38BDF8', fontFamily: 'Consolas', fontWeight: 700, letterSpacing: 1 }}&gt;意图识别&lt;/Text&gt;&#10;                &lt;Text style={{ fontSize: 20, fontWeight: 700, color: '#F8FAFC', marginTop: 12 }}&gt;parse_intent&lt;/Text&gt;&#10;                &lt;Text style={{ fontSize: 15, color: 'rgba(248,250,252,0.55)', lineHeight: 1.6, marginTop: 8 }}&gt;规则 + LLM 双模&lt;br /&gt;识别 7 种意图&lt;/Text&gt;&#10;            &lt;/Box&gt;&#10;            &lt;Box style={{ width: 22, justifyContent: 'center', alignItems: 'center' }}&gt;&#10;                &lt;Text style={{ fontSize: 20, color: 'rgba(248,250,252,0.30)', fontFamily: 'Consolas' }}&gt;→&lt;/Text&gt;&#10;            &lt;/Box&gt;&#10;            &lt;Box style={{ flex: 1, background: '#16223A', border: '1px solid rgba(248,250,252,0.10)', borderRadius: 10, padding: '20px 18px' }}&gt;&#10;                &lt;Text style={{ fontSize: 13, color: '#38BDF8', fontFamily: 'Consolas', fontWeight: 700, letterSpacing: 1 }}&gt;知识检索&lt;/Text&gt;&#10;                &lt;Text style={{ fontSize: 20, fontWeight: 700, color: '#F8FAFC', marginTop: 12 }}&gt;knowledge_agent&lt;/Text&gt;&#10;                &lt;Text style={{ fontSize: 15, color: 'rgba(248,250,252,0.55)', lineHeight: 1.6, marginTop: 8 }}&gt;说明书语义召回&lt;br /&gt;用户可导入&lt;/Text&gt;&#10;            &lt;/Box&gt;&#10;            &lt;Box style={{ width: 22, justifyContent: 'center', alignItems: 'center' }}&gt;&#10;                &lt;Text style={{ fontSize: 20, color: 'rgba(248,250,252,0.30)', fontFamily: 'Consolas' }}&gt;→&lt;/Text&gt;&#10;            &lt;/Box&gt;&#10;            &lt;Box style={{ flex: 1, background: '#16223A', border: '1px solid rgba(248,250,252,0.10)', borderRadius: 10, padding: '20px 18px' }}&gt;&#10;                &lt;Text style={{ fontSize: 13, color: '#38BDF8', fontFamily: 'Consolas', fontWeight: 700, letterSpacing: 1 }}&gt;工具调用&lt;/Text&gt;&#10;                &lt;Text style={{ fontSize: 20, fontWeight: 700, color: '#F8FAFC', marginTop: 12 }}&gt;device / schedule&lt;/Text&gt;&#10;                &lt;Text style={{ fontSize: 15, color: 'rgba(248,250,252,0.55)', lineHeight: 1.6, marginTop: 8 }}&gt;设备控制 + 日程&lt;br /&gt;各有工具白名单&lt;/Text&gt;&#10;            &lt;/Box&gt;&#10;            &lt;Box style={{ width: 22, justifyContent: 'center', alignItems: 'center' }}&gt;&#10;                &lt;Text style={{ fontSize: 20, color: 'rgba(248,250,252,0.30)', fontFamily: 'Consolas' }}&gt;→&lt;/Text&gt;&#10;            &lt;/Box&gt;&#10;            &lt;Box style={{ flex: 1, background: '#16223A', border: '1px solid rgba(248,250,252,0.10)', borderRadius: 10, padding: '20px 18px' }}&gt;&#10;                &lt;Text style={{ fontSize: 13, color: '#38BDF8', fontFamily: 'Consolas', fontWeight: 700, letterSpacing: 1 }}&gt;结果生成&lt;/Text&gt;&#10;                &lt;Text style={{ fontSize: 20, fontWeight: 700, color: '#F8FAFC', marginTop: 12 }}&gt;respond_node&lt;/Text&gt;&#10;                &lt;Text style={{ fontSize: 15, color: 'rgba(248,250,252,0.55)', lineHeight: 1.6, marginTop: 8 }}&gt;整合工具结果&lt;br /&gt;生成应答 + 记忆回执&lt;/Text&gt;&#10;            &lt;/Box&gt;&#10;        &lt;/Box&gt;&#10;&#10;        &lt;Box style={{ flexDirection: 'row', gap: 20 }}&gt;&#10;            &lt;Box style={{ flex: 1, background: 'rgba(56,189,248,0.08)', border: '1px solid rgba(56,189,248,0.30)', borderRadius: 10, padding: '18px 22px' }}&gt;&#10;                &lt;Text style={{ fontSize: 13, color: '#38BDF8', letterSpacing: 2, fontWeight: 700 }}&gt;协作流程&lt;/Text&gt;&#10;                &lt;Text style={{ fontSize: 17, color: 'rgba(248,250,252,0.72)', lineHeight: 1.7, marginTop: 8 }}&gt;&#10;                    一句话进来 → parse_intent 拆意图 → Supervisor 按「意图 + 白名单」分派&lt;br /&gt;&#10;                    → 子 Agent 并发执行、失败隔离 → respond_node 汇总应答&#10;                &lt;/Text&gt;&#10;            &lt;/Box&gt;&#10;            &lt;Box style={{ flex: 1, background: '#16223A', border: '1px solid rgba(248,250,252,0.10)', borderRadius: 10, padding: '18px 22px' }}&gt;&#10;                &lt;Text style={{ fontSize: 13, color: '#38BDF8', letterSpacing: 2, fontWeight: 700 }}&gt;关键设计&lt;/Text&gt;&#10;                &lt;Text style={{ fontSize: 17, color: 'rgba(248,250,252,0.72)', lineHeight: 1.7, marginTop: 8 }}&gt;&#10;                    最小权限（白名单）+ 失败隔离 + 执行前冲突检测。&lt;br /&gt;&#10;                    安全护栏仍是唯一节点，多 Agent 没有削弱它。&#10;                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矩形 2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19150" y="476250"/>
            <a:ext cx="27813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智能体分工与协作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3771900" y="628650"/>
            <a:ext cx="2952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不是多个模型聊天，是职责隔离</a:t>
            </a:r>
            <a:r>
              <a:rPr lang="en-US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最小权限</a:t>
            </a:r>
            <a:endParaRPr/>
          </a:p>
        </p:txBody>
      </p:sp>
      <p:sp>
        <p:nvSpPr>
          <p:cNvPr id="282" name="矩形: 圆角 281"/>
          <p:cNvSpPr/>
          <p:nvPr/>
        </p:nvSpPr>
        <p:spPr>
          <a:xfrm>
            <a:off x="609600" y="2009775"/>
            <a:ext cx="2390775" cy="1504950"/>
          </a:xfrm>
          <a:prstGeom prst="roundRect">
            <a:avLst>
              <a:gd name="adj" fmla="val 632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81050" y="2200275"/>
            <a:ext cx="2047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意图识别</a:t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1050" y="2466975"/>
            <a:ext cx="20478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parse_intent</a:t>
            </a:r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81050" y="2771775"/>
            <a:ext cx="20478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规则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+ LLM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双模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识别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7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种意图</a:t>
            </a:r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3190875" y="2647950"/>
            <a:ext cx="1047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87" name="矩形: 圆角 286"/>
          <p:cNvSpPr/>
          <p:nvPr/>
        </p:nvSpPr>
        <p:spPr>
          <a:xfrm>
            <a:off x="3476625" y="20097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3648075" y="2200275"/>
            <a:ext cx="2038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知识检索</a:t>
            </a:r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3648075" y="2466975"/>
            <a:ext cx="2038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knowledge_agent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3648075" y="2771775"/>
            <a:ext cx="20383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说明书语义召回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用户可导入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6048375" y="2647950"/>
            <a:ext cx="1047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92" name="矩形: 圆角 291"/>
          <p:cNvSpPr/>
          <p:nvPr/>
        </p:nvSpPr>
        <p:spPr>
          <a:xfrm>
            <a:off x="6334125" y="2009775"/>
            <a:ext cx="2390775" cy="1504950"/>
          </a:xfrm>
          <a:prstGeom prst="roundRect">
            <a:avLst>
              <a:gd name="adj" fmla="val 632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6505575" y="2200275"/>
            <a:ext cx="2047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工具调用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6505575" y="2466975"/>
            <a:ext cx="20478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device / schedule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505575" y="2771775"/>
            <a:ext cx="20478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设备控制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日程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各有工具白名单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915400" y="2647950"/>
            <a:ext cx="1047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97" name="矩形: 圆角 296"/>
          <p:cNvSpPr/>
          <p:nvPr/>
        </p:nvSpPr>
        <p:spPr>
          <a:xfrm>
            <a:off x="9201150" y="20097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9372600" y="2200275"/>
            <a:ext cx="2038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结果生成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9372600" y="2466975"/>
            <a:ext cx="2038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respond_node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9372600" y="2771775"/>
            <a:ext cx="20383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整合工具结果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生成应答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记忆回执</a:t>
            </a:r>
            <a:endParaRPr/>
          </a:p>
        </p:txBody>
      </p:sp>
      <p:sp>
        <p:nvSpPr>
          <p:cNvPr id="301" name="矩形: 圆角 300"/>
          <p:cNvSpPr/>
          <p:nvPr/>
        </p:nvSpPr>
        <p:spPr>
          <a:xfrm>
            <a:off x="609600" y="3724275"/>
            <a:ext cx="5391150" cy="1571625"/>
          </a:xfrm>
          <a:prstGeom prst="roundRect">
            <a:avLst>
              <a:gd name="adj" fmla="val 6061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19150" y="3895725"/>
            <a:ext cx="4972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协作流程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19150" y="4124325"/>
            <a:ext cx="4972050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一句话进来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→ parse_intent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拆意图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→ Supervisor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按「意图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白名单」分派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→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子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Agent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并发执行、失败隔离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→ respond_node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汇总应答</a:t>
            </a:r>
            <a:endParaRPr/>
          </a:p>
        </p:txBody>
      </p:sp>
      <p:sp>
        <p:nvSpPr>
          <p:cNvPr id="304" name="矩形: 圆角 303"/>
          <p:cNvSpPr/>
          <p:nvPr/>
        </p:nvSpPr>
        <p:spPr>
          <a:xfrm>
            <a:off x="6191250" y="3724275"/>
            <a:ext cx="5391150" cy="1571625"/>
          </a:xfrm>
          <a:prstGeom prst="roundRect">
            <a:avLst>
              <a:gd name="adj" fmla="val 6061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6400800" y="3895725"/>
            <a:ext cx="4972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关键设计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400800" y="4124325"/>
            <a:ext cx="497205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最小权限（白名单）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+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失败隔离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执行前冲突检测。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安全护栏仍是唯一节点，多</a:t>
            </a:r>
            <a:r>
              <a:rPr lang="en-US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 Agent </a:t>
            </a:r>
            <a:r>
              <a:rPr lang="zh-CN" sz="12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没有削弱它。</a:t>
            </a:r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05 / 15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说一句「打开卧室灯」，背后发生了什么&lt;/Text&gt;&#10;    &lt;/Box&gt;&#10;&#10;    &lt;Box style={{ height: 546, paddingLeft: 64, paddingRight: 64, flexDirection: 'column', gap: 26 }}&gt;&#10;        &lt;Box style={{ alignSelf: 'center', background: 'rgba(56,189,248,0.10)', border: '1px solid rgba(56,189,248,0.35)', borderRadius: 12, padding: '16px 40px' }}&gt;&#10;            &lt;Text style={{ fontSize: 24, fontWeight: 700, color: '#F8FAFC' }}&gt;你说：&lt;span style={{ color: '#38BDF8' }}&gt;「打开卧室灯」&lt;/span&gt;&lt;/Text&gt;&#10;        &lt;/Box&gt;&#10;&#10;        &lt;Box style={{ flexDirection: 'row', gap: 14, alignItems: 'stretch' }}&gt;&#10;            &lt;Box style={{ flex: 1, background: '#16223A', border: '1px solid rgba(248,250,252,0.10)', borderRadius: 10, padding: '22px 20px' }}&gt;&#10;                &lt;Text style={{ fontSize: 13, color: '#38BDF8', fontFamily: 'Consolas', fontWeight: 700, letterSpacing: 1 }}&gt;01 · 听懂&lt;/Text&gt;&#10;                &lt;Text style={{ fontSize: 22, fontWeight: 700, color: '#F8FAFC', marginTop: 14 }}&gt;&quot;卧室&quot;就是&quot;主卧&quot;&lt;/Text&gt;&#10;                &lt;Text style={{ fontSize: 17, color: 'rgba(248,250,252,0.60)', lineHeight: 1.7, marginTop: 10 }}&gt;&#10;                    别名归一化、&lt;br /&gt;读本家真实设备名。&#10;                &lt;/Text&gt;&#10;            &lt;/Box&gt;&#10;            &lt;Box style={{ width: 26, justifyContent: 'center', alignItems: 'center' }}&gt;&#10;                &lt;Text style={{ fontSize: 22, color: 'rgba(248,250,252,0.30)', fontFamily: 'Consolas' }}&gt;→&lt;/Text&gt;&#10;            &lt;/Box&gt;&#10;            &lt;Box style={{ flex: 1, background: '#16223A', border: '1px solid rgba(248,250,252,0.10)', borderRadius: 10, padding: '22px 20px' }}&gt;&#10;                &lt;Text style={{ fontSize: 13, color: '#38BDF8', fontFamily: 'Consolas', fontWeight: 700, letterSpacing: 1 }}&gt;02 · 查记忆&lt;/Text&gt;&#10;                &lt;Text style={{ fontSize: 22, fontWeight: 700, color: '#F8FAFC', marginTop: 14 }}&gt;你习惯暗一点&lt;/Text&gt;&#10;                &lt;Text style={{ fontSize: 17, color: 'rgba(248,250,252,0.60)', lineHeight: 1.7, marginTop: 10 }}&gt;&#10;                    召回偏好，自动调到&lt;br /&gt;40% 亮度。&#10;                &lt;/Text&gt;&#10;            &lt;/Box&gt;&#10;            &lt;Box style={{ width: 26, justifyContent: 'center', alignItems: 'center' }}&gt;&#10;                &lt;Text style={{ fontSize: 22, color: 'rgba(248,250,252,0.30)', fontFamily: 'Consolas' }}&gt;→&lt;/Text&gt;&#10;            &lt;/Box&gt;&#10;            &lt;Box style={{ flex: 1, background: '#16223A', border: '1px solid rgba(248,250,252,0.10)', borderRadius: 10, padding: '22px 20px' }}&gt;&#10;                &lt;Text style={{ fontSize: 13, color: '#38BDF8', fontFamily: 'Consolas', fontWeight: 700, letterSpacing: 1 }}&gt;03 · 确认安全&lt;/Text&gt;&#10;                &lt;Text style={{ fontSize: 22, fontWeight: 700, color: '#F8FAFC', marginTop: 14 }}&gt;普通开灯直接做&lt;/Text&gt;&#10;                &lt;Text style={{ fontSize: 17, color: 'rgba(248,250,252,0.60)', lineHeight: 1.7, marginTop: 10 }}&gt;&#10;                    只有高危动作&lt;br /&gt;（门锁等）才二次确认。&#10;                &lt;/Text&gt;&#10;            &lt;/Box&gt;&#10;            &lt;Box style={{ width: 26, justifyContent: 'center', alignItems: 'center' }}&gt;&#10;                &lt;Text style={{ fontSize: 22, color: 'rgba(248,250,252,0.30)', fontFamily: 'Consolas' }}&gt;→&lt;/Text&gt;&#10;            &lt;/Box&gt;&#10;            &lt;Box style={{ flex: 1, background: '#16223A', border: '1px solid rgba(248,250,252,0.10)', borderRadius: 10, padding: '22px 20px' }}&gt;&#10;                &lt;Text style={{ fontSize: 13, color: '#38BDF8', fontFamily: 'Consolas', fontWeight: 700, letterSpacing: 1 }}&gt;04 · 记住&lt;/Text&gt;&#10;                &lt;Text style={{ fontSize: 22, fontWeight: 700, color: '#F8FAFC', marginTop: 14 }}&gt;这次调光记下来&lt;/Text&gt;&#10;                &lt;Text style={{ fontSize: 17, color: 'rgba(248,250,252,0.60)', lineHeight: 1.7, marginTop: 10 }}&gt;&#10;                    下次直接照做，&lt;br /&gt;不用再说一遍。&#10;                &lt;/Text&gt;&#10;            &lt;/Box&gt;&#10;        &lt;/Box&gt;&#10;&#10;        &lt;Box style={{ background: 'rgba(56,189,248,0.08)', border: '1px solid rgba(56,189,248,0.30)', borderRadius: 10, padding: '18px 26px' }}&gt;&#10;            &lt;Text style={{ fontSize: 20, color: '#F8FAFC', lineHeight: 1.6 }}&gt;&#10;                用户感知到的是&lt;span style={{ color: '#38BDF8', fontWeight: 700 }}&gt;「它懂我」&lt;/span&gt;，而不是「它跑了几个节点」。&#10;            &lt;/Text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6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矩形 310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819150" y="476250"/>
            <a:ext cx="62579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说一句「打开卧室灯」，背后发生了什么</a:t>
            </a:r>
            <a:endParaRPr/>
          </a:p>
        </p:txBody>
      </p:sp>
      <p:sp>
        <p:nvSpPr>
          <p:cNvPr id="313" name="矩形: 圆角 312"/>
          <p:cNvSpPr/>
          <p:nvPr/>
        </p:nvSpPr>
        <p:spPr>
          <a:xfrm>
            <a:off x="4572000" y="1047750"/>
            <a:ext cx="3048000" cy="581025"/>
          </a:xfrm>
          <a:prstGeom prst="roundRect">
            <a:avLst>
              <a:gd name="adj" fmla="val 19672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4953000" y="1200150"/>
            <a:ext cx="2286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微软雅黑"/>
                <a:ea typeface="微软雅黑"/>
              </a:rPr>
              <a:t>你说：</a:t>
            </a:r>
            <a:r>
              <a:rPr lang="zh-CN" sz="1800" b="1">
                <a:solidFill>
                  <a:srgbClr val="38BDF8"/>
                </a:solidFill>
                <a:latin typeface="微软雅黑"/>
                <a:ea typeface="微软雅黑"/>
              </a:rPr>
              <a:t>「打开卧室灯」</a:t>
            </a:r>
            <a:endParaRPr/>
          </a:p>
        </p:txBody>
      </p:sp>
      <p:sp>
        <p:nvSpPr>
          <p:cNvPr id="315" name="矩形: 圆角 314"/>
          <p:cNvSpPr/>
          <p:nvPr/>
        </p:nvSpPr>
        <p:spPr>
          <a:xfrm>
            <a:off x="609600" y="1876425"/>
            <a:ext cx="2362200" cy="1724025"/>
          </a:xfrm>
          <a:prstGeom prst="roundRect">
            <a:avLst>
              <a:gd name="adj" fmla="val 552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00100" y="2085975"/>
            <a:ext cx="1981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01 · </a:t>
            </a: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听懂</a:t>
            </a:r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00100" y="2371725"/>
            <a:ext cx="1981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卧室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就是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主卧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800100" y="2724150"/>
            <a:ext cx="1981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别名归一化、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读本家真实设备名。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3171825" y="2609850"/>
            <a:ext cx="123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20" name="矩形: 圆角 319"/>
          <p:cNvSpPr/>
          <p:nvPr/>
        </p:nvSpPr>
        <p:spPr>
          <a:xfrm>
            <a:off x="3486150" y="1876425"/>
            <a:ext cx="2352675" cy="1724025"/>
          </a:xfrm>
          <a:prstGeom prst="roundRect">
            <a:avLst>
              <a:gd name="adj" fmla="val 552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3676650" y="2085975"/>
            <a:ext cx="1971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02 · </a:t>
            </a: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查记忆</a:t>
            </a:r>
            <a:endParaRPr/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3676650" y="2371725"/>
            <a:ext cx="1971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你习惯暗一点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3676650" y="2724150"/>
            <a:ext cx="1971675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召回偏好，自动调到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40% </a:t>
            </a: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亮度。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6038850" y="2609850"/>
            <a:ext cx="123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25" name="矩形: 圆角 324"/>
          <p:cNvSpPr/>
          <p:nvPr/>
        </p:nvSpPr>
        <p:spPr>
          <a:xfrm>
            <a:off x="6353175" y="1876425"/>
            <a:ext cx="2362200" cy="1724025"/>
          </a:xfrm>
          <a:prstGeom prst="roundRect">
            <a:avLst>
              <a:gd name="adj" fmla="val 552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6543675" y="2085975"/>
            <a:ext cx="1981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03 · </a:t>
            </a: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确认安全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543675" y="2371725"/>
            <a:ext cx="1981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普通开灯直接做</a:t>
            </a:r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6543675" y="2724150"/>
            <a:ext cx="1981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只有高危动作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（门锁等）才二次确认。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8915400" y="2609850"/>
            <a:ext cx="1238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>
                <a:solidFill>
                  <a:srgbClr val="F8FAFC">
                    <a:alpha val="3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0" name="矩形: 圆角 329"/>
          <p:cNvSpPr/>
          <p:nvPr/>
        </p:nvSpPr>
        <p:spPr>
          <a:xfrm>
            <a:off x="9229725" y="1876425"/>
            <a:ext cx="2352675" cy="1724025"/>
          </a:xfrm>
          <a:prstGeom prst="roundRect">
            <a:avLst>
              <a:gd name="adj" fmla="val 552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9420225" y="2085975"/>
            <a:ext cx="1971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04 · </a:t>
            </a: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记住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9420225" y="2371725"/>
            <a:ext cx="19716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这次调光记下来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9420225" y="2724150"/>
            <a:ext cx="1971675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下次直接照做，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60000"/>
                  </a:srgbClr>
                </a:solidFill>
                <a:latin typeface="微软雅黑"/>
                <a:ea typeface="微软雅黑"/>
              </a:rPr>
              <a:t>不用再说一遍。</a:t>
            </a:r>
            <a:endParaRPr/>
          </a:p>
        </p:txBody>
      </p:sp>
      <p:sp>
        <p:nvSpPr>
          <p:cNvPr id="334" name="矩形: 圆角 333"/>
          <p:cNvSpPr/>
          <p:nvPr/>
        </p:nvSpPr>
        <p:spPr>
          <a:xfrm>
            <a:off x="609600" y="3848100"/>
            <a:ext cx="10972800" cy="714375"/>
          </a:xfrm>
          <a:prstGeom prst="roundRect">
            <a:avLst>
              <a:gd name="adj" fmla="val 13333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57250" y="4019550"/>
            <a:ext cx="10477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F8FAFC"/>
                </a:solidFill>
                <a:latin typeface="微软雅黑"/>
                <a:ea typeface="微软雅黑"/>
              </a:rPr>
              <a:t>用户感知到的是</a:t>
            </a:r>
            <a:r>
              <a:rPr lang="zh-CN" sz="1500" b="1">
                <a:solidFill>
                  <a:srgbClr val="38BDF8"/>
                </a:solidFill>
                <a:latin typeface="微软雅黑"/>
                <a:ea typeface="微软雅黑"/>
              </a:rPr>
              <a:t>「它懂我」</a:t>
            </a:r>
            <a:r>
              <a:rPr lang="zh-CN" sz="1500">
                <a:solidFill>
                  <a:srgbClr val="F8FAFC"/>
                </a:solidFill>
                <a:latin typeface="微软雅黑"/>
                <a:ea typeface="微软雅黑"/>
              </a:rPr>
              <a:t>，而不是「它跑了几个节点」。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06 / 15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能力一 · 听得懂&lt;/Text&gt;&#10;        &lt;Text style={{ fontSize: 16, color: 'rgba(248,250,252,0.42)', marginTop: 8 }}&gt;有歧义就反问，绝不替你猜&lt;/Text&gt;&#10;    &lt;/Box&gt;&#10;&#10;    &lt;Box style={{ height: 546, paddingLeft: 64, paddingRight: 64, flexDirection: 'row', gap: 48 }}&gt;&#10;        &lt;Box style={{ width: 500, justifyContent: 'center' }}&gt;&#10;            &lt;Box style={{ background: '#16223A', border: '1px solid rgba(248,250,252,0.10)', borderRadius: 10, padding: '26px 26px' }}&gt;&#10;                &lt;Text style={{ fontSize: 13, color: '#38BDF8', letterSpacing: 2, fontWeight: 700 }}&gt;场景&lt;/Text&gt;&#10;                &lt;Box style={{ background: 'rgba(56,189,248,0.10)', borderRadius: 8, padding: '14px 18px', marginTop: 18 }}&gt;&#10;                    &lt;Text style={{ fontSize: 21, color: '#F8FAFC' }}&gt;你说：「打开灯」&lt;/Text&gt;&#10;                &lt;/Box&gt;&#10;                &lt;Text style={{ fontSize: 20, color: 'rgba(248,250,252,0.50)', textAlign: 'center', marginTop: 14, marginBottom: 14 }}&gt;↓&lt;/Text&gt;&#10;                &lt;Box style={{ background: 'rgba(248,250,252,0.06)', borderRadius: 8, padding: '14px 18px' }}&gt;&#10;                    &lt;Text style={{ fontSize: 21, color: '#F8FAFC' }}&gt;它反问：「客厅还是卧室？」&lt;/Text&gt;&#10;                &lt;/Box&gt;&#10;                &lt;Text style={{ fontSize: 17, color: 'rgba(248,250,252,0.55)', lineHeight: 1.7, marginTop: 18 }}&gt;&#10;                    家里有两盏灯，它不闷头开客厅那盏。&lt;br /&gt;&#10;                    宁可显得笨，也不替你按下开关。&#10;                &lt;/Text&gt;&#10;            &lt;/Box&gt;&#10;        &lt;/Box&gt;&#10;&#10;        &lt;Box style={{ width: 620, flexDirection: 'column', gap: 16, justifyContent: 'center' }}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1&lt;/Text&gt;&#10;                &lt;Text style={{ fontSize: 20, fontWeight: 700, color: '#F8FAFC', marginTop: 8 }}&gt;有歧义就反问，而不是猜一个&lt;/Text&gt;&#10;                &lt;Text style={{ fontSize: 17, color: 'rgba(248,250,252,0.58)', lineHeight: 1.7, marginTop: 8 }}&gt;猜错的代价是误操作——设备动了，比没反应更难收场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2&lt;/Text&gt;&#10;                &lt;Text style={{ fontSize: 20, fontWeight: 700, color: '#F8FAFC', marginTop: 8 }}&gt;规则 + 模型双通道&lt;/Text&gt;&#10;                &lt;Text style={{ fontSize: 17, color: 'rgba(248,250,252,0.58)', lineHeight: 1.7, marginTop: 8 }}&gt;规则快且可控，模型兜复杂句。模型挂了不是&quot;抱歉我不懂&quot;，是照常能开关灯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3&lt;/Text&gt;&#10;                &lt;Text style={{ fontSize: 20, fontWeight: 700, color: '#F8FAFC', marginTop: 8 }}&gt;解析前注入&quot;现在几点&quot;&lt;/Text&gt;&#10;                &lt;Text style={{ fontSize: 17, color: 'rgba(248,250,252,0.58)', lineHeight: 1.7, marginTop: 8 }}&gt;模型没有系统时钟，不告诉它&quot;现在&quot;，&quot;今天九点&quot;会被排到错误的日子。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7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矩形 3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0" name="矩形 339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819150" y="476250"/>
            <a:ext cx="2428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能力一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听得懂</a:t>
            </a:r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3419475" y="628650"/>
            <a:ext cx="1828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有歧义就反问，绝不替你猜</a:t>
            </a:r>
            <a:endParaRPr/>
          </a:p>
        </p:txBody>
      </p:sp>
      <p:sp>
        <p:nvSpPr>
          <p:cNvPr id="343" name="矩形: 圆角 342"/>
          <p:cNvSpPr/>
          <p:nvPr/>
        </p:nvSpPr>
        <p:spPr>
          <a:xfrm>
            <a:off x="609600" y="2057400"/>
            <a:ext cx="4762500" cy="3181350"/>
          </a:xfrm>
          <a:prstGeom prst="roundRect">
            <a:avLst>
              <a:gd name="adj" fmla="val 2994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857250" y="2305050"/>
            <a:ext cx="4267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场景</a:t>
            </a:r>
            <a:endParaRPr/>
          </a:p>
        </p:txBody>
      </p:sp>
      <p:sp>
        <p:nvSpPr>
          <p:cNvPr id="345" name="矩形: 圆角 344"/>
          <p:cNvSpPr/>
          <p:nvPr/>
        </p:nvSpPr>
        <p:spPr>
          <a:xfrm>
            <a:off x="857250" y="2628900"/>
            <a:ext cx="4267200" cy="514350"/>
          </a:xfrm>
          <a:prstGeom prst="roundRect">
            <a:avLst>
              <a:gd name="adj" fmla="val 14815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028700" y="2762250"/>
            <a:ext cx="3924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你说：「打开灯」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857250" y="3276600"/>
            <a:ext cx="4267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8FAFC">
                    <a:alpha val="50000"/>
                  </a:srgbClr>
                </a:solidFill>
                <a:latin typeface="微软雅黑"/>
                <a:ea typeface="微软雅黑"/>
              </a:rPr>
              <a:t>↓</a:t>
            </a:r>
            <a:endParaRPr/>
          </a:p>
        </p:txBody>
      </p:sp>
      <p:sp>
        <p:nvSpPr>
          <p:cNvPr id="348" name="矩形: 圆角 347"/>
          <p:cNvSpPr/>
          <p:nvPr/>
        </p:nvSpPr>
        <p:spPr>
          <a:xfrm>
            <a:off x="857250" y="3638550"/>
            <a:ext cx="4267200" cy="514350"/>
          </a:xfrm>
          <a:prstGeom prst="roundRect">
            <a:avLst>
              <a:gd name="adj" fmla="val 14815"/>
            </a:avLst>
          </a:prstGeom>
          <a:solidFill>
            <a:srgbClr val="F8FAFC">
              <a:alpha val="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1028700" y="3771900"/>
            <a:ext cx="3924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它反问：「客厅还是卧室？」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57250" y="4324350"/>
            <a:ext cx="4267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家里有两盏灯，它不闷头开客厅那盏。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宁可显得笨，也不替你按下开关。</a:t>
            </a:r>
            <a:endParaRPr/>
          </a:p>
        </p:txBody>
      </p:sp>
      <p:sp>
        <p:nvSpPr>
          <p:cNvPr id="351" name="矩形: 圆角 350"/>
          <p:cNvSpPr/>
          <p:nvPr/>
        </p:nvSpPr>
        <p:spPr>
          <a:xfrm>
            <a:off x="5762625" y="1457325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5991225" y="164782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1</a:t>
            </a:r>
            <a:endParaRPr/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5991225" y="187642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有歧义就反问，而不是猜一个</a:t>
            </a:r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991225" y="2181225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猜错的代价是误操作——设备动了，比没反应更难收场。</a:t>
            </a:r>
            <a:endParaRPr/>
          </a:p>
        </p:txBody>
      </p:sp>
      <p:sp>
        <p:nvSpPr>
          <p:cNvPr id="355" name="矩形: 圆角 354"/>
          <p:cNvSpPr/>
          <p:nvPr/>
        </p:nvSpPr>
        <p:spPr>
          <a:xfrm>
            <a:off x="5762625" y="2857500"/>
            <a:ext cx="5905500" cy="1581150"/>
          </a:xfrm>
          <a:prstGeom prst="roundRect">
            <a:avLst>
              <a:gd name="adj" fmla="val 602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5991225" y="304800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2</a:t>
            </a:r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5991225" y="327660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规则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 + 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模型双通道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5991225" y="3581400"/>
            <a:ext cx="54483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规则快且可控，模型兜复杂句。模型挂了不是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抱歉我不懂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，是照常能开关灯。</a:t>
            </a:r>
            <a:endParaRPr/>
          </a:p>
        </p:txBody>
      </p:sp>
      <p:sp>
        <p:nvSpPr>
          <p:cNvPr id="359" name="矩形: 圆角 358"/>
          <p:cNvSpPr/>
          <p:nvPr/>
        </p:nvSpPr>
        <p:spPr>
          <a:xfrm>
            <a:off x="5762625" y="4591050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5991225" y="478155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3</a:t>
            </a:r>
            <a:endParaRPr/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5991225" y="501015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解析前注入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现在几点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5991225" y="5314950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模型没有系统时钟，不告诉它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现在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今天九点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会被排到错误的日子。</a:t>
            </a:r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07 / 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能力二 · 记得住&lt;/Text&gt;&#10;        &lt;Text style={{ fontSize: 16, color: 'rgba(248,250,252,0.42)', marginTop: 8 }}&gt;记忆的价值不是&quot;存了&quot;，是&quot;能改行为&quot;&lt;/Text&gt;&#10;    &lt;/Box&gt;&#10;&#10;    &lt;Box style={{ height: 546, paddingLeft: 64, paddingRight: 64, flexDirection: 'row', gap: 48 }}&gt;&#10;        &lt;Box style={{ width: 500, justifyContent: 'center' }}&gt;&#10;            &lt;Box style={{ background: '#16223A', border: '1px solid rgba(248,250,252,0.10)', borderRadius: 10, padding: '26px 26px' }}&gt;&#10;                &lt;Text style={{ fontSize: 13, color: '#38BDF8', letterSpacing: 2, fontWeight: 700 }}&gt;场景&lt;/Text&gt;&#10;                &lt;Box style={{ background: 'rgba(248,250,252,0.06)', borderRadius: 8, padding: '14px 18px', marginTop: 18 }}&gt;&#10;                    &lt;Text style={{ fontSize: 20, color: 'rgba(248,250,252,0.75)' }}&gt;上周你说过：「我习惯空调 26 度」&lt;/Text&gt;&#10;                &lt;/Box&gt;&#10;                &lt;Text style={{ fontSize: 20, color: 'rgba(248,250,252,0.50)', textAlign: 'center', marginTop: 14, marginBottom: 14 }}&gt;↓&lt;/Text&gt;&#10;                &lt;Box style={{ background: 'rgba(56,189,248,0.10)', borderRadius: 8, padding: '14px 18px' }}&gt;&#10;                    &lt;Text style={{ fontSize: 21, color: '#F8FAFC' }}&gt;这周你说「开空调」→ 直接 26 度&lt;/Text&gt;&#10;                &lt;/Box&gt;&#10;                &lt;Text style={{ fontSize: 17, color: 'rgba(248,250,252,0.55)', lineHeight: 1.7, marginTop: 18 }}&gt;&#10;                    不用再说一遍温度。&lt;br /&gt;&#10;                    记住 100 条，不如关键时用上 1 条。&#10;                &lt;/Text&gt;&#10;            &lt;/Box&gt;&#10;        &lt;/Box&gt;&#10;&#10;        &lt;Box style={{ width: 620, flexDirection: 'column', gap: 16, justifyContent: 'center' }}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1&lt;/Text&gt;&#10;                &lt;Text style={{ fontSize: 20, fontWeight: 700, color: '#F8FAFC', marginTop: 8 }}&gt;三层记忆，各管一段&lt;/Text&gt;&#10;                &lt;Text style={{ fontSize: 17, color: 'rgba(248,250,252,0.58)', lineHeight: 1.7, marginTop: 8 }}&gt;短期管这轮对话，长期管跨会话的习惯，语义管&quot;意思相近就召回&quot;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2&lt;/Text&gt;&#10;                &lt;Text style={{ fontSize: 20, fontWeight: 700, color: '#F8FAFC', marginTop: 8 }}&gt;召回结果反向改写工具参数&lt;/Text&gt;&#10;                &lt;Text style={{ fontSize: 17, color: 'rgba(248,250,252,0.58)', lineHeight: 1.7, marginTop: 8 }}&gt;记忆不只是&quot;回想&quot;，是&quot;这次执行直接按它来&quot;——这才是记忆对产品的意义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3&lt;/Text&gt;&#10;                &lt;Text style={{ fontSize: 20, fontWeight: 700, color: '#F8FAFC', marginTop: 8 }}&gt;改口就覆盖，不叠加矛盾&lt;/Text&gt;&#10;                &lt;Text style={{ fontSize: 17, color: 'rgba(248,250,252,0.58)', lineHeight: 1.7, marginTop: 8 }}&gt;你说&quot;26 度&quot;又改口&quot;24 度&quot;，旧值进历史留痕，新值生效——不会记成两条互相打架。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8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矩形 3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7" name="矩形 366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819150" y="476250"/>
            <a:ext cx="2428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能力二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记得住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419475" y="628650"/>
            <a:ext cx="25336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记忆的价值不是</a:t>
            </a:r>
            <a:r>
              <a:rPr lang="en-US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存了</a:t>
            </a:r>
            <a:r>
              <a:rPr lang="en-US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，是</a:t>
            </a:r>
            <a:r>
              <a:rPr lang="en-US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能改行为</a:t>
            </a:r>
            <a:r>
              <a:rPr lang="en-US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70" name="矩形: 圆角 369"/>
          <p:cNvSpPr/>
          <p:nvPr/>
        </p:nvSpPr>
        <p:spPr>
          <a:xfrm>
            <a:off x="609600" y="2066925"/>
            <a:ext cx="4762500" cy="3162300"/>
          </a:xfrm>
          <a:prstGeom prst="roundRect">
            <a:avLst>
              <a:gd name="adj" fmla="val 301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57250" y="2314575"/>
            <a:ext cx="4267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场景</a:t>
            </a:r>
            <a:endParaRPr/>
          </a:p>
        </p:txBody>
      </p:sp>
      <p:sp>
        <p:nvSpPr>
          <p:cNvPr id="372" name="矩形: 圆角 371"/>
          <p:cNvSpPr/>
          <p:nvPr/>
        </p:nvSpPr>
        <p:spPr>
          <a:xfrm>
            <a:off x="857250" y="2638425"/>
            <a:ext cx="4267200" cy="495300"/>
          </a:xfrm>
          <a:prstGeom prst="roundRect">
            <a:avLst>
              <a:gd name="adj" fmla="val 15385"/>
            </a:avLst>
          </a:prstGeom>
          <a:solidFill>
            <a:srgbClr val="F8FAFC">
              <a:alpha val="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1028700" y="2771775"/>
            <a:ext cx="3924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上周你说过：「我习惯空调</a:t>
            </a:r>
            <a:r>
              <a:rPr lang="en-US" sz="1500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1500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度」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857250" y="3267075"/>
            <a:ext cx="4267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8FAFC">
                    <a:alpha val="50000"/>
                  </a:srgbClr>
                </a:solidFill>
                <a:latin typeface="微软雅黑"/>
                <a:ea typeface="微软雅黑"/>
              </a:rPr>
              <a:t>↓</a:t>
            </a:r>
            <a:endParaRPr/>
          </a:p>
        </p:txBody>
      </p:sp>
      <p:sp>
        <p:nvSpPr>
          <p:cNvPr id="375" name="矩形: 圆角 374"/>
          <p:cNvSpPr/>
          <p:nvPr/>
        </p:nvSpPr>
        <p:spPr>
          <a:xfrm>
            <a:off x="857250" y="3629025"/>
            <a:ext cx="4267200" cy="514350"/>
          </a:xfrm>
          <a:prstGeom prst="roundRect">
            <a:avLst>
              <a:gd name="adj" fmla="val 14815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1028700" y="3762375"/>
            <a:ext cx="3924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这周你说「开空调」→</a:t>
            </a:r>
            <a:r>
              <a:rPr lang="en-US" sz="1575">
                <a:solidFill>
                  <a:srgbClr val="F8FAFC"/>
                </a:solidFill>
                <a:latin typeface="微软雅黑"/>
                <a:ea typeface="微软雅黑"/>
              </a:rPr>
              <a:t> 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直接</a:t>
            </a:r>
            <a:r>
              <a:rPr lang="en-US" sz="1575">
                <a:solidFill>
                  <a:srgbClr val="F8FAFC"/>
                </a:solidFill>
                <a:latin typeface="微软雅黑"/>
                <a:ea typeface="微软雅黑"/>
              </a:rPr>
              <a:t> 26 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度</a:t>
            </a:r>
            <a:endParaRPr/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857250" y="4314825"/>
            <a:ext cx="4267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不用再说一遍温度。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记住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100 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条，不如关键时用上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1 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条。</a:t>
            </a:r>
            <a:endParaRPr/>
          </a:p>
        </p:txBody>
      </p:sp>
      <p:sp>
        <p:nvSpPr>
          <p:cNvPr id="378" name="矩形: 圆角 377"/>
          <p:cNvSpPr/>
          <p:nvPr/>
        </p:nvSpPr>
        <p:spPr>
          <a:xfrm>
            <a:off x="5762625" y="1295400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5991225" y="148590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1</a:t>
            </a:r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5991225" y="171450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三层记忆，各管一段</a:t>
            </a:r>
            <a:endParaRPr/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5991225" y="2019300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短期管这轮对话，长期管跨会话的习惯，语义管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意思相近就召回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382" name="矩形: 圆角 381"/>
          <p:cNvSpPr/>
          <p:nvPr/>
        </p:nvSpPr>
        <p:spPr>
          <a:xfrm>
            <a:off x="5762625" y="2695575"/>
            <a:ext cx="5905500" cy="1581150"/>
          </a:xfrm>
          <a:prstGeom prst="roundRect">
            <a:avLst>
              <a:gd name="adj" fmla="val 602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991225" y="288607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2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5991225" y="311467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召回结果反向改写工具参数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5991225" y="3419475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记忆不只是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回想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，是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这次执行直接按它来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"——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这才是记忆对产品的意义。</a:t>
            </a:r>
            <a:endParaRPr/>
          </a:p>
        </p:txBody>
      </p:sp>
      <p:sp>
        <p:nvSpPr>
          <p:cNvPr id="386" name="矩形: 圆角 385"/>
          <p:cNvSpPr/>
          <p:nvPr/>
        </p:nvSpPr>
        <p:spPr>
          <a:xfrm>
            <a:off x="5762625" y="4429125"/>
            <a:ext cx="5905500" cy="1581150"/>
          </a:xfrm>
          <a:prstGeom prst="roundRect">
            <a:avLst>
              <a:gd name="adj" fmla="val 602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5991225" y="461962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3</a:t>
            </a:r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5991225" y="484822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改口就覆盖，不叠加矛盾</a:t>
            </a:r>
            <a:endParaRPr/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5991225" y="5153025"/>
            <a:ext cx="54483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你说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"26 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度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又改口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"24 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度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，旧值进历史留痕，新值生效——不会记成两条互相打架。</a:t>
            </a:r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08 / 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能力三 · 管得住&lt;/Text&gt;&#10;        &lt;Text style={{ fontSize: 16, color: 'rgba(248,250,252,0.42)', marginTop: 8 }}&gt;智能家居能不能落地，取决于这道闸&lt;/Text&gt;&#10;    &lt;/Box&gt;&#10;&#10;    &lt;Box style={{ height: 546, paddingLeft: 64, paddingRight: 64, flexDirection: 'row', gap: 48 }}&gt;&#10;        &lt;Box style={{ width: 500, justifyContent: 'center' }}&gt;&#10;            &lt;Box style={{ background: '#16223A', border: '1px solid rgba(248,250,252,0.10)', borderRadius: 10, padding: '26px 26px' }}&gt;&#10;                &lt;Text style={{ fontSize: 13, color: '#FB7185', letterSpacing: 2, fontWeight: 700 }}&gt;场景&lt;/Text&gt;&#10;                &lt;Box style={{ background: 'rgba(248,250,252,0.06)', borderRadius: 8, padding: '14px 18px', marginTop: 18 }}&gt;&#10;                    &lt;Text style={{ fontSize: 20, color: 'rgba(248,250,252,0.75)' }}&gt;你说：「打开门锁」&lt;/Text&gt;&#10;                &lt;/Box&gt;&#10;                &lt;Text style={{ fontSize: 20, color: 'rgba(248,250,252,0.50)', textAlign: 'center', marginTop: 14, marginBottom: 14 }}&gt;↓&lt;/Text&gt;&#10;                &lt;Box style={{ background: 'rgba(251,113,133,0.12)', borderRadius: 8, padding: '14px 18px' }}&gt;&#10;                    &lt;Text style={{ fontSize: 21, color: '#F8FAFC' }}&gt;它先问：「确认要开门锁吗？」&lt;/Text&gt;&#10;                &lt;/Box&gt;&#10;                &lt;Text style={{ fontSize: 17, color: 'rgba(248,250,252,0.55)', lineHeight: 1.7, marginTop: 18 }}&gt;&#10;                    小明（青岛家）也看不到你深圳家的任何设备。&lt;br /&gt;&#10;                    越权访问直接拦下，设备状态一点不动。&#10;                &lt;/Text&gt;&#10;            &lt;/Box&gt;&#10;        &lt;/Box&gt;&#10;&#10;        &lt;Box style={{ width: 620, flexDirection: 'column', gap: 16, justifyContent: 'center' }}&gt;&#10;            &lt;Box style={{ background: 'rgba(251,113,133,0.08)', border: '1px solid rgba(251,113,133,0.40)', borderRadius: 10, padding: '20px 24px' }}&gt;&#10;                &lt;Text style={{ fontSize: 13, color: '#FB7185', fontFamily: 'Consolas', fontWeight: 700, letterSpacing: 1 }}&gt;决策 1&lt;/Text&gt;&#10;                &lt;Text style={{ fontSize: 20, fontWeight: 700, color: '#F8FAFC', marginTop: 8 }}&gt;护栏是独立的一道闸&lt;/Text&gt;&#10;                &lt;Text style={{ fontSize: 17, color: 'rgba(248,250,252,0.58)', lineHeight: 1.7, marginTop: 8 }}&gt;不是散落在各处的 if——那样会漏。把&quot;该不该做&quot;收成唯一一个裁决点。&lt;/Text&gt;&#10;            &lt;/Box&gt;&#10;            &lt;Box style={{ background: 'rgba(251,113,133,0.08)', border: '1px solid rgba(251,113,133,0.40)', borderRadius: 10, padding: '20px 24px' }}&gt;&#10;                &lt;Text style={{ fontSize: 13, color: '#FB7185', fontFamily: 'Consolas', fontWeight: 700, letterSpacing: 1 }}&gt;决策 2&lt;/Text&gt;&#10;                &lt;Text style={{ fontSize: 20, fontWeight: 700, color: '#F8FAFC', marginTop: 8 }}&gt;高危动作强制二次确认&lt;/Text&gt;&#10;                &lt;Text style={{ fontSize: 17, color: 'rgba(248,250,252,0.58)', lineHeight: 1.7, marginTop: 8 }}&gt;门锁、燃气这类，先回显、确认了才执行——误操作比漏操作严重得多。&lt;/Text&gt;&#10;            &lt;/Box&gt;&#10;            &lt;Box style={{ background: 'rgba(251,113,133,0.08)', border: '1px solid rgba(251,113,133,0.40)', borderRadius: 10, padding: '20px 24px' }}&gt;&#10;                &lt;Text style={{ fontSize: 13, color: '#FB7185', fontFamily: 'Consolas', fontWeight: 700, letterSpacing: 1 }}&gt;决策 3&lt;/Text&gt;&#10;                &lt;Text style={{ fontSize: 20, fontWeight: 700, color: '#F8FAFC', marginTop: 8 }}&gt;一家一个家，越权即拦&lt;/Text&gt;&#10;                &lt;Text style={{ fontSize: 17, color: 'rgba(248,250,252,0.58)', lineHeight: 1.7, marginTop: 8 }}&gt;每个账号只能碰自己家的设备；跨家庭访问返回 403，且零副作用。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09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矩形 3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4" name="矩形 393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19150" y="476250"/>
            <a:ext cx="2428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能力三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管得住</a:t>
            </a:r>
            <a:endParaRPr/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3419475" y="628650"/>
            <a:ext cx="243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智能家居能不能落地，取决于这道闸</a:t>
            </a:r>
            <a:endParaRPr/>
          </a:p>
        </p:txBody>
      </p:sp>
      <p:sp>
        <p:nvSpPr>
          <p:cNvPr id="397" name="矩形: 圆角 396"/>
          <p:cNvSpPr/>
          <p:nvPr/>
        </p:nvSpPr>
        <p:spPr>
          <a:xfrm>
            <a:off x="609600" y="2066925"/>
            <a:ext cx="4762500" cy="3162300"/>
          </a:xfrm>
          <a:prstGeom prst="roundRect">
            <a:avLst>
              <a:gd name="adj" fmla="val 301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57250" y="2314575"/>
            <a:ext cx="4267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B7185"/>
                </a:solidFill>
                <a:latin typeface="微软雅黑"/>
                <a:ea typeface="微软雅黑"/>
              </a:rPr>
              <a:t>场景</a:t>
            </a:r>
            <a:endParaRPr/>
          </a:p>
        </p:txBody>
      </p:sp>
      <p:sp>
        <p:nvSpPr>
          <p:cNvPr id="399" name="矩形: 圆角 398"/>
          <p:cNvSpPr/>
          <p:nvPr/>
        </p:nvSpPr>
        <p:spPr>
          <a:xfrm>
            <a:off x="857250" y="2638425"/>
            <a:ext cx="4267200" cy="495300"/>
          </a:xfrm>
          <a:prstGeom prst="roundRect">
            <a:avLst>
              <a:gd name="adj" fmla="val 15385"/>
            </a:avLst>
          </a:prstGeom>
          <a:solidFill>
            <a:srgbClr val="F8FAFC">
              <a:alpha val="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028700" y="2771775"/>
            <a:ext cx="3924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你说：「打开门锁」</a:t>
            </a:r>
            <a:endParaRPr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57250" y="3267075"/>
            <a:ext cx="4267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8FAFC">
                    <a:alpha val="50000"/>
                  </a:srgbClr>
                </a:solidFill>
                <a:latin typeface="微软雅黑"/>
                <a:ea typeface="微软雅黑"/>
              </a:rPr>
              <a:t>↓</a:t>
            </a:r>
            <a:endParaRPr/>
          </a:p>
        </p:txBody>
      </p:sp>
      <p:sp>
        <p:nvSpPr>
          <p:cNvPr id="402" name="矩形: 圆角 401"/>
          <p:cNvSpPr/>
          <p:nvPr/>
        </p:nvSpPr>
        <p:spPr>
          <a:xfrm>
            <a:off x="857250" y="3629025"/>
            <a:ext cx="4267200" cy="514350"/>
          </a:xfrm>
          <a:prstGeom prst="roundRect">
            <a:avLst>
              <a:gd name="adj" fmla="val 14815"/>
            </a:avLst>
          </a:prstGeom>
          <a:solidFill>
            <a:srgbClr val="FB7185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1028700" y="3762375"/>
            <a:ext cx="3924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它先问：「确认要开门锁吗？」</a:t>
            </a:r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57250" y="4314825"/>
            <a:ext cx="4267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小明（青岛家）也看不到你深圳家的任何设备。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越权访问直接拦下，设备状态一点不动。</a:t>
            </a:r>
            <a:endParaRPr/>
          </a:p>
        </p:txBody>
      </p:sp>
      <p:sp>
        <p:nvSpPr>
          <p:cNvPr id="405" name="矩形: 圆角 404"/>
          <p:cNvSpPr/>
          <p:nvPr/>
        </p:nvSpPr>
        <p:spPr>
          <a:xfrm>
            <a:off x="5762625" y="1628775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5991225" y="181927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FB7185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FB7185"/>
                </a:solidFill>
                <a:latin typeface="Consolas"/>
                <a:ea typeface="Consolas"/>
              </a:rPr>
              <a:t> 1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5991225" y="204787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护栏是独立的一道闸</a:t>
            </a:r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5991225" y="2352675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不是散落在各处的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if——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那样会漏。把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该不该做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收成唯一一个裁决点。</a:t>
            </a:r>
            <a:endParaRPr/>
          </a:p>
        </p:txBody>
      </p:sp>
      <p:sp>
        <p:nvSpPr>
          <p:cNvPr id="409" name="矩形: 圆角 408"/>
          <p:cNvSpPr/>
          <p:nvPr/>
        </p:nvSpPr>
        <p:spPr>
          <a:xfrm>
            <a:off x="5762625" y="3028950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5991225" y="321945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FB7185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FB7185"/>
                </a:solidFill>
                <a:latin typeface="Consolas"/>
                <a:ea typeface="Consolas"/>
              </a:rPr>
              <a:t> 2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5991225" y="344805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高危动作强制二次确认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991225" y="3752850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门锁、燃气这类，先回显、确认了才执行——误操作比漏操作严重得多。</a:t>
            </a:r>
            <a:endParaRPr/>
          </a:p>
        </p:txBody>
      </p:sp>
      <p:sp>
        <p:nvSpPr>
          <p:cNvPr id="413" name="矩形: 圆角 412"/>
          <p:cNvSpPr/>
          <p:nvPr/>
        </p:nvSpPr>
        <p:spPr>
          <a:xfrm>
            <a:off x="5762625" y="4429125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5991225" y="461962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FB7185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FB7185"/>
                </a:solidFill>
                <a:latin typeface="Consolas"/>
                <a:ea typeface="Consolas"/>
              </a:rPr>
              <a:t> 3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991225" y="484822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一家一个家，越权即拦</a:t>
            </a:r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5991225" y="5153025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每个账号只能碰自己家的设备；跨家庭访问返回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403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，且零副作用。</a:t>
            </a:r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09 / 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能力四 · 查得到&lt;/Text&gt;&#10;        &lt;Text style={{ fontSize: 16, color: 'rgba(248,250,252,0.42)', marginTop: 8 }}&gt;设备说明书，问啥答啥&lt;/Text&gt;&#10;    &lt;/Box&gt;&#10;&#10;    &lt;Box style={{ height: 546, paddingLeft: 64, paddingRight: 64, flexDirection: 'row', gap: 48 }}&gt;&#10;        &lt;Box style={{ width: 500, justifyContent: 'center' }}&gt;&#10;            &lt;Box style={{ background: '#16223A', border: '1px solid rgba(248,250,252,0.10)', borderRadius: 10, padding: '26px 26px' }}&gt;&#10;                &lt;Text style={{ fontSize: 13, color: '#38BDF8', letterSpacing: 2, fontWeight: 700 }}&gt;场景&lt;/Text&gt;&#10;                &lt;Box style={{ background: 'rgba(248,250,252,0.06)', borderRadius: 8, padding: '14px 18px', marginTop: 18 }}&gt;&#10;                    &lt;Text style={{ fontSize: 20, color: 'rgba(248,250,252,0.75)' }}&gt;你问：「空调过滤网多久洗一次？」&lt;/Text&gt;&#10;                &lt;/Box&gt;&#10;                &lt;Text style={{ fontSize: 20, color: 'rgba(248,250,252,0.50)', textAlign: 'center', marginTop: 14, marginBottom: 14 }}&gt;↓&lt;/Text&gt;&#10;                &lt;Box style={{ background: 'rgba(56,189,248,0.10)', borderRadius: 8, padding: '14px 18px' }}&gt;&#10;                    &lt;Text style={{ fontSize: 21, color: '#F8FAFC' }}&gt;它从你导入的说明书里召回答案&lt;/Text&gt;&#10;                &lt;/Box&gt;&#10;                &lt;Text style={{ fontSize: 17, color: 'rgba(248,250,252,0.55)', lineHeight: 1.7, marginTop: 18 }}&gt;&#10;                    哪怕你问&quot;过滤网&quot;、原文写&quot;滤网&quot;，&lt;br /&gt;&#10;                    字面不重合，语义也能对上。&#10;                &lt;/Text&gt;&#10;            &lt;/Box&gt;&#10;        &lt;/Box&gt;&#10;&#10;        &lt;Box style={{ width: 620, flexDirection: 'column', gap: 16, justifyContent: 'center' }}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1&lt;/Text&gt;&#10;                &lt;Text style={{ fontSize: 20, fontWeight: 700, color: '#F8FAFC', marginTop: 8 }}&gt;知识库从&quot;内置 5 条&quot;变成&quot;用户可导入&quot;&lt;/Text&gt;&#10;                &lt;Text style={{ fontSize: 17, color: 'rgba(248,250,252,0.58)', lineHeight: 1.7, marginTop: 8 }}&gt;内置的通用常识当兜底，你自己家的说明书自己导——按家庭隔离，互不串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2&lt;/Text&gt;&#10;                &lt;Text style={{ fontSize: 20, fontWeight: 700, color: '#F8FAFC', marginTop: 8 }}&gt;语义召回，不是字面匹配&lt;/Text&gt;&#10;                &lt;Text style={{ fontSize: 17, color: 'rgba(248,250,252,0.58)', lineHeight: 1.7, marginTop: 8 }}&gt;本地 embedding 把语义相近的段落找出来，字面零重合也能中。&lt;/Text&gt;&#10;            &lt;/Box&gt;&#10;            &lt;Box style={{ background: '#16223A', border: '1px solid rgba(56,189,248,0.22)', borderRadius: 10, padding: '20px 24px' }}&gt;&#10;                &lt;Text style={{ fontSize: 13, color: '#38BDF8', fontFamily: 'Consolas', fontWeight: 700, letterSpacing: 1 }}&gt;决策 3&lt;/Text&gt;&#10;                &lt;Text style={{ fontSize: 20, fontWeight: 700, color: '#F8FAFC', marginTop: 8 }}&gt;查不到就说查不到&lt;/Text&gt;&#10;                &lt;Text style={{ fontSize: 17, color: 'rgba(248,250,252,0.58)', lineHeight: 1.7, marginTop: 8 }}&gt;低相关的段落被阈值过滤掉，不硬编——宁可说&quot;没查到&quot;，不给你驴唇不对马嘴的答案。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10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819150" y="476250"/>
            <a:ext cx="2428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能力四</a:t>
            </a:r>
            <a:r>
              <a:rPr lang="en-US" sz="2700" b="1" spc="38">
                <a:solidFill>
                  <a:srgbClr val="F8FAFC"/>
                </a:solidFill>
                <a:latin typeface="微软雅黑"/>
                <a:ea typeface="微软雅黑"/>
              </a:rPr>
              <a:t> · </a:t>
            </a: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查得到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419475" y="628650"/>
            <a:ext cx="152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设备说明书，问啥答啥</a:t>
            </a:r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609600" y="2066925"/>
            <a:ext cx="4762500" cy="3162300"/>
          </a:xfrm>
          <a:prstGeom prst="roundRect">
            <a:avLst>
              <a:gd name="adj" fmla="val 301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57250" y="2314575"/>
            <a:ext cx="42672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场景</a:t>
            </a:r>
            <a:endParaRPr/>
          </a:p>
        </p:txBody>
      </p:sp>
      <p:sp>
        <p:nvSpPr>
          <p:cNvPr id="24" name="矩形: 圆角 23"/>
          <p:cNvSpPr/>
          <p:nvPr/>
        </p:nvSpPr>
        <p:spPr>
          <a:xfrm>
            <a:off x="857250" y="2638425"/>
            <a:ext cx="4267200" cy="495300"/>
          </a:xfrm>
          <a:prstGeom prst="roundRect">
            <a:avLst>
              <a:gd name="adj" fmla="val 15385"/>
            </a:avLst>
          </a:prstGeom>
          <a:solidFill>
            <a:srgbClr val="F8FAFC">
              <a:alpha val="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1028700" y="2771775"/>
            <a:ext cx="3924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你问：「空调过滤网多久洗一次？」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57250" y="3267075"/>
            <a:ext cx="4267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8FAFC">
                    <a:alpha val="50000"/>
                  </a:srgbClr>
                </a:solidFill>
                <a:latin typeface="微软雅黑"/>
                <a:ea typeface="微软雅黑"/>
              </a:rPr>
              <a:t>↓</a:t>
            </a:r>
            <a:endParaRPr/>
          </a:p>
        </p:txBody>
      </p:sp>
      <p:sp>
        <p:nvSpPr>
          <p:cNvPr id="27" name="矩形: 圆角 26"/>
          <p:cNvSpPr/>
          <p:nvPr/>
        </p:nvSpPr>
        <p:spPr>
          <a:xfrm>
            <a:off x="857250" y="3629025"/>
            <a:ext cx="4267200" cy="514350"/>
          </a:xfrm>
          <a:prstGeom prst="roundRect">
            <a:avLst>
              <a:gd name="adj" fmla="val 14815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028700" y="3762375"/>
            <a:ext cx="3924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它从你导入的说明书里召回答案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857250" y="4314825"/>
            <a:ext cx="42672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哪怕你问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过滤网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、原文写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滤网</a:t>
            </a:r>
            <a:r>
              <a:rPr lang="en-US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字面不重合，语义也能对上。</a:t>
            </a:r>
            <a:endParaRPr/>
          </a:p>
        </p:txBody>
      </p:sp>
      <p:sp>
        <p:nvSpPr>
          <p:cNvPr id="30" name="矩形: 圆角 29"/>
          <p:cNvSpPr/>
          <p:nvPr/>
        </p:nvSpPr>
        <p:spPr>
          <a:xfrm>
            <a:off x="5762625" y="1295400"/>
            <a:ext cx="5905500" cy="1581150"/>
          </a:xfrm>
          <a:prstGeom prst="roundRect">
            <a:avLst>
              <a:gd name="adj" fmla="val 602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5991225" y="148590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1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5991225" y="171450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知识库从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内置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 5 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条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变成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用户可导入</a:t>
            </a: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991225" y="2019300"/>
            <a:ext cx="54483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内置的通用常识当兜底，你自己家的说明书自己导——按家庭隔离，互不串。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5762625" y="3028950"/>
            <a:ext cx="5905500" cy="1247775"/>
          </a:xfrm>
          <a:prstGeom prst="roundRect">
            <a:avLst>
              <a:gd name="adj" fmla="val 763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5991225" y="3219450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2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5991225" y="3448050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语义召回，不是字面匹配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5991225" y="3752850"/>
            <a:ext cx="54483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本地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embedding 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把语义相近的段落找出来，字面零重合也能中。</a:t>
            </a:r>
            <a:endParaRPr/>
          </a:p>
        </p:txBody>
      </p:sp>
      <p:sp>
        <p:nvSpPr>
          <p:cNvPr id="38" name="矩形: 圆角 37"/>
          <p:cNvSpPr/>
          <p:nvPr/>
        </p:nvSpPr>
        <p:spPr>
          <a:xfrm>
            <a:off x="5762625" y="4429125"/>
            <a:ext cx="5905500" cy="1581150"/>
          </a:xfrm>
          <a:prstGeom prst="roundRect">
            <a:avLst>
              <a:gd name="adj" fmla="val 6024"/>
            </a:avLst>
          </a:prstGeom>
          <a:solidFill>
            <a:srgbClr val="16223A"/>
          </a:solidFill>
          <a:ln w="12700">
            <a:solidFill>
              <a:srgbClr val="38BDF8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991225" y="4619625"/>
            <a:ext cx="5448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8BDF8"/>
                </a:solidFill>
                <a:latin typeface="Consolas"/>
                <a:ea typeface="Consolas"/>
              </a:rPr>
              <a:t>决策</a:t>
            </a:r>
            <a:r>
              <a:rPr lang="en-US" sz="975" b="1" spc="75">
                <a:solidFill>
                  <a:srgbClr val="38BDF8"/>
                </a:solidFill>
                <a:latin typeface="Consolas"/>
                <a:ea typeface="Consolas"/>
              </a:rPr>
              <a:t> 3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991225" y="4848225"/>
            <a:ext cx="544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查不到就说查不到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991225" y="5153025"/>
            <a:ext cx="54483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低相关的段落被阈值过滤掉，不硬编——宁可说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没查到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，不给你驴唇不对马嘴的答案。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10 / 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核心功能模块：意图识别&lt;/Text&gt;&#10;    &lt;/Box&gt;&#10;&#10;    &lt;Box style={{ height: 546, paddingLeft: 64, paddingRight: 64, flexDirection: 'row', gap: 48 }}&gt;&#10;        &lt;Box style={{ width: 520, flexDirection: 'column', gap: 18, justifyContent: 'center' }}&gt;&#10;            &lt;Box style={{ background: '#16223A', border: '1px solid rgba(248,250,252,0.10)', borderRadius: 10, padding: '22px 24px' }}&gt;&#10;                &lt;Text style={{ fontSize: 13, color: '#38BDF8', letterSpacing: 2, fontWeight: 700 }}&gt;功能描述&lt;/Text&gt;&#10;                &lt;Text style={{ fontSize: 18, color: 'rgba(248,250,252,0.70)', lineHeight: 1.75, marginTop: 10 }}&gt;&#10;                    &lt;span style={{ color: '#F8FAFC', fontWeight: 700 }}&gt;规则引擎 + 大模型双通道&lt;/span&gt;：规则快且可控，大模型兜复杂句式。&#10;                    关键纪律：规则词表与 LLM prompt 两边同步，否则&quot;规则好用、模型翻车&quot;。&#10;                &lt;/Text&gt;&#10;            &lt;/Box&gt;&#10;&#10;            &lt;Box style={{ background: '#16223A', border: '1px solid rgba(248,250,252,0.10)', borderRadius: 10, padding: '22px 24px' }}&gt;&#10;                &lt;Text style={{ fontSize: 13, color: '#38BDF8', letterSpacing: 2, fontWeight: 700 }}&gt;识别 7 种意图&lt;/Text&gt;&#10;                &lt;Box style={{ flexDirection: 'row', gap: 10, flexWrap: 'wrap', marginTop: 14 }}&gt;&#10;                    &lt;Text style={{ fontSize: 14, color: '#38BDF8', background: 'rgba(56,189,248,0.10)', borderRadius: 5, padding: '6px 12px' }}&gt;device_control&lt;/Text&gt;&#10;                    &lt;Text style={{ fontSize: 14, color: '#38BDF8', background: 'rgba(56,189,248,0.10)', borderRadius: 5, padding: '6px 12px' }}&gt;schedule&lt;/Text&gt;&#10;                    &lt;Text style={{ fontSize: 14, color: '#38BDF8', background: 'rgba(56,189,248,0.10)', borderRadius: 5, padding: '6px 12px' }}&gt;schedule_query&lt;/Text&gt;&#10;                    &lt;Text style={{ fontSize: 14, color: '#38BDF8', background: 'rgba(56,189,248,0.10)', borderRadius: 5, padding: '6px 12px' }}&gt;knowledge&lt;/Text&gt;&#10;                    &lt;Text style={{ fontSize: 14, color: '#38BDF8', background: 'rgba(56,189,248,0.10)', borderRadius: 5, padding: '6px 12px' }}&gt;memory_query&lt;/Text&gt;&#10;                    &lt;Text style={{ fontSize: 14, color: '#38BDF8', background: 'rgba(56,189,248,0.10)', borderRadius: 5, padding: '6px 12px' }}&gt;memory_write&lt;/Text&gt;&#10;                    &lt;Text style={{ fontSize: 14, color: '#38BDF8', background: 'rgba(56,189,248,0.10)', borderRadius: 5, padding: '6px 12px' }}&gt;chat&lt;/Text&gt;&#10;                &lt;/Box&gt;&#10;            &lt;/Box&gt;&#10;&#10;            &lt;Box style={{ background: 'rgba(56,189,248,0.08)', border: '1px solid rgba(56,189,248,0.30)', borderRadius: 10, padding: '20px 24px' }}&gt;&#10;                &lt;Text style={{ fontSize: 17, color: 'rgba(248,250,252,0.75)', lineHeight: 1.7 }}&gt;&#10;                    验证方式：&lt;span style={{ color: '#38BDF8', fontWeight: 700 }}&gt;54 条端到端评测全通过 + 296 单测&lt;/span&gt;。&#10;                    不标&quot;意图准确率 %&quot;——单点百分比会掩盖边界情况。&#10;                &lt;/Text&gt;&#10;            &lt;/Box&gt;&#10;        &lt;/Box&gt;&#10;&#10;        &lt;Box style={{ width: 600, flexDirection: 'column', gap: 10, justifyContent: 'center' }}&gt;&#10;            &lt;Text style={{ fontSize: 13, color: '#38BDF8', letterSpacing: 2, fontWeight: 700 }}&gt;真实测过的用例&lt;/Text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打开客厅灯&quot;&lt;/Text&gt;&#10;                &lt;Text style={{ fontSize: 15, color: '#38BDF8', fontFamily: 'Consolas' }}&gt;→ device_control&lt;/Text&gt;&#10;            &lt;/Box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提醒我九点关灯&quot;&lt;/Text&gt;&#10;                &lt;Text style={{ fontSize: 15, color: '#38BDF8', fontFamily: 'Consolas' }}&gt;→ schedule（不误判为关灯）&lt;/Text&gt;&#10;            &lt;/Box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看看今天的提醒&quot;&lt;/Text&gt;&#10;                &lt;Text style={{ fontSize: 15, color: '#38BDF8', fontFamily: 'Consolas' }}&gt;→ schedule_query（只读）&lt;/Text&gt;&#10;            &lt;/Box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空调滤网怎么洗&quot;&lt;/Text&gt;&#10;                &lt;Text style={{ fontSize: 15, color: '#38BDF8', fontFamily: 'Consolas' }}&gt;→ knowledge&lt;/Text&gt;&#10;            &lt;/Box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打开灯&quot;（家里两盏）&lt;/Text&gt;&#10;                &lt;Text style={{ fontSize: 15, color: '#38BDF8', fontFamily: 'Consolas' }}&gt;→ 反问澄清，不闷头开&lt;/Text&gt;&#10;            &lt;/Box&gt;&#10;            &lt;Box style={{ background: '#16223A', border: '1px solid rgba(248,250,252,0.10)', borderRadius: 8, padding: '12px 18px', flexDirection: 'row', gap: 16, alignItems: 'center' }}&gt;&#10;                &lt;Text style={{ fontSize: 16, color: 'rgba(248,250,252,0.85)', flex: 1 }}&gt;&quot;今天天气怎么样&quot;&lt;/Text&gt;&#10;                &lt;Text style={{ fontSize: 15, color: '#38BDF8', fontFamily: 'Consolas' }}&gt;→ chat（闲聊兜底）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11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矩形 45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819150" y="476250"/>
            <a:ext cx="38290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核心功能模块：意图识别</a:t>
            </a:r>
            <a:endParaRPr/>
          </a:p>
        </p:txBody>
      </p:sp>
      <p:sp>
        <p:nvSpPr>
          <p:cNvPr id="48" name="矩形: 圆角 47"/>
          <p:cNvSpPr/>
          <p:nvPr/>
        </p:nvSpPr>
        <p:spPr>
          <a:xfrm>
            <a:off x="609600" y="1400175"/>
            <a:ext cx="4953000" cy="1752600"/>
          </a:xfrm>
          <a:prstGeom prst="roundRect">
            <a:avLst>
              <a:gd name="adj" fmla="val 543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38200" y="1609725"/>
            <a:ext cx="4495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功能描述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838200" y="1857375"/>
            <a:ext cx="4495800" cy="1085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350" b="1">
                <a:solidFill>
                  <a:srgbClr val="F8FAFC"/>
                </a:solidFill>
                <a:latin typeface="微软雅黑"/>
                <a:ea typeface="微软雅黑"/>
              </a:rPr>
              <a:t>规则引擎</a:t>
            </a:r>
            <a:r>
              <a:rPr lang="en-US" sz="1350" b="1">
                <a:solidFill>
                  <a:srgbClr val="F8FAFC"/>
                </a:solidFill>
                <a:latin typeface="微软雅黑"/>
                <a:ea typeface="微软雅黑"/>
              </a:rPr>
              <a:t> + </a:t>
            </a:r>
            <a:r>
              <a:rPr lang="zh-CN" sz="1350" b="1">
                <a:solidFill>
                  <a:srgbClr val="F8FAFC"/>
                </a:solidFill>
                <a:latin typeface="微软雅黑"/>
                <a:ea typeface="微软雅黑"/>
              </a:rPr>
              <a:t>大模型双通道</a:t>
            </a:r>
            <a:r>
              <a:rPr lang="zh-CN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：规则快且可控，大模型兜复杂句式。</a:t>
            </a:r>
            <a:r>
              <a:rPr lang="en-US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关键纪律：规则词表与</a:t>
            </a:r>
            <a:r>
              <a:rPr lang="en-US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 LLM prompt </a:t>
            </a:r>
            <a:r>
              <a:rPr lang="zh-CN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两边同步，否则</a:t>
            </a:r>
            <a:r>
              <a:rPr lang="en-US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规则好用、模型翻车</a:t>
            </a:r>
            <a:r>
              <a:rPr lang="en-US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350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51" name="矩形: 圆角 50"/>
          <p:cNvSpPr/>
          <p:nvPr/>
        </p:nvSpPr>
        <p:spPr>
          <a:xfrm>
            <a:off x="609600" y="3324225"/>
            <a:ext cx="4953000" cy="1352550"/>
          </a:xfrm>
          <a:prstGeom prst="roundRect">
            <a:avLst>
              <a:gd name="adj" fmla="val 704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38200" y="3533775"/>
            <a:ext cx="4495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识别</a:t>
            </a:r>
            <a:r>
              <a:rPr lang="en-US" sz="975" b="1" spc="150">
                <a:solidFill>
                  <a:srgbClr val="38BDF8"/>
                </a:solidFill>
                <a:latin typeface="微软雅黑"/>
                <a:ea typeface="微软雅黑"/>
              </a:rPr>
              <a:t> 7 </a:t>
            </a: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种意图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838200" y="3819525"/>
            <a:ext cx="1085850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838200" y="3819525"/>
            <a:ext cx="1085850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device_control</a:t>
            </a:r>
            <a:endParaRPr/>
          </a:p>
        </p:txBody>
      </p:sp>
      <p:sp>
        <p:nvSpPr>
          <p:cNvPr id="55" name="矩形: 圆角 54"/>
          <p:cNvSpPr/>
          <p:nvPr/>
        </p:nvSpPr>
        <p:spPr>
          <a:xfrm>
            <a:off x="2019300" y="3819525"/>
            <a:ext cx="742950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2019300" y="3819525"/>
            <a:ext cx="742950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schedule</a:t>
            </a:r>
            <a:endParaRPr/>
          </a:p>
        </p:txBody>
      </p:sp>
      <p:sp>
        <p:nvSpPr>
          <p:cNvPr id="57" name="矩形: 圆角 56"/>
          <p:cNvSpPr/>
          <p:nvPr/>
        </p:nvSpPr>
        <p:spPr>
          <a:xfrm>
            <a:off x="2857500" y="3819525"/>
            <a:ext cx="1152525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2857500" y="3819525"/>
            <a:ext cx="1152525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schedule_query</a:t>
            </a:r>
            <a:endParaRPr/>
          </a:p>
        </p:txBody>
      </p:sp>
      <p:sp>
        <p:nvSpPr>
          <p:cNvPr id="59" name="矩形: 圆角 58"/>
          <p:cNvSpPr/>
          <p:nvPr/>
        </p:nvSpPr>
        <p:spPr>
          <a:xfrm>
            <a:off x="4105275" y="3819525"/>
            <a:ext cx="866775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105275" y="3819525"/>
            <a:ext cx="866775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knowledge</a:t>
            </a:r>
            <a:endParaRPr/>
          </a:p>
        </p:txBody>
      </p:sp>
      <p:sp>
        <p:nvSpPr>
          <p:cNvPr id="61" name="矩形: 圆角 60"/>
          <p:cNvSpPr/>
          <p:nvPr/>
        </p:nvSpPr>
        <p:spPr>
          <a:xfrm>
            <a:off x="838200" y="4191000"/>
            <a:ext cx="1123950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38200" y="4191000"/>
            <a:ext cx="1123950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memory_query</a:t>
            </a:r>
            <a:endParaRPr/>
          </a:p>
        </p:txBody>
      </p:sp>
      <p:sp>
        <p:nvSpPr>
          <p:cNvPr id="63" name="矩形: 圆角 62"/>
          <p:cNvSpPr/>
          <p:nvPr/>
        </p:nvSpPr>
        <p:spPr>
          <a:xfrm>
            <a:off x="2057400" y="4191000"/>
            <a:ext cx="1076325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2057400" y="4191000"/>
            <a:ext cx="1076325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memory_write</a:t>
            </a:r>
            <a:endParaRPr/>
          </a:p>
        </p:txBody>
      </p:sp>
      <p:sp>
        <p:nvSpPr>
          <p:cNvPr id="65" name="矩形: 圆角 64"/>
          <p:cNvSpPr/>
          <p:nvPr/>
        </p:nvSpPr>
        <p:spPr>
          <a:xfrm>
            <a:off x="3228975" y="4191000"/>
            <a:ext cx="485775" cy="276225"/>
          </a:xfrm>
          <a:prstGeom prst="roundRect">
            <a:avLst>
              <a:gd name="adj" fmla="val 172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3228975" y="4191000"/>
            <a:ext cx="485775" cy="276225"/>
          </a:xfrm>
          <a:prstGeom prst="rect">
            <a:avLst/>
          </a:prstGeom>
        </p:spPr>
        <p:txBody>
          <a:bodyPr wrap="none" lIns="85725" tIns="42863" rIns="85725" bIns="42863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highlight>
                  <a:srgbClr val="38BDF8">
                    <a:alpha val="10000"/>
                  </a:srgbClr>
                </a:highlight>
                <a:latin typeface="微软雅黑"/>
                <a:ea typeface="微软雅黑"/>
              </a:rPr>
              <a:t>chat</a:t>
            </a:r>
            <a:endParaRPr/>
          </a:p>
        </p:txBody>
      </p:sp>
      <p:sp>
        <p:nvSpPr>
          <p:cNvPr id="67" name="矩形: 圆角 66"/>
          <p:cNvSpPr/>
          <p:nvPr/>
        </p:nvSpPr>
        <p:spPr>
          <a:xfrm>
            <a:off x="609600" y="4848225"/>
            <a:ext cx="4953000" cy="1047750"/>
          </a:xfrm>
          <a:prstGeom prst="roundRect">
            <a:avLst>
              <a:gd name="adj" fmla="val 9091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38200" y="5038725"/>
            <a:ext cx="44958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验证方式：</a:t>
            </a:r>
            <a:r>
              <a:rPr lang="en-US" sz="1275" b="1">
                <a:solidFill>
                  <a:srgbClr val="38BDF8"/>
                </a:solidFill>
                <a:latin typeface="微软雅黑"/>
                <a:ea typeface="微软雅黑"/>
              </a:rPr>
              <a:t>54 </a:t>
            </a:r>
            <a:r>
              <a:rPr lang="zh-CN" sz="1275" b="1">
                <a:solidFill>
                  <a:srgbClr val="38BDF8"/>
                </a:solidFill>
                <a:latin typeface="微软雅黑"/>
                <a:ea typeface="微软雅黑"/>
              </a:rPr>
              <a:t>条端到端评测全通过</a:t>
            </a:r>
            <a:r>
              <a:rPr lang="en-US" sz="1275" b="1">
                <a:solidFill>
                  <a:srgbClr val="38BDF8"/>
                </a:solidFill>
                <a:latin typeface="微软雅黑"/>
                <a:ea typeface="微软雅黑"/>
              </a:rPr>
              <a:t> + 296 </a:t>
            </a:r>
            <a:r>
              <a:rPr lang="zh-CN" sz="1275" b="1">
                <a:solidFill>
                  <a:srgbClr val="38BDF8"/>
                </a:solidFill>
                <a:latin typeface="微软雅黑"/>
                <a:ea typeface="微软雅黑"/>
              </a:rPr>
              <a:t>单测</a:t>
            </a:r>
            <a:r>
              <a:rPr lang="zh-CN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。</a:t>
            </a:r>
            <a:r>
              <a:rPr lang="en-US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不标</a:t>
            </a:r>
            <a:r>
              <a:rPr lang="en-US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意图准确率</a:t>
            </a:r>
            <a:r>
              <a:rPr lang="en-US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 %"——</a:t>
            </a:r>
            <a:r>
              <a:rPr lang="zh-CN" sz="1275">
                <a:solidFill>
                  <a:srgbClr val="F8FAFC">
                    <a:alpha val="75000"/>
                  </a:srgbClr>
                </a:solidFill>
                <a:latin typeface="微软雅黑"/>
                <a:ea typeface="微软雅黑"/>
              </a:rPr>
              <a:t>单点百分比会掩盖边界情况。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953125" y="2028825"/>
            <a:ext cx="571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38BDF8"/>
                </a:solidFill>
                <a:latin typeface="微软雅黑"/>
                <a:ea typeface="微软雅黑"/>
              </a:rPr>
              <a:t>真实测过的用例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5953125" y="227647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124575" y="2390775"/>
            <a:ext cx="396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打开客厅灯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10239375" y="2400300"/>
            <a:ext cx="1257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device_control</a:t>
            </a:r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5953125" y="279082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124575" y="2905125"/>
            <a:ext cx="2828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提醒我九点关灯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9105900" y="2914650"/>
            <a:ext cx="2390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schedule</a:t>
            </a:r>
            <a:r>
              <a:rPr lang="zh-CN" sz="1125">
                <a:solidFill>
                  <a:srgbClr val="38BDF8"/>
                </a:solidFill>
                <a:latin typeface="Consolas"/>
                <a:ea typeface="Consolas"/>
              </a:rPr>
              <a:t>（不误判为关灯）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5953125" y="330517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124575" y="3419475"/>
            <a:ext cx="3162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看看今天的提醒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9439275" y="3429000"/>
            <a:ext cx="2057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schedule_query</a:t>
            </a:r>
            <a:r>
              <a:rPr lang="zh-CN" sz="1125">
                <a:solidFill>
                  <a:srgbClr val="38BDF8"/>
                </a:solidFill>
                <a:latin typeface="Consolas"/>
                <a:ea typeface="Consolas"/>
              </a:rPr>
              <a:t>（只读）</a:t>
            </a:r>
            <a:endParaRPr/>
          </a:p>
        </p:txBody>
      </p:sp>
      <p:sp>
        <p:nvSpPr>
          <p:cNvPr id="79" name="矩形: 圆角 78"/>
          <p:cNvSpPr/>
          <p:nvPr/>
        </p:nvSpPr>
        <p:spPr>
          <a:xfrm>
            <a:off x="5953125" y="381952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6124575" y="3933825"/>
            <a:ext cx="4352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空调滤网怎么洗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10629900" y="3943350"/>
            <a:ext cx="866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knowledge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5953125" y="433387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6124575" y="4448175"/>
            <a:ext cx="3257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打开灯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（家里两盏）</a:t>
            </a:r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9534525" y="4457700"/>
            <a:ext cx="19621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</a:t>
            </a:r>
            <a:r>
              <a:rPr lang="zh-CN" sz="1125">
                <a:solidFill>
                  <a:srgbClr val="38BDF8"/>
                </a:solidFill>
                <a:latin typeface="Consolas"/>
                <a:ea typeface="Consolas"/>
              </a:rPr>
              <a:t>反问澄清，不闷头开</a:t>
            </a:r>
            <a:endParaRPr/>
          </a:p>
        </p:txBody>
      </p:sp>
      <p:sp>
        <p:nvSpPr>
          <p:cNvPr id="85" name="矩形: 圆角 84"/>
          <p:cNvSpPr/>
          <p:nvPr/>
        </p:nvSpPr>
        <p:spPr>
          <a:xfrm>
            <a:off x="5953125" y="4848225"/>
            <a:ext cx="5715000" cy="419100"/>
          </a:xfrm>
          <a:prstGeom prst="roundRect">
            <a:avLst>
              <a:gd name="adj" fmla="val 18182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124575" y="4962525"/>
            <a:ext cx="3543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今天天气怎么样</a:t>
            </a:r>
            <a:r>
              <a:rPr lang="en-US" sz="1200">
                <a:solidFill>
                  <a:srgbClr val="F8FAFC">
                    <a:alpha val="85000"/>
                  </a:srgbClr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9820275" y="4972050"/>
            <a:ext cx="1676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Consolas"/>
                <a:ea typeface="Consolas"/>
              </a:rPr>
              <a:t>→ chat</a:t>
            </a:r>
            <a:r>
              <a:rPr lang="zh-CN" sz="1125">
                <a:solidFill>
                  <a:srgbClr val="38BDF8"/>
                </a:solidFill>
                <a:latin typeface="Consolas"/>
                <a:ea typeface="Consolas"/>
              </a:rPr>
              <a:t>（闲聊兜底）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11 / 15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怎么证明它真的有用&lt;/Text&gt;&#10;    &lt;/Box&gt;&#10;&#10;    &lt;Box style={{ height: 546, paddingLeft: 64, paddingRight: 64, flexDirection: 'column', gap: 28, justifyContent: 'center' }}&gt;&#10;        &lt;Box style={{ flexDirection: 'row', gap: 24 }}&gt;&#10;            &lt;Box style={{ flex: 1, background: '#16223A', border: '1px solid rgba(248,250,252,0.10)', borderRadius: 10, padding: '26px 22px' }}&gt;&#10;                &lt;Text style={{ fontSize: 52, fontWeight: 700, color: '#38BDF8', fontFamily: 'Consolas', lineHeight: 1 }}&gt;296&lt;/Text&gt;&#10;                &lt;Text style={{ fontSize: 20, fontWeight: 700, color: '#F8FAFC', marginTop: 12 }}&gt;单元测试&lt;/Text&gt;&#10;                &lt;Text style={{ fontSize: 16, color: 'rgba(248,250,252,0.55)', lineHeight: 1.6, marginTop: 8 }}&gt;快、确定性，不花钱不联网。修一个 bug 补一条能复现它的用例。&lt;/Text&gt;&#10;            &lt;/Box&gt;&#10;            &lt;Box style={{ flex: 1, background: '#16223A', border: '1px solid rgba(248,250,252,0.10)', borderRadius: 10, padding: '26px 22px' }}&gt;&#10;                &lt;Text style={{ fontSize: 52, fontWeight: 700, color: '#38BDF8', fontFamily: 'Consolas', lineHeight: 1 }}&gt;54&lt;/Text&gt;&#10;                &lt;Text style={{ fontSize: 20, fontWeight: 700, color: '#F8FAFC', marginTop: 12 }}&gt;端到端评测&lt;/Text&gt;&#10;                &lt;Text style={{ fontSize: 16, color: 'rgba(248,250,252,0.55)', lineHeight: 1.6, marginTop: 8 }}&gt;安全红线一票否决，跑之前先复位状态。抓&quot;改坏了&quot;。&lt;/Text&gt;&#10;            &lt;/Box&gt;&#10;            &lt;Box style={{ flex: 1, background: '#16223A', border: '1px solid rgba(248,250,252,0.10)', borderRadius: 10, padding: '26px 22px' }}&gt;&#10;                &lt;Text style={{ fontSize: 52, fontWeight: 700, color: '#38BDF8', fontFamily: 'Consolas', lineHeight: 1 }}&gt;43&lt;/Text&gt;&#10;                &lt;Text style={{ fontSize: 20, fontWeight: 700, color: '#F8FAFC', marginTop: 12 }}&gt;端到端验收&lt;/Text&gt;&#10;                &lt;Text style={{ fontSize: 16, color: 'rgba(248,250,252,0.55)', lineHeight: 1.6, marginTop: 8 }}&gt;真起服务 + 真 JWT，串完整链路。抓&quot;单测旁路掉的东西&quot;。&lt;/Text&gt;&#10;            &lt;/Box&gt;&#10;            &lt;Box style={{ flex: 1, background: '#16223A', border: '1px solid rgba(248,250,252,0.10)', borderRadius: 10, padding: '26px 22px' }}&gt;&#10;                &lt;Text style={{ fontSize: 52, fontWeight: 700, color: '#38BDF8', fontFamily: 'Consolas', lineHeight: 1 }}&gt;32&lt;/Text&gt;&#10;                &lt;Text style={{ fontSize: 20, fontWeight: 700, color: '#F8FAFC', marginTop: 12 }}&gt;前端冒烟&lt;/Text&gt;&#10;                &lt;Text style={{ fontSize: 16, color: 'rgba(248,250,252,0.55)', lineHeight: 1.6, marginTop: 8 }}&gt;逐个点交互，点了必须有请求。抓&quot;看着能点、其实没反应&quot;。&lt;/Text&gt;&#10;            &lt;/Box&gt;&#10;        &lt;/Box&gt;&#10;&#10;        &lt;Box style={{ background: 'rgba(56,189,248,0.08)', border: '1px solid rgba(56,189,248,0.30)', borderRadius: 10, padding: '20px 28px' }}&gt;&#10;            &lt;Text style={{ fontSize: 21, color: '#F8FAFC', lineHeight: 1.6 }}&gt;&#10;                这四层&lt;span style={{ color: '#38BDF8', fontWeight: 700 }}&gt;不是重复劳动&lt;/span&gt;，是各自堵不同的洞：单测旁路认证所以测不到 JWT，端到端只覆盖主路径，前端冒烟抓&quot;点了没反应&quot;。&#10;            &lt;/Text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12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矩形 91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819150" y="476250"/>
            <a:ext cx="31337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怎么证明它真的有用</a:t>
            </a:r>
            <a:endParaRPr/>
          </a:p>
        </p:txBody>
      </p:sp>
      <p:sp>
        <p:nvSpPr>
          <p:cNvPr id="94" name="矩形: 圆角 93"/>
          <p:cNvSpPr/>
          <p:nvPr/>
        </p:nvSpPr>
        <p:spPr>
          <a:xfrm>
            <a:off x="609600" y="1743075"/>
            <a:ext cx="2571750" cy="2400300"/>
          </a:xfrm>
          <a:prstGeom prst="roundRect">
            <a:avLst>
              <a:gd name="adj" fmla="val 3968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19150" y="1990725"/>
            <a:ext cx="215265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8BDF8"/>
                </a:solidFill>
                <a:latin typeface="Consolas"/>
                <a:ea typeface="Consolas"/>
              </a:rPr>
              <a:t>296</a:t>
            </a:r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19150" y="2705100"/>
            <a:ext cx="2152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单元测试</a:t>
            </a:r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19150" y="3009900"/>
            <a:ext cx="215265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快、确定性，不花钱不联网。修一个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bug 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补一条能复现它的用例。</a:t>
            </a:r>
            <a:endParaRPr/>
          </a:p>
        </p:txBody>
      </p:sp>
      <p:sp>
        <p:nvSpPr>
          <p:cNvPr id="98" name="矩形: 圆角 97"/>
          <p:cNvSpPr/>
          <p:nvPr/>
        </p:nvSpPr>
        <p:spPr>
          <a:xfrm>
            <a:off x="3409950" y="1743075"/>
            <a:ext cx="2571750" cy="2400300"/>
          </a:xfrm>
          <a:prstGeom prst="roundRect">
            <a:avLst>
              <a:gd name="adj" fmla="val 3968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3619500" y="1990725"/>
            <a:ext cx="215265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8BDF8"/>
                </a:solidFill>
                <a:latin typeface="Consolas"/>
                <a:ea typeface="Consolas"/>
              </a:rPr>
              <a:t>54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3619500" y="2705100"/>
            <a:ext cx="2152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端到端评测</a:t>
            </a:r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3619500" y="3009900"/>
            <a:ext cx="21526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安全红线一票否决，跑之前先复位状态。抓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改坏了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02" name="矩形: 圆角 101"/>
          <p:cNvSpPr/>
          <p:nvPr/>
        </p:nvSpPr>
        <p:spPr>
          <a:xfrm>
            <a:off x="6210300" y="1743075"/>
            <a:ext cx="2571750" cy="2400300"/>
          </a:xfrm>
          <a:prstGeom prst="roundRect">
            <a:avLst>
              <a:gd name="adj" fmla="val 3968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6419850" y="1990725"/>
            <a:ext cx="215265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8BDF8"/>
                </a:solidFill>
                <a:latin typeface="Consolas"/>
                <a:ea typeface="Consolas"/>
              </a:rPr>
              <a:t>43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419850" y="2705100"/>
            <a:ext cx="2152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端到端验收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419850" y="3009900"/>
            <a:ext cx="21526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真起服务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真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JWT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，串完整链路。抓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单测旁路掉的东西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06" name="矩形: 圆角 105"/>
          <p:cNvSpPr/>
          <p:nvPr/>
        </p:nvSpPr>
        <p:spPr>
          <a:xfrm>
            <a:off x="9010650" y="1743075"/>
            <a:ext cx="2571750" cy="2400300"/>
          </a:xfrm>
          <a:prstGeom prst="roundRect">
            <a:avLst>
              <a:gd name="adj" fmla="val 3968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9220200" y="1990725"/>
            <a:ext cx="215265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8BDF8"/>
                </a:solidFill>
                <a:latin typeface="Consolas"/>
                <a:ea typeface="Consolas"/>
              </a:rPr>
              <a:t>32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9220200" y="2705100"/>
            <a:ext cx="2152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前端冒烟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9220200" y="3009900"/>
            <a:ext cx="21526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逐个点交互，点了必须有请求。抓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看着能点、其实没反应</a:t>
            </a:r>
            <a:r>
              <a:rPr lang="en-US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10" name="矩形: 圆角 109"/>
          <p:cNvSpPr/>
          <p:nvPr/>
        </p:nvSpPr>
        <p:spPr>
          <a:xfrm>
            <a:off x="609600" y="4410075"/>
            <a:ext cx="10972800" cy="1152525"/>
          </a:xfrm>
          <a:prstGeom prst="roundRect">
            <a:avLst>
              <a:gd name="adj" fmla="val 8264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876300" y="4600575"/>
            <a:ext cx="10439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这四层</a:t>
            </a:r>
            <a:r>
              <a:rPr lang="zh-CN" sz="1575" b="1">
                <a:solidFill>
                  <a:srgbClr val="38BDF8"/>
                </a:solidFill>
                <a:latin typeface="微软雅黑"/>
                <a:ea typeface="微软雅黑"/>
              </a:rPr>
              <a:t>不是重复劳动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，是各自堵不同的洞：单测旁路认证所以测不到</a:t>
            </a:r>
            <a:r>
              <a:rPr lang="en-US" sz="1575">
                <a:solidFill>
                  <a:srgbClr val="F8FAFC"/>
                </a:solidFill>
                <a:latin typeface="微软雅黑"/>
                <a:ea typeface="微软雅黑"/>
              </a:rPr>
              <a:t> JWT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，端到端只覆盖主路径，前端冒烟抓</a:t>
            </a:r>
            <a:r>
              <a:rPr lang="en-US" sz="1575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点了没反应</a:t>
            </a:r>
            <a:r>
              <a:rPr lang="en-US" sz="1575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575">
                <a:solidFill>
                  <a:srgbClr val="F8FAFC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12 / 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FB7185' }} /&gt;&#10;        &lt;Text style={{ fontSize: 36, fontWeight: 700, color: '#F8FAFC', letterSpacing: 0.5 }}&gt;复盘：三个坑，每个都值几百行代码&lt;/Text&gt;&#10;    &lt;/Box&gt;&#10;&#10;    &lt;Box style={{ height: 546, paddingLeft: 64, paddingRight: 64, flexDirection: 'row', gap: 34 }}&gt;&#10;        &lt;Box style={{ width: 716, flexDirection: 'column', gap: 14 }}&gt;&#10;            &lt;Box style={{ flex: 1, flexDirection: 'row', gap: 20, background: '#16223A', border: '1px solid rgba(248,250,252,0.10)', borderRadius: 10, padding: '20px 24px' }}&gt;&#10;                &lt;Text style={{ fontSize: 40, fontWeight: 700, color: 'rgba(251,113,133,0.55)', fontFamily: 'Consolas', lineHeight: 1, width: 44 }}&gt;01&lt;/Text&gt;&#10;                &lt;Box style={{ width: 604 }}&gt;&#10;                    &lt;Text style={{ fontSize: 20, fontWeight: 700, color: '#F8FAFC' }}&gt;模型不知道今天是几号&lt;/Text&gt;&#10;                    &lt;Text style={{ fontSize: 16, color: 'rgba(248,250,252,0.58)', lineHeight: 1.65, marginTop: 8 }}&gt;&#10;                        prompt 里写着&quot;示例：2026-10-14T09:00:00&quot;，模型把它当成了现在。&lt;br /&gt;&#10;                        用户建&quot;今日任务&quot;，条目一落地就显示&lt;span style={{ color: '#FB7185' }}&gt;逾期 5 天&lt;/span&gt;。&#10;                    &lt;/Text&gt;&#10;                &lt;/Box&gt;&#10;            &lt;/Box&gt;&#10;&#10;            &lt;Box style={{ flex: 1, flexDirection: 'row', gap: 20, background: '#16223A', border: '1px solid rgba(248,250,252,0.10)', borderRadius: 10, padding: '20px 24px' }}&gt;&#10;                &lt;Text style={{ fontSize: 40, fontWeight: 700, color: 'rgba(251,113,133,0.55)', fontFamily: 'Consolas', lineHeight: 1, width: 44 }}&gt;02&lt;/Text&gt;&#10;                &lt;Box style={{ width: 604 }}&gt;&#10;                    &lt;Text style={{ fontSize: 20, fontWeight: 700, color: '#F8FAFC' }}&gt;ok 配失败：报了成功，其实没动&lt;/Text&gt;&#10;                    &lt;Text style={{ fontSize: 16, color: 'rgba(248,250,252,0.58)', lineHeight: 1.65, marginTop: 8 }}&gt;&#10;                        工具返回 &lt;span style={{ fontFamily: 'Consolas' }}&gt;success:false&lt;/span&gt;，注册中心却仍是 &lt;span style={{ fontFamily: 'Consolas' }}&gt;ok:true&lt;/span&gt;。&lt;br /&gt;&#10;                        顺藤还揪出更狠的：自建门锁联动会&lt;span style={{ color: '#FB7185' }}&gt;反向把门锁上&lt;/span&gt;，零报错。&#10;                    &lt;/Text&gt;&#10;                &lt;/Box&gt;&#10;            &lt;/Box&gt;&#10;&#10;            &lt;Box style={{ flex: 1, flexDirection: 'row', gap: 20, background: '#16223A', border: '1px solid rgba(248,250,252,0.10)', borderRadius: 10, padding: '20px 24px' }}&gt;&#10;                &lt;Text style={{ fontSize: 40, fontWeight: 700, color: 'rgba(251,113,133,0.55)', fontFamily: 'Consolas', lineHeight: 1, width: 44 }}&gt;03&lt;/Text&gt;&#10;                &lt;Box style={{ width: 604 }}&gt;&#10;                    &lt;Text style={{ fontSize: 20, fontWeight: 700, color: '#F8FAFC' }}&gt;我的测试把自己的数据删了&lt;/Text&gt;&#10;                    &lt;Text style={{ fontSize: 16, color: 'rgba(248,250,252,0.58)', lineHeight: 1.65, marginTop: 8 }}&gt;&#10;                        评测每条用例都会重置设备库，而设备库没做隔离——&lt;br /&gt;&#10;                        跑一次评测，&lt;span style={{ color: '#FB7185' }}&gt;你家里的 16 台设备全没了&lt;/span&gt;。&#10;                    &lt;/Text&gt;&#10;                &lt;/Box&gt;&#10;            &lt;/Box&gt;&#10;        &lt;/Box&gt;&#10;&#10;        &lt;Box style={{ width: 402, flexDirection: 'column', justifyContent: 'space-between' }}&gt;&#10;            &lt;Box style={{ background: 'rgba(251,113,133,0.08)', border: '1px solid rgba(251,113,133,0.40)', borderRadius: 10, padding: '26px 26px' }}&gt;&#10;                &lt;Text style={{ fontSize: 13, color: '#FB7185', letterSpacing: 2, fontWeight: 700 }}&gt;共同点&lt;/Text&gt;&#10;                &lt;Text style={{ fontSize: 22, fontWeight: 700, color: '#F8FAFC', lineHeight: 1.6, marginTop: 14 }}&gt;&#10;                    都不是&quot;功能没做&quot;，&lt;br /&gt;是&quot;做了但错了，&lt;br /&gt;而且测试没抓到&quot;。&#10;                &lt;/Text&gt;&#10;            &lt;/Box&gt;&#10;&#10;            &lt;Box style={{ background: '#16223A', border: '1px solid rgba(248,250,252,0.10)', borderRadius: 10, padding: '26px 26px' }}&gt;&#10;                &lt;Text style={{ fontSize: 17, color: 'rgba(248,250,252,0.70)', lineHeight: 1.85 }}&gt;&#10;                    所以后来立了条规矩：&lt;br /&gt;&#10;                    &lt;span style={{ color: '#38BDF8' }}&gt;修完一个 bug，必须补一条能复现它的用例，并做反向验证&lt;/span&gt;——把修复改回去，确认那条用例真的会红。&#10;                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13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矩形 115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FB718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19150" y="476250"/>
            <a:ext cx="5562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复盘：三个坑，每个都值几百行代码</a:t>
            </a:r>
            <a:endParaRPr/>
          </a:p>
        </p:txBody>
      </p:sp>
      <p:sp>
        <p:nvSpPr>
          <p:cNvPr id="118" name="矩形: 圆角 117"/>
          <p:cNvSpPr/>
          <p:nvPr/>
        </p:nvSpPr>
        <p:spPr>
          <a:xfrm>
            <a:off x="609600" y="1047750"/>
            <a:ext cx="6819900" cy="1647825"/>
          </a:xfrm>
          <a:prstGeom prst="roundRect">
            <a:avLst>
              <a:gd name="adj" fmla="val 5780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838200" y="1238250"/>
            <a:ext cx="419100" cy="1266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B7185">
                    <a:alpha val="55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447800" y="1238250"/>
            <a:ext cx="5753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模型不知道今天是几号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447800" y="1543050"/>
            <a:ext cx="5753100" cy="609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prompt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里写着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示例：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2026-10-14T09:00:00"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，模型把它当成了现在。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用户建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今日任务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，条目一落地就显示</a:t>
            </a:r>
            <a:r>
              <a:rPr lang="zh-CN" sz="1200">
                <a:solidFill>
                  <a:srgbClr val="FB7185"/>
                </a:solidFill>
                <a:latin typeface="微软雅黑"/>
                <a:ea typeface="微软雅黑"/>
              </a:rPr>
              <a:t>逾期</a:t>
            </a:r>
            <a:r>
              <a:rPr lang="en-US" sz="1200">
                <a:solidFill>
                  <a:srgbClr val="FB7185"/>
                </a:solidFill>
                <a:latin typeface="微软雅黑"/>
                <a:ea typeface="微软雅黑"/>
              </a:rPr>
              <a:t> 5 </a:t>
            </a:r>
            <a:r>
              <a:rPr lang="zh-CN" sz="1200">
                <a:solidFill>
                  <a:srgbClr val="FB7185"/>
                </a:solidFill>
                <a:latin typeface="微软雅黑"/>
                <a:ea typeface="微软雅黑"/>
              </a:rPr>
              <a:t>天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22" name="矩形: 圆角 121"/>
          <p:cNvSpPr/>
          <p:nvPr/>
        </p:nvSpPr>
        <p:spPr>
          <a:xfrm>
            <a:off x="609600" y="2828925"/>
            <a:ext cx="6819900" cy="1638300"/>
          </a:xfrm>
          <a:prstGeom prst="roundRect">
            <a:avLst>
              <a:gd name="adj" fmla="val 5814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838200" y="3019425"/>
            <a:ext cx="4191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B7185">
                    <a:alpha val="55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1447800" y="3019425"/>
            <a:ext cx="5753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微软雅黑"/>
                <a:ea typeface="微软雅黑"/>
              </a:rPr>
              <a:t>ok </a:t>
            </a: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配失败：报了成功，其实没动</a:t>
            </a:r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1447800" y="3324225"/>
            <a:ext cx="5753100" cy="609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工具返回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success:false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，注册中心却仍是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ok:true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顺藤还揪出更狠的：自建门锁联动会</a:t>
            </a:r>
            <a:r>
              <a:rPr lang="zh-CN" sz="1200">
                <a:solidFill>
                  <a:srgbClr val="FB7185"/>
                </a:solidFill>
                <a:latin typeface="微软雅黑"/>
                <a:ea typeface="微软雅黑"/>
              </a:rPr>
              <a:t>反向把门锁上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，零报错。</a:t>
            </a:r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609600" y="4600575"/>
            <a:ext cx="6819900" cy="1647825"/>
          </a:xfrm>
          <a:prstGeom prst="roundRect">
            <a:avLst>
              <a:gd name="adj" fmla="val 5780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38200" y="4791075"/>
            <a:ext cx="419100" cy="1266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B7185">
                    <a:alpha val="55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1447800" y="4791075"/>
            <a:ext cx="5753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微软雅黑"/>
                <a:ea typeface="微软雅黑"/>
              </a:rPr>
              <a:t>我的测试把自己的数据删了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447800" y="5095875"/>
            <a:ext cx="5753100" cy="609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评测每条用例都会重置设备库，而设备库没做隔离——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跑一次评测，</a:t>
            </a:r>
            <a:r>
              <a:rPr lang="zh-CN" sz="1200">
                <a:solidFill>
                  <a:srgbClr val="FB7185"/>
                </a:solidFill>
                <a:latin typeface="微软雅黑"/>
                <a:ea typeface="微软雅黑"/>
              </a:rPr>
              <a:t>你家里的</a:t>
            </a:r>
            <a:r>
              <a:rPr lang="en-US" sz="1200">
                <a:solidFill>
                  <a:srgbClr val="FB7185"/>
                </a:solidFill>
                <a:latin typeface="微软雅黑"/>
                <a:ea typeface="微软雅黑"/>
              </a:rPr>
              <a:t> 16 </a:t>
            </a:r>
            <a:r>
              <a:rPr lang="zh-CN" sz="1200">
                <a:solidFill>
                  <a:srgbClr val="FB7185"/>
                </a:solidFill>
                <a:latin typeface="微软雅黑"/>
                <a:ea typeface="微软雅黑"/>
              </a:rPr>
              <a:t>台设备全没了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7753350" y="1047750"/>
            <a:ext cx="3829050" cy="1990725"/>
          </a:xfrm>
          <a:prstGeom prst="roundRect">
            <a:avLst>
              <a:gd name="adj" fmla="val 4785"/>
            </a:avLst>
          </a:prstGeom>
          <a:solidFill>
            <a:srgbClr val="FB7185">
              <a:alpha val="8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8001000" y="1295400"/>
            <a:ext cx="3333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B7185"/>
                </a:solidFill>
                <a:latin typeface="微软雅黑"/>
                <a:ea typeface="微软雅黑"/>
              </a:rPr>
              <a:t>共同点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001000" y="1581150"/>
            <a:ext cx="3333750" cy="1209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都不是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功能没做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是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做了但错了，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而且测试没抓到</a:t>
            </a:r>
            <a:r>
              <a:rPr lang="en-US" sz="1650" b="1">
                <a:solidFill>
                  <a:srgbClr val="F8FAFC"/>
                </a:solidFill>
                <a:latin typeface="微软雅黑"/>
                <a:ea typeface="微软雅黑"/>
              </a:rPr>
              <a:t>"</a:t>
            </a:r>
            <a:r>
              <a:rPr lang="zh-CN" sz="1650" b="1">
                <a:solidFill>
                  <a:srgbClr val="F8FAFC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33" name="矩形: 圆角 132"/>
          <p:cNvSpPr/>
          <p:nvPr/>
        </p:nvSpPr>
        <p:spPr>
          <a:xfrm>
            <a:off x="7753350" y="4314825"/>
            <a:ext cx="3829050" cy="1933575"/>
          </a:xfrm>
          <a:prstGeom prst="roundRect">
            <a:avLst>
              <a:gd name="adj" fmla="val 4926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8001000" y="4562475"/>
            <a:ext cx="3333750" cy="1438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275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所以后来立了条规矩：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38BDF8"/>
                </a:solidFill>
                <a:latin typeface="微软雅黑"/>
                <a:ea typeface="微软雅黑"/>
              </a:rPr>
              <a:t>修完一个</a:t>
            </a:r>
            <a:r>
              <a:rPr lang="en-US" sz="1275">
                <a:solidFill>
                  <a:srgbClr val="38BDF8"/>
                </a:solidFill>
                <a:latin typeface="微软雅黑"/>
                <a:ea typeface="微软雅黑"/>
              </a:rPr>
              <a:t> bug</a:t>
            </a:r>
            <a:r>
              <a:rPr lang="zh-CN" sz="1275">
                <a:solidFill>
                  <a:srgbClr val="38BDF8"/>
                </a:solidFill>
                <a:latin typeface="微软雅黑"/>
                <a:ea typeface="微软雅黑"/>
              </a:rPr>
              <a:t>，必须补一条能复现它的用例，并做反向验证</a:t>
            </a:r>
            <a:r>
              <a:rPr lang="zh-CN" sz="1275">
                <a:solidFill>
                  <a:srgbClr val="F8FAFC">
                    <a:alpha val="70000"/>
                  </a:srgbClr>
                </a:solidFill>
                <a:latin typeface="微软雅黑"/>
                <a:ea typeface="微软雅黑"/>
              </a:rPr>
              <a:t>——把修复改回去，确认那条用例真的会红。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13 / 15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Box style={{ height: 110, paddingLeft: 64, paddingRight: 64, paddingTop: 34, flexDirection: 'row', alignItems: 'center', gap: 18 }}&gt;&#10;        &lt;Box style={{ width: 4, height: 34, background: '#38BDF8' }} /&gt;&#10;        &lt;Text style={{ fontSize: 36, fontWeight: 700, color: '#F8FAFC', letterSpacing: 0.5 }}&gt;现在还不能做什么&lt;/Text&gt;&#10;    &lt;/Box&gt;&#10;&#10;    &lt;Box style={{ height: 546, paddingLeft: 64, paddingRight: 64, flexDirection: 'row', gap: 48 }}&gt;&#10;        &lt;Box style={{ width: 320, justifyContent: 'center', background: '#16223A', border: '1px solid rgba(248,250,252,0.10)', borderRadius: 10, padding: '32px 28px' }}&gt;&#10;            &lt;Text style={{ fontSize: 30, fontWeight: 700, color: '#F8FAFC', lineHeight: 1.5 }}&gt;&#10;                主动说清楚&lt;br /&gt;哪里没做好&#10;            &lt;/Text&gt;&#10;            &lt;Box style={{ width: 56, height: 3, background: '#38BDF8', marginTop: 24 }} /&gt;&#10;            &lt;Text style={{ fontSize: 17, color: 'rgba(248,250,252,0.58)', lineHeight: 1.85, marginTop: 22 }}&gt;&#10;                被问出来才承认，&lt;br /&gt;比主动标注难看一百倍。&lt;br /&gt;下面这些，我都能说清&quot;为什么还没做&quot;。&#10;            &lt;/Text&gt;&#10;        &lt;/Box&gt;&#10;&#10;        &lt;Box style={{ width: 720, flexDirection: 'column', gap: 16 }}&gt;&#10;            &lt;Box style={{ flex: 1, background: '#16223A', border: '1px solid rgba(248,250,252,0.10)', borderRadius: 10, padding: '20px 26px' }}&gt;&#10;                &lt;Box style={{ flexDirection: 'row', alignItems: 'center', gap: 12 }}&gt;&#10;                    &lt;Text style={{ fontSize: 18, fontWeight: 700, color: '#F8FAFC' }}&gt;还没做的&lt;/Text&gt;&#10;                    &lt;Text style={{ fontSize: 13, color: 'rgba(248,250,252,0.42)' }}&gt;规划里有，时间不够&lt;/Text&gt;&#10;                &lt;/Box&gt;&#10;                &lt;Text style={{ fontSize: 16, color: 'rgba(248,250,252,0.58)', lineHeight: 1.8, marginTop: 10 }}&gt;&#10;                    语音入口 ｜ 真实设备接入（现在跑的是模拟设备）｜ 主动服务 ｜ 多轮指代消解——说&quot;把它关了&quot;，它还不知道&quot;它&quot;是哪台&#10;                &lt;/Text&gt;&#10;            &lt;/Box&gt;&#10;&#10;            &lt;Box style={{ flex: 1, background: 'rgba(56,189,248,0.06)', border: '1px solid rgba(56,189,248,0.25)', borderRadius: 10, padding: '20px 26px' }}&gt;&#10;                &lt;Box style={{ flexDirection: 'row', alignItems: 'center', gap: 12 }}&gt;&#10;                    &lt;Text style={{ fontSize: 18, fontWeight: 700, color: '#38BDF8' }}&gt;这轮从&quot;降级&quot;补成&quot;真跑&quot;&lt;/Text&gt;&#10;                &lt;/Box&gt;&#10;                &lt;Text style={{ fontSize: 16, color: 'rgba(248,250,252,0.62)', lineHeight: 1.8, marginTop: 10 }}&gt;&#10;                    Redis 真跑（停了能自动降级）｜ 语义召回接本地 embedding ｜ 知识库从内置 5 条变用户可导入&#10;                &lt;/Text&gt;&#10;            &lt;/Box&gt;&#10;&#10;            &lt;Box style={{ flex: 1, background: 'rgba(56,189,248,0.08)', border: '1px solid rgba(56,189,248,0.35)', borderRadius: 10, padding: '20px 26px' }}&gt;&#10;                &lt;Box style={{ flexDirection: 'row', alignItems: 'center', gap: 12 }}&gt;&#10;                    &lt;Text style={{ fontSize: 18, fontWeight: 700, color: '#38BDF8' }}&gt;下一步优先级&lt;/Text&gt;&#10;                &lt;/Box&gt;&#10;                &lt;Text style={{ fontSize: 16, color: 'rgba(248,250,252,0.66)', lineHeight: 1.8, marginTop: 10 }}&gt;&#10;                    ① 把评测红线挂到 CI，让&quot;能拦住回归&quot;变成仓库里可查的事实&lt;br /&gt;&#10;                    ② 接真实 ESP32 设备，让&quot;说一句话灯就亮&quot;从模拟变真事&#10;                &lt;/Text&gt;&#10;            &lt;/Box&gt;&#10;        &lt;/Box&gt;&#10;    &lt;/Box&gt;&#10;&#10;    &lt;Box style={{ height: 64, paddingLeft: 64, paddingRight: 64, flexDirection: 'row', justifyContent: 'space-between', alignItems: 'center' }}&gt;&#10;        &lt;Text style={{ fontSize: 13, color: 'rgba(248,250,252,0.40)' }}&gt;HomeMind · 智能家居 AI 管家&lt;/Text&gt;&#10;        &lt;Text style={{ fontSize: 13, color: 'rgba(248,250,252,0.40)', fontFamily: 'Consolas' }}&gt;14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矩形 138"/>
          <p:cNvSpPr/>
          <p:nvPr/>
        </p:nvSpPr>
        <p:spPr>
          <a:xfrm>
            <a:off x="609600" y="523875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19150" y="476250"/>
            <a:ext cx="27813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 spc="38">
                <a:solidFill>
                  <a:srgbClr val="F8FAFC"/>
                </a:solidFill>
                <a:latin typeface="微软雅黑"/>
                <a:ea typeface="微软雅黑"/>
              </a:rPr>
              <a:t>现在还不能做什么</a:t>
            </a:r>
            <a:endParaRPr/>
          </a:p>
        </p:txBody>
      </p:sp>
      <p:sp>
        <p:nvSpPr>
          <p:cNvPr id="141" name="矩形: 圆角 140"/>
          <p:cNvSpPr/>
          <p:nvPr/>
        </p:nvSpPr>
        <p:spPr>
          <a:xfrm>
            <a:off x="609600" y="1047750"/>
            <a:ext cx="3048000" cy="5200650"/>
          </a:xfrm>
          <a:prstGeom prst="roundRect">
            <a:avLst>
              <a:gd name="adj" fmla="val 3125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876300" y="2181225"/>
            <a:ext cx="2514600" cy="1028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8FAFC"/>
                </a:solidFill>
                <a:latin typeface="微软雅黑"/>
                <a:ea typeface="微软雅黑"/>
              </a:rPr>
              <a:t>主动说清楚</a:t>
            </a:r>
            <a:endParaRPr/>
          </a:p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8FAFC"/>
                </a:solidFill>
                <a:latin typeface="微软雅黑"/>
                <a:ea typeface="微软雅黑"/>
              </a:rPr>
              <a:t>哪里没做好</a:t>
            </a:r>
            <a:endParaRPr/>
          </a:p>
        </p:txBody>
      </p:sp>
      <p:sp>
        <p:nvSpPr>
          <p:cNvPr id="143" name="矩形 142"/>
          <p:cNvSpPr/>
          <p:nvPr/>
        </p:nvSpPr>
        <p:spPr>
          <a:xfrm>
            <a:off x="876300" y="3438525"/>
            <a:ext cx="5334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876300" y="3676650"/>
            <a:ext cx="2514600" cy="1438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被问出来才承认，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比主动标注难看一百倍。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下面这些，我都能说清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为什么还没做</a:t>
            </a:r>
            <a:r>
              <a:rPr lang="en-US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45" name="矩形: 圆角 144"/>
          <p:cNvSpPr/>
          <p:nvPr/>
        </p:nvSpPr>
        <p:spPr>
          <a:xfrm>
            <a:off x="4114800" y="1047750"/>
            <a:ext cx="6858000" cy="1628775"/>
          </a:xfrm>
          <a:prstGeom prst="roundRect">
            <a:avLst>
              <a:gd name="adj" fmla="val 5848"/>
            </a:avLst>
          </a:prstGeom>
          <a:solidFill>
            <a:srgbClr val="16223A"/>
          </a:solidFill>
          <a:ln w="12700">
            <a:solidFill>
              <a:srgbClr val="F8FAFC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4362450" y="12382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微软雅黑"/>
                <a:ea typeface="微软雅黑"/>
              </a:rPr>
              <a:t>还没做的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5162550" y="1266825"/>
            <a:ext cx="111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规划里有，时间不够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362450" y="1543050"/>
            <a:ext cx="6362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语音入口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｜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真实设备接入（现在跑的是模拟设备）｜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主动服务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｜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多轮指代消解——说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把它关了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，它还不知道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它</a:t>
            </a:r>
            <a:r>
              <a:rPr lang="en-US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58000"/>
                  </a:srgbClr>
                </a:solidFill>
                <a:latin typeface="微软雅黑"/>
                <a:ea typeface="微软雅黑"/>
              </a:rPr>
              <a:t>是哪台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4114800" y="2828925"/>
            <a:ext cx="6858000" cy="1638300"/>
          </a:xfrm>
          <a:prstGeom prst="roundRect">
            <a:avLst>
              <a:gd name="adj" fmla="val 5814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4362450" y="3019425"/>
            <a:ext cx="1885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/>
                <a:ea typeface="微软雅黑"/>
              </a:rPr>
              <a:t>这轮从</a:t>
            </a:r>
            <a:r>
              <a:rPr lang="en-US" sz="1350" b="1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 b="1">
                <a:solidFill>
                  <a:srgbClr val="38BDF8"/>
                </a:solidFill>
                <a:latin typeface="微软雅黑"/>
                <a:ea typeface="微软雅黑"/>
              </a:rPr>
              <a:t>降级</a:t>
            </a:r>
            <a:r>
              <a:rPr lang="en-US" sz="1350" b="1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 b="1">
                <a:solidFill>
                  <a:srgbClr val="38BDF8"/>
                </a:solidFill>
                <a:latin typeface="微软雅黑"/>
                <a:ea typeface="微软雅黑"/>
              </a:rPr>
              <a:t>补成</a:t>
            </a:r>
            <a:r>
              <a:rPr lang="en-US" sz="1350" b="1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r>
              <a:rPr lang="zh-CN" sz="1350" b="1">
                <a:solidFill>
                  <a:srgbClr val="38BDF8"/>
                </a:solidFill>
                <a:latin typeface="微软雅黑"/>
                <a:ea typeface="微软雅黑"/>
              </a:rPr>
              <a:t>真跑</a:t>
            </a:r>
            <a:r>
              <a:rPr lang="en-US" sz="1350" b="1">
                <a:solidFill>
                  <a:srgbClr val="38BDF8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4362450" y="3324225"/>
            <a:ext cx="6362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Redis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真跑（停了能自动降级）｜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语义召回接本地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embedding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｜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知识库从内置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5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条变用户可导入</a:t>
            </a:r>
            <a:endParaRPr/>
          </a:p>
        </p:txBody>
      </p:sp>
      <p:sp>
        <p:nvSpPr>
          <p:cNvPr id="152" name="矩形: 圆角 151"/>
          <p:cNvSpPr/>
          <p:nvPr/>
        </p:nvSpPr>
        <p:spPr>
          <a:xfrm>
            <a:off x="4114800" y="4619625"/>
            <a:ext cx="6858000" cy="1628775"/>
          </a:xfrm>
          <a:prstGeom prst="roundRect">
            <a:avLst>
              <a:gd name="adj" fmla="val 5848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4362450" y="4810125"/>
            <a:ext cx="1028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/>
                <a:ea typeface="微软雅黑"/>
              </a:rPr>
              <a:t>下一步优先级</a:t>
            </a:r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4362450" y="5114925"/>
            <a:ext cx="63627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①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把评测红线挂到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CI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，让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能拦住回归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变成仓库里可查的事实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②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接真实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 ESP32 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设备，让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说一句话灯就亮</a:t>
            </a:r>
            <a:r>
              <a:rPr lang="en-US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F8FAFC">
                    <a:alpha val="66000"/>
                  </a:srgbClr>
                </a:solidFill>
                <a:latin typeface="微软雅黑"/>
                <a:ea typeface="微软雅黑"/>
              </a:rPr>
              <a:t>从模拟变真事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609600" y="6477000"/>
            <a:ext cx="1647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HomeMind ·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智能家居</a:t>
            </a:r>
            <a:r>
              <a:rPr lang="en-US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F8FAFC">
                    <a:alpha val="40000"/>
                  </a:srgbClr>
                </a:solidFill>
                <a:latin typeface="微软雅黑"/>
                <a:ea typeface="微软雅黑"/>
              </a:rPr>
              <a:t>管家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1096625" y="6477000"/>
            <a:ext cx="485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F8FAFC">
                    <a:alpha val="40000"/>
                  </a:srgbClr>
                </a:solidFill>
                <a:latin typeface="Consolas"/>
                <a:ea typeface="Consolas"/>
              </a:rPr>
              <a:t>14 / 15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overflow: 'hidden', background: '#0B1120', fontFamily: '微软雅黑' }}&gt;&#10;    &lt;Image src=&quot;assets/home_atmosphere.png&quot; style={{ position: 'absolute', top: 0, left: 0, width: 1280, height: 720, objectFit: 'cover', opacity: 0.55 }} /&gt;&#10;    &lt;Box style={{ position: 'absolute', top: 0, left: 0, width: 1280, height: 720, background: 'linear-gradient(105deg, rgba(11,17,32,0.97) 0%, rgba(11,17,32,0.90) 50%, rgba(11,17,32,0.66) 100%)' }} /&gt;&#10;&#10;    &lt;Box style={{ position: 'relative', zIndex: 1, width: 1280, height: 720, paddingLeft: 80, paddingRight: 80, paddingTop: 64, paddingBottom: 56, flexDirection: 'row', gap: 56 }}&gt;&#10;        &lt;Box style={{ width: 640, flexDirection: 'column', justifyContent: 'space-between' }}&gt;&#10;            &lt;Box&gt;&#10;                &lt;Text style={{ fontSize: 13, color: '#38BDF8', letterSpacing: 4, fontWeight: 700 }}&gt;THANKS FOR LISTENING&lt;/Text&gt;&#10;                &lt;Text style={{ fontSize: 60, fontWeight: 700, color: '#F8FAFC', lineHeight: 1.25, marginTop: 20, letterSpacing: 1 }}&gt;&#10;                    谢谢，&lt;br /&gt;欢迎提问&#10;                &lt;/Text&gt;&#10;                &lt;Box style={{ width: 60, height: 3, background: '#38BDF8', marginTop: 26 }} /&gt;&#10;            &lt;/Box&gt;&#10;&#10;            &lt;Box style={{ flexDirection: 'row', gap: 12, flexWrap: 'wrap', width: 620 }}&gt;&#10;                &lt;Box style={{ background: 'rgba(56,189,248,0.10)', border: '1px solid rgba(56,189,248,0.30)', borderRadius: 6, padding: '10px 18px' }}&gt;&#10;                    &lt;Text style={{ fontSize: 15, color: '#38BDF8' }}&gt;听得懂&lt;/Text&gt;&#10;                &lt;/Box&gt;&#10;                &lt;Box style={{ background: 'rgba(56,189,248,0.10)', border: '1px solid rgba(56,189,248,0.30)', borderRadius: 6, padding: '10px 18px' }}&gt;&#10;                    &lt;Text style={{ fontSize: 15, color: '#38BDF8' }}&gt;记得住&lt;/Text&gt;&#10;                &lt;/Box&gt;&#10;                &lt;Box style={{ background: 'rgba(56,189,248,0.10)', border: '1px solid rgba(56,189,248,0.30)', borderRadius: 6, padding: '10px 18px' }}&gt;&#10;                    &lt;Text style={{ fontSize: 15, color: '#38BDF8' }}&gt;管得住&lt;/Text&gt;&#10;                &lt;/Box&gt;&#10;                &lt;Box style={{ background: 'rgba(56,189,248,0.10)', border: '1px solid rgba(56,189,248,0.30)', borderRadius: 6, padding: '10px 18px' }}&gt;&#10;                    &lt;Text style={{ fontSize: 15, color: '#38BDF8' }}&gt;查得到&lt;/Text&gt;&#10;                &lt;/Box&gt;&#10;                &lt;Box style={{ background: 'rgba(56,189,248,0.10)', border: '1px solid rgba(56,189,248,0.30)', borderRadius: 6, padding: '10px 18px' }}&gt;&#10;                    &lt;Text style={{ fontSize: 15, color: '#38BDF8' }}&gt;四层验证&lt;/Text&gt;&#10;                &lt;/Box&gt;&#10;                &lt;Box style={{ background: 'rgba(56,189,248,0.10)', border: '1px solid rgba(56,189,248,0.30)', borderRadius: 6, padding: '10px 18px' }}&gt;&#10;                    &lt;Text style={{ fontSize: 15, color: '#38BDF8' }}&gt;家庭隔离&lt;/Text&gt;&#10;                &lt;/Box&gt;&#10;            &lt;/Box&gt;&#10;&#10;            &lt;Box&gt;&#10;                &lt;Text style={{ fontSize: 21, color: 'rgba(248,250,252,0.72)', lineHeight: 1.85, width: 600 }}&gt;&#10;                    这个项目最大的收获不是这些功能，&lt;br /&gt;&#10;                    是学会了&lt;span style={{ color: '#38BDF8', fontWeight: 700 }}&gt;怎么证明它们真的能用&lt;/span&gt;。&#10;                &lt;/Text&gt;&#10;                &lt;Text style={{ fontSize: 15, color: 'rgba(248,250,252,0.42)', marginTop: 22, letterSpacing: 1 }}&gt;&#10;                    [ 你的名字 ] · 2026 年 10 月&#10;                &lt;/Text&gt;&#10;            &lt;/Box&gt;&#10;        &lt;/Box&gt;&#10;&#10;        &lt;Box style={{ width: 424, flexDirection: 'column', justifyContent: 'space-between' }}&gt;&#10;            &lt;Box style={{ background: 'rgba(56,189,248,0.10)', border: '1px solid rgba(56,189,248,0.32)', borderRadius: 12, padding: '28px 30px' }}&gt;&#10;                &lt;Text style={{ fontSize: 12, color: 'rgba(248,250,252,0.45)', letterSpacing: 2 }}&gt;项目规模&lt;/Text&gt;&#10;                &lt;Text style={{ fontSize: 68, fontWeight: 700, color: '#38BDF8', fontFamily: 'Consolas', lineHeight: 1, marginTop: 10 }}&gt;16,531&lt;/Text&gt;&#10;                &lt;Text style={{ fontSize: 16, color: 'rgba(248,250,252,0.62)', marginTop: 14 }}&gt;行 Python 代码 · 84 个文件&lt;/Text&gt;&#10;                &lt;Box style={{ height: 1, background: 'rgba(248,250,252,0.14)', marginTop: 18, marginBottom: 16 }} /&gt;&#10;                &lt;Text style={{ fontSize: 15, color: 'rgba(248,250,252,0.55)', lineHeight: 1.8 }}&gt;&#10;                    76 次模块化提交&lt;br /&gt;296 条单测 · 54 条评测全绿&lt;br /&gt;一键自检 10 / 10&#10;                &lt;/Text&gt;&#10;            &lt;/Box&gt;&#10;&#10;            &lt;Box style={{ background: '#16223A', border: '1px solid rgba(248,250,252,0.12)', borderRadius: 12, padding: '24px 30px' }}&gt;&#10;                &lt;Text style={{ fontSize: 12, color: 'rgba(248,250,252,0.42)', letterSpacing: 2 }}&gt;代码可查&lt;/Text&gt;&#10;                &lt;Text style={{ fontSize: 16, color: '#F8FAFC', marginTop: 10, fontFamily: 'Consolas' }}&gt;github.com/RicaedoWang&lt;/Text&gt;&#10;                &lt;Text style={{ fontSize: 16, color: 'rgba(248,250,252,0.62)', marginTop: 6, fontFamily: 'Consolas' }}&gt;/HomeMind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0" name="矩形 1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7000"/>
                </a:srgbClr>
              </a:gs>
              <a:gs pos="50000">
                <a:srgbClr val="0B1120">
                  <a:alpha val="90000"/>
                </a:srgbClr>
              </a:gs>
              <a:gs pos="100000">
                <a:srgbClr val="0B1120">
                  <a:alpha val="66000"/>
                </a:srgbClr>
              </a:gs>
            </a:gsLst>
            <a:lin ang="9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62000" y="609600"/>
            <a:ext cx="6096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38BDF8"/>
                </a:solidFill>
                <a:latin typeface="微软雅黑"/>
                <a:ea typeface="微软雅黑"/>
              </a:rPr>
              <a:t>THANKS FOR LISTENING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62000" y="952500"/>
            <a:ext cx="6096000" cy="1714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4500" b="1" spc="75">
                <a:solidFill>
                  <a:srgbClr val="F8FAFC"/>
                </a:solidFill>
                <a:latin typeface="微软雅黑"/>
                <a:ea typeface="微软雅黑"/>
              </a:rPr>
              <a:t>谢谢，</a:t>
            </a:r>
            <a:endParaRPr/>
          </a:p>
          <a:p>
            <a:pPr>
              <a:lnSpc>
                <a:spcPct val="125000"/>
              </a:lnSpc>
            </a:pPr>
            <a:r>
              <a:rPr lang="zh-CN" sz="4500" b="1" spc="75">
                <a:solidFill>
                  <a:srgbClr val="F8FAFC"/>
                </a:solidFill>
                <a:latin typeface="微软雅黑"/>
                <a:ea typeface="微软雅黑"/>
              </a:rPr>
              <a:t>欢迎提问</a:t>
            </a:r>
            <a:endParaRPr/>
          </a:p>
        </p:txBody>
      </p:sp>
      <p:sp>
        <p:nvSpPr>
          <p:cNvPr id="163" name="矩形 162"/>
          <p:cNvSpPr/>
          <p:nvPr/>
        </p:nvSpPr>
        <p:spPr>
          <a:xfrm>
            <a:off x="762000" y="2914650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" name="矩形: 圆角 163"/>
          <p:cNvSpPr/>
          <p:nvPr/>
        </p:nvSpPr>
        <p:spPr>
          <a:xfrm>
            <a:off x="762000" y="3819525"/>
            <a:ext cx="771525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933450" y="39147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听得懂</a:t>
            </a:r>
            <a:endParaRPr/>
          </a:p>
        </p:txBody>
      </p:sp>
      <p:sp>
        <p:nvSpPr>
          <p:cNvPr id="166" name="矩形: 圆角 165"/>
          <p:cNvSpPr/>
          <p:nvPr/>
        </p:nvSpPr>
        <p:spPr>
          <a:xfrm>
            <a:off x="1647825" y="3819525"/>
            <a:ext cx="771525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1819275" y="39147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记得住</a:t>
            </a:r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2533650" y="3819525"/>
            <a:ext cx="771525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2705100" y="39147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管得住</a:t>
            </a:r>
            <a:endParaRPr/>
          </a:p>
        </p:txBody>
      </p:sp>
      <p:sp>
        <p:nvSpPr>
          <p:cNvPr id="170" name="矩形: 圆角 169"/>
          <p:cNvSpPr/>
          <p:nvPr/>
        </p:nvSpPr>
        <p:spPr>
          <a:xfrm>
            <a:off x="3419475" y="3819525"/>
            <a:ext cx="771525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3590925" y="39147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查得到</a:t>
            </a:r>
            <a:endParaRPr/>
          </a:p>
        </p:txBody>
      </p:sp>
      <p:sp>
        <p:nvSpPr>
          <p:cNvPr id="172" name="矩形: 圆角 171"/>
          <p:cNvSpPr/>
          <p:nvPr/>
        </p:nvSpPr>
        <p:spPr>
          <a:xfrm>
            <a:off x="4305300" y="3819525"/>
            <a:ext cx="914400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476750" y="39147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四层验证</a:t>
            </a:r>
            <a:endParaRPr/>
          </a:p>
        </p:txBody>
      </p:sp>
      <p:sp>
        <p:nvSpPr>
          <p:cNvPr id="174" name="矩形: 圆角 173"/>
          <p:cNvSpPr/>
          <p:nvPr/>
        </p:nvSpPr>
        <p:spPr>
          <a:xfrm>
            <a:off x="5334000" y="3819525"/>
            <a:ext cx="914400" cy="361950"/>
          </a:xfrm>
          <a:prstGeom prst="roundRect">
            <a:avLst>
              <a:gd name="adj" fmla="val 1578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505450" y="39147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/>
                <a:ea typeface="微软雅黑"/>
              </a:rPr>
              <a:t>家庭隔离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62000" y="5048250"/>
            <a:ext cx="5715000" cy="895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5000"/>
              </a:lnSpc>
            </a:pPr>
            <a:r>
              <a:rPr lang="zh-CN" sz="15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这个项目最大的收获不是这些功能，</a:t>
            </a:r>
            <a:endParaRPr/>
          </a:p>
          <a:p>
            <a:pPr>
              <a:lnSpc>
                <a:spcPct val="185000"/>
              </a:lnSpc>
            </a:pPr>
            <a:r>
              <a:rPr lang="zh-CN" sz="15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是学会了</a:t>
            </a:r>
            <a:r>
              <a:rPr lang="zh-CN" sz="1575" b="1">
                <a:solidFill>
                  <a:srgbClr val="38BDF8"/>
                </a:solidFill>
                <a:latin typeface="微软雅黑"/>
                <a:ea typeface="微软雅黑"/>
              </a:rPr>
              <a:t>怎么证明它们真的能用</a:t>
            </a:r>
            <a:r>
              <a:rPr lang="zh-CN" sz="1575">
                <a:solidFill>
                  <a:srgbClr val="F8FAFC">
                    <a:alpha val="72000"/>
                  </a:srgbClr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762000" y="6153150"/>
            <a:ext cx="6096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[ </a:t>
            </a:r>
            <a:r>
              <a:rPr lang="zh-CN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你的名字</a:t>
            </a:r>
            <a:r>
              <a:rPr lang="en-US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 ] · 2026 </a:t>
            </a:r>
            <a:r>
              <a:rPr lang="zh-CN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年</a:t>
            </a:r>
            <a:r>
              <a:rPr lang="en-US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 10 </a:t>
            </a:r>
            <a:r>
              <a:rPr lang="zh-CN" sz="1125" spc="75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sp>
        <p:nvSpPr>
          <p:cNvPr id="178" name="矩形: 圆角 177"/>
          <p:cNvSpPr/>
          <p:nvPr/>
        </p:nvSpPr>
        <p:spPr>
          <a:xfrm>
            <a:off x="7391400" y="609600"/>
            <a:ext cx="4038600" cy="3143250"/>
          </a:xfrm>
          <a:prstGeom prst="roundRect">
            <a:avLst>
              <a:gd name="adj" fmla="val 3636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7677150" y="876300"/>
            <a:ext cx="3467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8FAFC">
                    <a:alpha val="45000"/>
                  </a:srgbClr>
                </a:solidFill>
                <a:latin typeface="微软雅黑"/>
                <a:ea typeface="微软雅黑"/>
              </a:rPr>
              <a:t>项目规模</a:t>
            </a:r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677150" y="1114425"/>
            <a:ext cx="3467100" cy="781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38BDF8"/>
                </a:solidFill>
                <a:latin typeface="Consolas"/>
                <a:ea typeface="Consolas"/>
              </a:rPr>
              <a:t>16,531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7677150" y="2028825"/>
            <a:ext cx="3467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行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Python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代码</a:t>
            </a:r>
            <a:r>
              <a:rPr lang="en-US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 · 84 </a:t>
            </a:r>
            <a:r>
              <a:rPr lang="zh-CN" sz="1200">
                <a:solidFill>
                  <a:srgbClr val="F8FAFC">
                    <a:alpha val="62000"/>
                  </a:srgbClr>
                </a:solidFill>
                <a:latin typeface="微软雅黑"/>
                <a:ea typeface="微软雅黑"/>
              </a:rPr>
              <a:t>个文件</a:t>
            </a:r>
            <a:endParaRPr/>
          </a:p>
        </p:txBody>
      </p:sp>
      <p:sp>
        <p:nvSpPr>
          <p:cNvPr id="182" name="矩形 181"/>
          <p:cNvSpPr/>
          <p:nvPr/>
        </p:nvSpPr>
        <p:spPr>
          <a:xfrm>
            <a:off x="7677150" y="2390775"/>
            <a:ext cx="3467100" cy="9525"/>
          </a:xfrm>
          <a:prstGeom prst="rect">
            <a:avLst/>
          </a:prstGeom>
          <a:solidFill>
            <a:srgbClr val="F8FAFC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7677150" y="2552700"/>
            <a:ext cx="3467100" cy="933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76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次模块化提交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296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条单测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· 54 </a:t>
            </a: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条评测全绿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一键自检</a:t>
            </a:r>
            <a:r>
              <a:rPr lang="en-US" sz="1125">
                <a:solidFill>
                  <a:srgbClr val="F8FAFC">
                    <a:alpha val="55000"/>
                  </a:srgbClr>
                </a:solidFill>
                <a:latin typeface="微软雅黑"/>
                <a:ea typeface="微软雅黑"/>
              </a:rPr>
              <a:t> 10 / 10</a:t>
            </a:r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7391400" y="5191125"/>
            <a:ext cx="4038600" cy="1133475"/>
          </a:xfrm>
          <a:prstGeom prst="roundRect">
            <a:avLst>
              <a:gd name="adj" fmla="val 10084"/>
            </a:avLst>
          </a:prstGeom>
          <a:solidFill>
            <a:srgbClr val="16223A"/>
          </a:solidFill>
          <a:ln w="12700">
            <a:solidFill>
              <a:srgbClr val="F8FAFC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677150" y="5419725"/>
            <a:ext cx="3467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8FAFC">
                    <a:alpha val="42000"/>
                  </a:srgbClr>
                </a:solidFill>
                <a:latin typeface="微软雅黑"/>
                <a:ea typeface="微软雅黑"/>
              </a:rPr>
              <a:t>代码可查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7677150" y="5657850"/>
            <a:ext cx="3467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/>
                </a:solidFill>
                <a:latin typeface="Consolas"/>
                <a:ea typeface="Consolas"/>
              </a:rPr>
              <a:t>github.com/RicaedoWang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677150" y="5905500"/>
            <a:ext cx="3467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F8FAFC">
                    <a:alpha val="62000"/>
                  </a:srgbClr>
                </a:solidFill>
                <a:latin typeface="Consolas"/>
                <a:ea typeface="Consolas"/>
              </a:rPr>
              <a:t>/HomeMind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3191</Words>
  <Application>Microsoft Office PowerPoint</Application>
  <PresentationFormat>宽屏</PresentationFormat>
  <Paragraphs>310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xianlong Wang</cp:lastModifiedBy>
  <cp:revision>1</cp:revision>
  <dcterms:created xsi:type="dcterms:W3CDTF">2026-10-21T18:14:53Z</dcterms:created>
  <dcterms:modified xsi:type="dcterms:W3CDTF">2026-10-21T10:20:28Z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{"AIGC":{"Label":"1","ContentProducer":"00119111010856365494821B355","ProduceID":"01a15de00e25792b8766f5d079874544","ReservedCode1":"","ContentPropagator":"00119111010856365494821B355","PropagateID":"01a15de00e25792b8766f5d079874544","ReservedCode2":""}}</vt:lpwstr>
  </property>
</Properties>
</file>