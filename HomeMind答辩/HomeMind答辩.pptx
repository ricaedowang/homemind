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slides/slide11.xml" ContentType="application/vnd.openxmlformats-officedocument.presentationml.slide+xml"/>
  <Override PartName="/ppt/slides/slide7.xml" ContentType="application/vnd.openxmlformats-officedocument.presentationml.slide+xml"/>
  <Override PartName="/ppt/viewProps.xml" ContentType="application/vnd.openxmlformats-officedocument.presentationml.viewProps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slides/slide1.xml" ContentType="application/vnd.openxmlformats-officedocument.presentationml.slide+xml"/>
  <Override PartName="/ppt/slides/slide12.xml" ContentType="application/vnd.openxmlformats-officedocument.presentationml.slide+xml"/>
  <Override PartName="/ppt/slides/slide10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"1.0" encoding="UTF-8" standalone="yes"?><Relationships xmlns="http://schemas.openxmlformats.org/package/2006/relationships"><Relationship Id="rId3" Type="http://schemas.openxmlformats.org/officeDocument/2006/relationships/custom-properties" Target="docProps/custom.xml" /><Relationship Id="rId0" Type="http://schemas.openxmlformats.org/officeDocument/2006/relationships/officeDocument" Target="ppt/presentation.xml" /><Relationship Id="rId1" Type="http://schemas.openxmlformats.org/package/2006/relationships/metadata/core-properties" Target="docProps/core.xml" /><Relationship Id="rId2" Type="http://schemas.openxmlformats.org/officeDocument/2006/relationships/extended-properties" Target="docProps/app.xml" 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 firstSlideNum="1">
  <p:sldMasterIdLst>
    <p:sldMasterId id="2147483648" r:id="rId0"/>
  </p:sldMasterIdLst>
  <p:notesMasterIdLst>
    <p:notesMasterId r:id="rId14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a="http://schemas.openxmlformats.org/drawing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8" Type="http://schemas.openxmlformats.org/officeDocument/2006/relationships/slide" Target="slides/slide8.xml" /><Relationship Id="rId16" Type="http://schemas.openxmlformats.org/officeDocument/2006/relationships/tableStyles" Target="tableStyles.xml" /><Relationship Id="rId11" Type="http://schemas.openxmlformats.org/officeDocument/2006/relationships/slide" Target="slides/slide11.xml" /><Relationship Id="rId17" Type="http://schemas.openxmlformats.org/officeDocument/2006/relationships/viewProps" Target="viewProps.xml" /><Relationship Id="rId0" Type="http://schemas.openxmlformats.org/officeDocument/2006/relationships/slideMaster" Target="slideMasters/slideMaster1.xml" /><Relationship Id="rId15" Type="http://schemas.openxmlformats.org/officeDocument/2006/relationships/presProps" Target="presProps.xml" /><Relationship Id="rId1" Type="http://schemas.openxmlformats.org/officeDocument/2006/relationships/slide" Target="slides/slide1.xml" /><Relationship Id="rId12" Type="http://schemas.openxmlformats.org/officeDocument/2006/relationships/slide" Target="slides/slide12.xml" /><Relationship Id="rId10" Type="http://schemas.openxmlformats.org/officeDocument/2006/relationships/slide" Target="slides/slide10.xml" /><Relationship Id="rId13" Type="http://schemas.openxmlformats.org/officeDocument/2006/relationships/slide" Target="slides/slide13.xml" /><Relationship Id="rId14" Type="http://schemas.openxmlformats.org/officeDocument/2006/relationships/notesMaster" Target="notesMasters/notesMaster1.xml" /><Relationship Id="rId2" Type="http://schemas.openxmlformats.org/officeDocument/2006/relationships/slide" Target="slides/slide2.xml" /><Relationship Id="rId3" Type="http://schemas.openxmlformats.org/officeDocument/2006/relationships/slide" Target="slides/slide3.xml" /><Relationship Id="rId4" Type="http://schemas.openxmlformats.org/officeDocument/2006/relationships/slide" Target="slides/slide4.xml" /><Relationship Id="rId5" Type="http://schemas.openxmlformats.org/officeDocument/2006/relationships/slide" Target="slides/slide5.xml" /><Relationship Id="rId6" Type="http://schemas.openxmlformats.org/officeDocument/2006/relationships/slide" Target="slides/slide6.xml" /><Relationship Id="rId7" Type="http://schemas.openxmlformats.org/officeDocument/2006/relationships/slide" Target="slides/slide7.xml" /><Relationship Id="rId9" Type="http://schemas.openxmlformats.org/officeDocument/2006/relationships/slide" Target="slides/slide9.xml" /></Relationships>
</file>

<file path=ppt/notesMasters/_rels/notesMaster1.xml.rels><?xml version="1.0" encoding="UTF-8" standalone="yes"?><Relationships xmlns="http://schemas.openxmlformats.org/package/2006/relationships"><Relationship Id="rId0" Type="http://schemas.openxmlformats.org/officeDocument/2006/relationships/theme" Target="../theme/theme2.xml" /></Relationships>
</file>

<file path=ppt/notesMasters/notesMaster1.xml><?xml version="1.0" encoding="utf-8"?>
<p:notesMaster xmlns:p="http://schemas.openxmlformats.org/presentationml/2006/main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slideLayout1.xml><?xml version="1.0" encoding="utf-8"?>
<p:sldLayout xmlns:p="http://schemas.openxmlformats.org/presentationml/2006/main" xmlns:a="http://schemas.openxmlformats.org/drawing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theme" Target="../theme/theme1.xml" 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.png" /></Relationships>
</file>

<file path=ppt/slides/_rels/slide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6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7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8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9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0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.png" 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 descr="&lt;Slide style={{ width: 1280, height: 720, position: 'relative', overflow: 'hidden', background: '#0B1120', fontFamily: '微软雅黑' }}&gt;&#10;    &lt;Image src=&quot;assets/home_atmosphere.png&quot; style={{ position: 'absolute', top: 0, left: 0, width: 1280, height: 720, objectFit: 'cover' }} /&gt;&#10;    &lt;Box style={{ position: 'absolute', top: 0, left: 0, width: 1280, height: 720, background: 'linear-gradient(90deg, rgba(11,17,32,0.95) 0%, rgba(11,17,32,0.86) 40%, rgba(11,17,32,0.30) 100%)' }} /&gt;&#10;&#10;    &lt;Box style={{ position: 'relative', zIndex: 1, paddingLeft: 96, paddingTop: 156, width: 780 }}&gt;&#10;        &lt;Box style={{ flexDirection: 'row', alignItems: 'center', gap: 14, marginBottom: 30 }}&gt;&#10;            &lt;Box style={{ width: 48, height: 3, background: '#38BDF8' }} /&gt;&#10;            &lt;Text style={{ fontSize: 14, color: '#38BDF8', letterSpacing: 4, fontWeight: 700 }}&gt;智能家居 AGENT 中枢&lt;/Text&gt;&#10;        &lt;/Box&gt;&#10;&#10;        &lt;Text style={{ fontSize: 68, fontWeight: 700, color: '#F8FAFC', lineHeight: 1.1, letterSpacing: 1 }}&gt;HomeMind&lt;/Text&gt;&#10;        &lt;Text style={{ fontSize: 31, fontWeight: 700, color: '#F8FAFC', lineHeight: 1.35, marginTop: 10, letterSpacing: 1 }}&gt;智能家居多智能体中枢&lt;/Text&gt;&#10;&#10;        &lt;Box style={{ width: 460, height: 1, background: 'rgba(248,250,252,0.16)', marginTop: 34 }} /&gt;&#10;&#10;        &lt;Text style={{ fontSize: 20, color: 'rgba(248,250,252,0.72)', lineHeight: 1.8, marginTop: 26, width: 520 }}&gt;&#10;            听得懂人话 · 记得住习惯 · 管得住风险&#10;        &lt;/Text&gt;&#10;&#10;        &lt;Box style={{ flexDirection: 'row', gap: 56, marginTop: 68 }}&gt;&#10;            &lt;Box&gt;&#10;                &lt;Text style={{ fontSize: 12, color: 'rgba(248,250,252,0.42)', letterSpacing: 2 }}&gt;答辩人&lt;/Text&gt;&#10;                &lt;Text style={{ fontSize: 19, color: '#F8FAFC', marginTop: 8 }}&gt;[ 你的名字 ]&lt;/Text&gt;&#10;            &lt;/Box&gt;&#10;            &lt;Box&gt;&#10;                &lt;Text style={{ fontSize: 12, color: 'rgba(248,250,252,0.42)', letterSpacing: 2 }}&gt;项目规模&lt;/Text&gt;&#10;                &lt;Text style={{ fontSize: 19, color: '#F8FAFC', marginTop: 8, fontFamily: 'Consolas' }}&gt;15,093 行 / 71 提交&lt;/Text&gt;&#10;            &lt;/Box&gt;&#10;            &lt;Box&gt;&#10;                &lt;Text style={{ fontSize: 12, color: 'rgba(248,250,252,0.42)', letterSpacing: 2 }}&gt;日期&lt;/Text&gt;&#10;                &lt;Text style={{ fontSize: 19, color: '#F8FAFC', marginTop: 8 }}&gt;2026.10&lt;/Text&gt;&#10;            &lt;/Box&gt;&#10;        &lt;/Box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120"/>
          </a:solidFill>
          <a:ln/>
        </p:spPr>
        <p:txBody>
          <a:bodyPr/>
          <a:p/>
        </p:txBody>
      </p:sp>
      <p:pic>
        <p:nvPicPr>
          <p:cNvPr id="3" name="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  <p:sp>
        <p:nvSpPr>
          <p:cNvPr id="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B1120">
                  <a:alpha val="95000"/>
                </a:srgbClr>
              </a:gs>
              <a:gs pos="40000">
                <a:srgbClr val="0B1120">
                  <a:alpha val="86000"/>
                </a:srgbClr>
              </a:gs>
              <a:gs pos="100000">
                <a:srgbClr val="0B1120">
                  <a:alpha val="30000"/>
                </a:srgbClr>
              </a:gs>
            </a:gsLst>
            <a:lin ang="0" scaled="1"/>
          </a:gradFill>
          <a:ln/>
        </p:spPr>
        <p:txBody>
          <a:bodyPr/>
          <a:p/>
        </p:txBody>
      </p:sp>
      <p:sp>
        <p:nvSpPr>
          <p:cNvPr id="5" name=""/>
          <p:cNvSpPr/>
          <p:nvPr/>
        </p:nvSpPr>
        <p:spPr>
          <a:xfrm rot="0" flipH="0" flipV="0">
            <a:off x="914400" y="1552575"/>
            <a:ext cx="457200" cy="28575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p/>
        </p:txBody>
      </p:sp>
      <p:sp>
        <p:nvSpPr>
          <p:cNvPr id="6" name="" descr="{&quot;isTemplate&quot;:true,&quot;type&quot;:&quot;text&quot;}"/>
          <p:cNvSpPr txBox="1"/>
          <p:nvPr/>
        </p:nvSpPr>
        <p:spPr>
          <a:xfrm rot="0" flipH="0" flipV="0">
            <a:off x="1504950" y="1485900"/>
            <a:ext cx="18383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 spc="300">
                <a:solidFill>
                  <a:srgbClr val="38BDF8"/>
                </a:solidFill>
                <a:latin typeface="微软雅黑"/>
                <a:ea typeface="微软雅黑"/>
              </a:rPr>
              <a:t>智能家居</a:t>
            </a:r>
            <a:r>
              <a:rPr lang="en-US" sz="1050" b="1" spc="300">
                <a:solidFill>
                  <a:srgbClr val="38BDF8"/>
                </a:solidFill>
                <a:latin typeface="微软雅黑"/>
                <a:ea typeface="微软雅黑"/>
              </a:rPr>
              <a:t xml:space="preserve"> AGENT </a:t>
            </a:r>
            <a:r>
              <a:rPr lang="zh-CN" sz="1050" b="1" spc="300">
                <a:solidFill>
                  <a:srgbClr val="38BDF8"/>
                </a:solidFill>
                <a:latin typeface="微软雅黑"/>
                <a:ea typeface="微软雅黑"/>
              </a:rPr>
              <a:t>中枢</a:t>
            </a:r>
            <a:endParaRPr/>
          </a:p>
        </p:txBody>
      </p:sp>
      <p:sp>
        <p:nvSpPr>
          <p:cNvPr id="7" name="" descr="{&quot;isTemplate&quot;:true,&quot;type&quot;:&quot;text&quot;}"/>
          <p:cNvSpPr txBox="1"/>
          <p:nvPr/>
        </p:nvSpPr>
        <p:spPr>
          <a:xfrm rot="0" flipH="0" flipV="0">
            <a:off x="914400" y="1933575"/>
            <a:ext cx="6515100" cy="857250"/>
          </a:xfrm>
          <a:prstGeom prst="rect"/>
        </p:spPr>
        <p:txBody>
          <a:bodyPr wrap="none" lIns="0" tIns="0" rIns="0" bIns="0"/>
          <a:p>
            <a:pPr>
              <a:lnSpc>
                <a:spcPct val="110000"/>
              </a:lnSpc>
            </a:pPr>
            <a:r>
              <a:rPr lang="en-US" sz="5100" b="1" spc="75">
                <a:solidFill>
                  <a:srgbClr val="F8FAFC"/>
                </a:solidFill>
                <a:latin typeface="微软雅黑"/>
                <a:ea typeface="微软雅黑"/>
              </a:rPr>
              <a:t>HomeMind</a:t>
            </a:r>
            <a:endParaRPr/>
          </a:p>
        </p:txBody>
      </p:sp>
      <p:sp>
        <p:nvSpPr>
          <p:cNvPr id="8" name="" descr="{&quot;isTemplate&quot;:true,&quot;type&quot;:&quot;text&quot;}"/>
          <p:cNvSpPr txBox="1"/>
          <p:nvPr/>
        </p:nvSpPr>
        <p:spPr>
          <a:xfrm rot="0" flipH="0" flipV="0">
            <a:off x="914400" y="2886075"/>
            <a:ext cx="6515100" cy="485775"/>
          </a:xfrm>
          <a:prstGeom prst="rect"/>
        </p:spPr>
        <p:txBody>
          <a:bodyPr wrap="none" lIns="0" tIns="0" rIns="0" bIns="0"/>
          <a:p>
            <a:pPr>
              <a:lnSpc>
                <a:spcPct val="135000"/>
              </a:lnSpc>
            </a:pPr>
            <a:r>
              <a:rPr lang="zh-CN" sz="2325" b="1" spc="75">
                <a:solidFill>
                  <a:srgbClr val="F8FAFC"/>
                </a:solidFill>
                <a:latin typeface="微软雅黑"/>
                <a:ea typeface="微软雅黑"/>
              </a:rPr>
              <a:t>智能家居多智能体中枢</a:t>
            </a:r>
            <a:endParaRPr/>
          </a:p>
        </p:txBody>
      </p:sp>
      <p:sp>
        <p:nvSpPr>
          <p:cNvPr id="9" name=""/>
          <p:cNvSpPr/>
          <p:nvPr/>
        </p:nvSpPr>
        <p:spPr>
          <a:xfrm rot="0" flipH="0" flipV="0">
            <a:off x="914400" y="3695700"/>
            <a:ext cx="4381500" cy="9525"/>
          </a:xfrm>
          <a:prstGeom prst="rect">
            <a:avLst/>
          </a:prstGeom>
          <a:solidFill>
            <a:srgbClr val="F8FAFC">
              <a:alpha val="16000"/>
            </a:srgbClr>
          </a:solidFill>
          <a:ln/>
        </p:spPr>
        <p:txBody>
          <a:bodyPr/>
          <a:p/>
        </p:txBody>
      </p:sp>
      <p:sp>
        <p:nvSpPr>
          <p:cNvPr id="10" name="" descr="{&quot;isTemplate&quot;:true,&quot;type&quot;:&quot;text&quot;}"/>
          <p:cNvSpPr txBox="1"/>
          <p:nvPr/>
        </p:nvSpPr>
        <p:spPr>
          <a:xfrm rot="0" flipH="0" flipV="0">
            <a:off x="914400" y="3952875"/>
            <a:ext cx="4953000" cy="419100"/>
          </a:xfrm>
          <a:prstGeom prst="rect"/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zh-CN" sz="1500">
                <a:solidFill>
                  <a:srgbClr val="F8FAFC">
                    <a:alpha val="72000"/>
                  </a:srgbClr>
                </a:solidFill>
                <a:latin typeface="微软雅黑"/>
                <a:ea typeface="微软雅黑"/>
              </a:rPr>
              <a:t>听得懂人话</a:t>
            </a:r>
            <a:r>
              <a:rPr lang="en-US" sz="1500">
                <a:solidFill>
                  <a:srgbClr val="F8FAFC">
                    <a:alpha val="72000"/>
                  </a:srgbClr>
                </a:solidFill>
                <a:latin typeface="微软雅黑"/>
                <a:ea typeface="微软雅黑"/>
              </a:rPr>
              <a:t xml:space="preserve"> · </a:t>
            </a:r>
            <a:r>
              <a:rPr lang="zh-CN" sz="1500">
                <a:solidFill>
                  <a:srgbClr val="F8FAFC">
                    <a:alpha val="72000"/>
                  </a:srgbClr>
                </a:solidFill>
                <a:latin typeface="微软雅黑"/>
                <a:ea typeface="微软雅黑"/>
              </a:rPr>
              <a:t>记得住习惯</a:t>
            </a:r>
            <a:r>
              <a:rPr lang="en-US" sz="1500">
                <a:solidFill>
                  <a:srgbClr val="F8FAFC">
                    <a:alpha val="72000"/>
                  </a:srgbClr>
                </a:solidFill>
                <a:latin typeface="微软雅黑"/>
                <a:ea typeface="微软雅黑"/>
              </a:rPr>
              <a:t xml:space="preserve"> · </a:t>
            </a:r>
            <a:r>
              <a:rPr lang="zh-CN" sz="1500">
                <a:solidFill>
                  <a:srgbClr val="F8FAFC">
                    <a:alpha val="72000"/>
                  </a:srgbClr>
                </a:solidFill>
                <a:latin typeface="微软雅黑"/>
                <a:ea typeface="微软雅黑"/>
              </a:rPr>
              <a:t>管得住风险</a:t>
            </a:r>
            <a:endParaRPr/>
          </a:p>
        </p:txBody>
      </p:sp>
      <p:sp>
        <p:nvSpPr>
          <p:cNvPr id="11" name="" descr="{&quot;isTemplate&quot;:true,&quot;type&quot;:&quot;text&quot;}"/>
          <p:cNvSpPr txBox="1"/>
          <p:nvPr/>
        </p:nvSpPr>
        <p:spPr>
          <a:xfrm rot="0" flipH="0" flipV="0">
            <a:off x="914400" y="5019675"/>
            <a:ext cx="9810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 spc="150">
                <a:solidFill>
                  <a:srgbClr val="F8FAFC">
                    <a:alpha val="42000"/>
                  </a:srgbClr>
                </a:solidFill>
                <a:latin typeface="微软雅黑"/>
                <a:ea typeface="微软雅黑"/>
              </a:rPr>
              <a:t>答辩人</a:t>
            </a:r>
            <a:endParaRPr/>
          </a:p>
        </p:txBody>
      </p:sp>
      <p:sp>
        <p:nvSpPr>
          <p:cNvPr id="12" name="" descr="{&quot;isTemplate&quot;:true,&quot;type&quot;:&quot;text&quot;}"/>
          <p:cNvSpPr txBox="1"/>
          <p:nvPr/>
        </p:nvSpPr>
        <p:spPr>
          <a:xfrm rot="0" flipH="0" flipV="0">
            <a:off x="914400" y="5238750"/>
            <a:ext cx="9810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>
                <a:solidFill>
                  <a:srgbClr val="F8FAFC"/>
                </a:solidFill>
                <a:latin typeface="微软雅黑"/>
                <a:ea typeface="微软雅黑"/>
              </a:rPr>
              <a:t xml:space="preserve">[ </a:t>
            </a:r>
            <a:r>
              <a:rPr lang="zh-CN" sz="1425">
                <a:solidFill>
                  <a:srgbClr val="F8FAFC"/>
                </a:solidFill>
                <a:latin typeface="微软雅黑"/>
                <a:ea typeface="微软雅黑"/>
              </a:rPr>
              <a:t>你的名字</a:t>
            </a:r>
            <a:r>
              <a:rPr lang="en-US" sz="1425">
                <a:solidFill>
                  <a:srgbClr val="F8FAFC"/>
                </a:solidFill>
                <a:latin typeface="微软雅黑"/>
                <a:ea typeface="微软雅黑"/>
              </a:rPr>
              <a:t xml:space="preserve"> ]</a:t>
            </a:r>
            <a:endParaRPr/>
          </a:p>
        </p:txBody>
      </p:sp>
      <p:sp>
        <p:nvSpPr>
          <p:cNvPr id="13" name="" descr="{&quot;isTemplate&quot;:true,&quot;type&quot;:&quot;text&quot;}"/>
          <p:cNvSpPr txBox="1"/>
          <p:nvPr/>
        </p:nvSpPr>
        <p:spPr>
          <a:xfrm rot="0" flipH="0" flipV="0">
            <a:off x="2428875" y="5019675"/>
            <a:ext cx="19526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 spc="150">
                <a:solidFill>
                  <a:srgbClr val="F8FAFC">
                    <a:alpha val="42000"/>
                  </a:srgbClr>
                </a:solidFill>
                <a:latin typeface="微软雅黑"/>
                <a:ea typeface="微软雅黑"/>
              </a:rPr>
              <a:t>项目规模</a:t>
            </a:r>
            <a:endParaRPr/>
          </a:p>
        </p:txBody>
      </p:sp>
      <p:sp>
        <p:nvSpPr>
          <p:cNvPr id="14" name="" descr="{&quot;isTemplate&quot;:true,&quot;type&quot;:&quot;text&quot;}"/>
          <p:cNvSpPr txBox="1"/>
          <p:nvPr/>
        </p:nvSpPr>
        <p:spPr>
          <a:xfrm rot="0" flipH="0" flipV="0">
            <a:off x="2428875" y="5238750"/>
            <a:ext cx="19526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>
                <a:solidFill>
                  <a:srgbClr val="F8FAFC"/>
                </a:solidFill>
                <a:latin typeface="Consolas"/>
                <a:ea typeface="Consolas"/>
              </a:rPr>
              <a:t xml:space="preserve">15,093 </a:t>
            </a:r>
            <a:r>
              <a:rPr lang="zh-CN" sz="1425">
                <a:solidFill>
                  <a:srgbClr val="F8FAFC"/>
                </a:solidFill>
                <a:latin typeface="Consolas"/>
                <a:ea typeface="Consolas"/>
              </a:rPr>
              <a:t>行</a:t>
            </a:r>
            <a:r>
              <a:rPr lang="en-US" sz="1425">
                <a:solidFill>
                  <a:srgbClr val="F8FAFC"/>
                </a:solidFill>
                <a:latin typeface="Consolas"/>
                <a:ea typeface="Consolas"/>
              </a:rPr>
              <a:t xml:space="preserve"> / 71 </a:t>
            </a:r>
            <a:r>
              <a:rPr lang="zh-CN" sz="1425">
                <a:solidFill>
                  <a:srgbClr val="F8FAFC"/>
                </a:solidFill>
                <a:latin typeface="Consolas"/>
                <a:ea typeface="Consolas"/>
              </a:rPr>
              <a:t>提交</a:t>
            </a:r>
            <a:endParaRPr/>
          </a:p>
        </p:txBody>
      </p:sp>
      <p:sp>
        <p:nvSpPr>
          <p:cNvPr id="15" name="" descr="{&quot;isTemplate&quot;:true,&quot;type&quot;:&quot;text&quot;}"/>
          <p:cNvSpPr txBox="1"/>
          <p:nvPr/>
        </p:nvSpPr>
        <p:spPr>
          <a:xfrm rot="0" flipH="0" flipV="0">
            <a:off x="4914900" y="5019675"/>
            <a:ext cx="6477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 spc="150">
                <a:solidFill>
                  <a:srgbClr val="F8FAFC">
                    <a:alpha val="42000"/>
                  </a:srgbClr>
                </a:solidFill>
                <a:latin typeface="微软雅黑"/>
                <a:ea typeface="微软雅黑"/>
              </a:rPr>
              <a:t>日期</a:t>
            </a:r>
            <a:endParaRPr/>
          </a:p>
        </p:txBody>
      </p:sp>
      <p:sp>
        <p:nvSpPr>
          <p:cNvPr id="16" name="" descr="{&quot;isTemplate&quot;:true,&quot;type&quot;:&quot;text&quot;}"/>
          <p:cNvSpPr txBox="1"/>
          <p:nvPr/>
        </p:nvSpPr>
        <p:spPr>
          <a:xfrm rot="0" flipH="0" flipV="0">
            <a:off x="4914900" y="5238750"/>
            <a:ext cx="6477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>
                <a:solidFill>
                  <a:srgbClr val="F8FAFC"/>
                </a:solidFill>
                <a:latin typeface="微软雅黑"/>
                <a:ea typeface="微软雅黑"/>
              </a:rPr>
              <a:t>2026.10</a:t>
            </a:r>
            <a:endParaRPr/>
          </a:p>
        </p:txBody>
      </p:sp>
    </p:spTree>
  </p:cSld>
</p:sld>
</file>

<file path=ppt/slides/slide2.xml><?xml version="1.0" encoding="utf-8"?>
<p:sld xmlns:p="http://schemas.openxmlformats.org/presentationml/2006/main" xmlns:a="http://schemas.openxmlformats.org/drawingml/2006/main">
  <p:cSld>
    <p:spTree>
      <p:nvGrpSpPr>
        <p:cNvPr id="119" name="" descr="&lt;Slide style={{ width: 1280, height: 720, position: 'relative', overflow: 'hidden', background: '#0B1120', fontFamily: '微软雅黑' }}&gt;&#10;    &lt;Box style={{ height: 110, paddingLeft: 64, paddingRight: 64, paddingTop: 34, flexDirection: 'row', alignItems: 'center', gap: 18 }}&gt;&#10;        &lt;Box style={{ width: 4, height: 34, background: '#38BDF8' }} /&gt;&#10;        &lt;Text style={{ fontSize: 36, fontWeight: 700, color: '#F8FAFC', letterSpacing: 0.5 }}&gt;我家那套&quot;智能&quot;家居，其实只会听指令&lt;/Text&gt;&#10;    &lt;/Box&gt;&#10;&#10;    &lt;Box style={{ height: 546, paddingLeft: 64, paddingRight: 64, flexDirection: 'row', gap: 52 }}&gt;&#10;        &lt;Box style={{ width: 660, flexDirection: 'column', gap: 12 }}&gt;&#10;            &lt;Box style={{ flexDirection: 'row', gap: 22, background: '#16223A', border: '1px solid rgba(248,250,252,0.10)', borderRadius: 10, padding: '21px 24px' }}&gt;&#10;                &lt;Text style={{ fontSize: 34, fontWeight: 700, color: '#38BDF8', fontFamily: 'Consolas', lineHeight: 1.1, width: 52 }}&gt;01&lt;/Text&gt;&#10;                &lt;Box style={{ width: 522 }}&gt;&#10;                    &lt;Text style={{ fontSize: 23, fontWeight: 700, color: '#F8FAFC' }}&gt;它不记习惯&lt;/Text&gt;&#10;                    &lt;Text style={{ fontSize: 19, color: 'rgba(248,250,252,0.62)', lineHeight: 1.65, marginTop: 10 }}&gt;&#10;                        每天早上都要重新说一遍&quot;空调调到 26 度&quot;。&lt;br /&gt;&#10;                        所谓的智能，退化成一台需要你背诵指令的遥控器。&#10;                    &lt;/Text&gt;&#10;                &lt;/Box&gt;&#10;            &lt;/Box&gt;&#10;&#10;            &lt;Box style={{ flexDirection: 'row', gap: 22, background: '#16223A', border: '1px solid rgba(248,250,252,0.10)', borderRadius: 10, padding: '21px 24px' }}&gt;&#10;                &lt;Text style={{ fontSize: 34, fontWeight: 700, color: '#38BDF8', fontFamily: 'Consolas', lineHeight: 1.1, width: 52 }}&gt;02&lt;/Text&gt;&#10;                &lt;Box style={{ width: 522 }}&gt;&#10;                    &lt;Text style={{ fontSize: 23, fontWeight: 700, color: '#F8FAFC' }}&gt;它分不清&quot;现在做&quot;和&quot;到时候再做&quot;&lt;/Text&gt;&#10;                    &lt;Text style={{ fontSize: 19, color: 'rgba(248,250,252,0.62)', lineHeight: 1.65, marginTop: 10 }}&gt;&#10;                        你说&quot;提醒我九点关灯&quot;，它当场就把灯关了。&lt;br /&gt;&#10;                        设备自己动了，比什么都不做更难向家里人解释。&#10;                    &lt;/Text&gt;&#10;                &lt;/Box&gt;&#10;            &lt;/Box&gt;&#10;&#10;            &lt;Box style={{ flexDirection: 'row', gap: 22, background: '#16223A', border: '1px solid rgba(248,250,252,0.10)', borderRadius: 10, padding: '21px 24px' }}&gt;&#10;                &lt;Text style={{ fontSize: 34, fontWeight: 700, color: '#38BDF8', fontFamily: 'Consolas', lineHeight: 1.1, width: 52 }}&gt;03&lt;/Text&gt;&#10;                &lt;Box style={{ width: 522 }}&gt;&#10;                    &lt;Text style={{ fontSize: 23, fontWeight: 700, color: '#F8FAFC' }}&gt;它没有边界&lt;/Text&gt;&#10;                    &lt;Text style={{ fontSize: 19, color: 'rgba(248,250,252,0.62)', lineHeight: 1.65, marginTop: 10 }}&gt;&#10;                        一个账号能操作所有人家的设备，也就谈不上&quot;一家人一个家&quot;。&lt;br /&gt;&#10;                        多用户这件事，得在架构里先留位置。&#10;                    &lt;/Text&gt;&#10;                &lt;/Box&gt;&#10;            &lt;/Box&gt;&#10;        &lt;/Box&gt;&#10;&#10;        &lt;Box style={{ width: 440, justifyContent: 'center' }}&gt;&#10;            &lt;Box style={{ background: 'rgba(56,189,248,0.08)', border: '1px solid rgba(56,189,248,0.30)', borderRadius: 10, padding: '32px 30px' }}&gt;&#10;                &lt;Text style={{ fontSize: 13, color: '#38BDF8', letterSpacing: 3, fontWeight: 700 }}&gt;所以问题的根源是&lt;/Text&gt;&#10;                &lt;Text style={{ fontSize: 26, fontWeight: 700, color: '#F8FAFC', lineHeight: 1.5, marginTop: 18 }}&gt;&#10;                    不是模型不够聪明，&lt;br /&gt;是缺了执行前后的两层约束。&#10;                &lt;/Text&gt;&#10;                &lt;Box style={{ width: 60, height: 1, background: 'rgba(248,250,252,0.20)', marginTop: 24 }} /&gt;&#10;                &lt;Text style={{ fontSize: 18, color: 'rgba(248,250,252,0.62)', lineHeight: 1.75, marginTop: 20 }}&gt;&#10;                    执行前：听懂并记住；&lt;br /&gt;执行后：兜住错误。&lt;br /&gt;&#10;                    这三条痛点，就是我要做的三件事。&#10;                &lt;/Text&gt;&#10;            &lt;/Box&gt;&#10;        &lt;/Box&gt;&#10;    &lt;/Box&gt;&#10;&#10;    &lt;Box style={{ height: 64, paddingLeft: 64, paddingRight: 64, flexDirection: 'row', justifyContent: 'space-between', alignItems: 'center' }}&gt;&#10;        &lt;Text style={{ fontSize: 13, color: 'rgba(248,250,252,0.40)' }}&gt;HomeMind · 智能家居多智能体中枢&lt;/Text&gt;&#10;        &lt;Text style={{ fontSize: 13, color: 'rgba(248,250,252,0.40)', fontFamily: 'Consolas' }}&gt;02 / 13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120"/>
          </a:solidFill>
          <a:ln/>
        </p:spPr>
        <p:txBody>
          <a:bodyPr/>
          <a:p/>
        </p:txBody>
      </p:sp>
      <p:sp>
        <p:nvSpPr>
          <p:cNvPr id="121" name=""/>
          <p:cNvSpPr/>
          <p:nvPr/>
        </p:nvSpPr>
        <p:spPr>
          <a:xfrm rot="0" flipH="0" flipV="0">
            <a:off x="609600" y="523875"/>
            <a:ext cx="38100" cy="323850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p/>
        </p:txBody>
      </p:sp>
      <p:sp>
        <p:nvSpPr>
          <p:cNvPr id="122" name="" descr="{&quot;isTemplate&quot;:true,&quot;type&quot;:&quot;text&quot;}"/>
          <p:cNvSpPr txBox="1"/>
          <p:nvPr/>
        </p:nvSpPr>
        <p:spPr>
          <a:xfrm rot="0" flipH="0" flipV="0">
            <a:off x="819150" y="476250"/>
            <a:ext cx="5915025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700" b="1" spc="38">
                <a:solidFill>
                  <a:srgbClr val="F8FAFC"/>
                </a:solidFill>
                <a:latin typeface="微软雅黑"/>
                <a:ea typeface="微软雅黑"/>
              </a:rPr>
              <a:t>我家那套</a:t>
            </a:r>
            <a:r>
              <a:rPr lang="en-US" sz="2700" b="1" spc="38">
                <a:solidFill>
                  <a:srgbClr val="F8FAFC"/>
                </a:solidFill>
                <a:latin typeface="微软雅黑"/>
                <a:ea typeface="微软雅黑"/>
              </a:rPr>
              <a:t>"</a:t>
            </a:r>
            <a:r>
              <a:rPr lang="zh-CN" sz="2700" b="1" spc="38">
                <a:solidFill>
                  <a:srgbClr val="F8FAFC"/>
                </a:solidFill>
                <a:latin typeface="微软雅黑"/>
                <a:ea typeface="微软雅黑"/>
              </a:rPr>
              <a:t>智能</a:t>
            </a:r>
            <a:r>
              <a:rPr lang="en-US" sz="2700" b="1" spc="38">
                <a:solidFill>
                  <a:srgbClr val="F8FAFC"/>
                </a:solidFill>
                <a:latin typeface="微软雅黑"/>
                <a:ea typeface="微软雅黑"/>
              </a:rPr>
              <a:t>"</a:t>
            </a:r>
            <a:r>
              <a:rPr lang="zh-CN" sz="2700" b="1" spc="38">
                <a:solidFill>
                  <a:srgbClr val="F8FAFC"/>
                </a:solidFill>
                <a:latin typeface="微软雅黑"/>
                <a:ea typeface="微软雅黑"/>
              </a:rPr>
              <a:t>家居，其实只会听指令</a:t>
            </a:r>
            <a:endParaRPr/>
          </a:p>
        </p:txBody>
      </p:sp>
      <p:sp>
        <p:nvSpPr>
          <p:cNvPr id="123" name=""/>
          <p:cNvSpPr/>
          <p:nvPr/>
        </p:nvSpPr>
        <p:spPr>
          <a:xfrm rot="0" flipH="0" flipV="0">
            <a:off x="609600" y="1047750"/>
            <a:ext cx="6286500" cy="1485900"/>
          </a:xfrm>
          <a:prstGeom prst="roundRect">
            <a:avLst>
              <a:gd name="adj" fmla="val 6410"/>
            </a:avLst>
          </a:prstGeom>
          <a:solidFill>
            <a:srgbClr val="16223A"/>
          </a:solidFill>
          <a:ln w="12700">
            <a:solidFill>
              <a:srgbClr val="F8FAFC">
                <a:alpha val="1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24" name="" descr="{&quot;isTemplate&quot;:true,&quot;type&quot;:&quot;text&quot;}"/>
          <p:cNvSpPr txBox="1"/>
          <p:nvPr/>
        </p:nvSpPr>
        <p:spPr>
          <a:xfrm rot="0" flipH="0" flipV="0">
            <a:off x="838200" y="1247775"/>
            <a:ext cx="495300" cy="1085850"/>
          </a:xfrm>
          <a:prstGeom prst="rect"/>
        </p:spPr>
        <p:txBody>
          <a:bodyPr wrap="none" lIns="0" tIns="0" rIns="0" bIns="0"/>
          <a:p>
            <a:pPr>
              <a:lnSpc>
                <a:spcPct val="110000"/>
              </a:lnSpc>
            </a:pPr>
            <a:r>
              <a:rPr lang="en-US" sz="2550" b="1">
                <a:solidFill>
                  <a:srgbClr val="38BDF8"/>
                </a:solidFill>
                <a:latin typeface="Consolas"/>
                <a:ea typeface="Consolas"/>
              </a:rPr>
              <a:t>01</a:t>
            </a:r>
            <a:endParaRPr/>
          </a:p>
        </p:txBody>
      </p:sp>
      <p:sp>
        <p:nvSpPr>
          <p:cNvPr id="125" name="" descr="{&quot;isTemplate&quot;:true,&quot;type&quot;:&quot;text&quot;}"/>
          <p:cNvSpPr txBox="1"/>
          <p:nvPr/>
        </p:nvSpPr>
        <p:spPr>
          <a:xfrm rot="0" flipH="0" flipV="0">
            <a:off x="1543050" y="1247775"/>
            <a:ext cx="4972050" cy="266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725" b="1">
                <a:solidFill>
                  <a:srgbClr val="F8FAFC"/>
                </a:solidFill>
                <a:latin typeface="微软雅黑"/>
                <a:ea typeface="微软雅黑"/>
              </a:rPr>
              <a:t>它不记习惯</a:t>
            </a:r>
            <a:endParaRPr/>
          </a:p>
        </p:txBody>
      </p:sp>
      <p:sp>
        <p:nvSpPr>
          <p:cNvPr id="126" name="" descr="{&quot;isTemplate&quot;:true,&quot;type&quot;:&quot;text&quot;}"/>
          <p:cNvSpPr txBox="1"/>
          <p:nvPr/>
        </p:nvSpPr>
        <p:spPr>
          <a:xfrm rot="0" flipH="0" flipV="0">
            <a:off x="1543050" y="1609725"/>
            <a:ext cx="4972050" cy="723900"/>
          </a:xfrm>
          <a:prstGeom prst="rect"/>
        </p:spPr>
        <p:txBody>
          <a:bodyPr wrap="none" lIns="0" tIns="0" rIns="0" bIns="0"/>
          <a:p>
            <a:pPr>
              <a:lnSpc>
                <a:spcPct val="165000"/>
              </a:lnSpc>
            </a:pPr>
            <a:r>
              <a:rPr lang="zh-CN" sz="1425">
                <a:solidFill>
                  <a:srgbClr val="F8FAFC">
                    <a:alpha val="62000"/>
                  </a:srgbClr>
                </a:solidFill>
                <a:latin typeface="微软雅黑"/>
                <a:ea typeface="微软雅黑"/>
              </a:rPr>
              <a:t>每天早上都要重新说一遍</a:t>
            </a:r>
            <a:r>
              <a:rPr lang="en-US" sz="1425">
                <a:solidFill>
                  <a:srgbClr val="F8FAFC">
                    <a:alpha val="62000"/>
                  </a:srgbClr>
                </a:solidFill>
                <a:latin typeface="微软雅黑"/>
                <a:ea typeface="微软雅黑"/>
              </a:rPr>
              <a:t>"</a:t>
            </a:r>
            <a:r>
              <a:rPr lang="zh-CN" sz="1425">
                <a:solidFill>
                  <a:srgbClr val="F8FAFC">
                    <a:alpha val="62000"/>
                  </a:srgbClr>
                </a:solidFill>
                <a:latin typeface="微软雅黑"/>
                <a:ea typeface="微软雅黑"/>
              </a:rPr>
              <a:t>空调调到</a:t>
            </a:r>
            <a:r>
              <a:rPr lang="en-US" sz="1425">
                <a:solidFill>
                  <a:srgbClr val="F8FAFC">
                    <a:alpha val="62000"/>
                  </a:srgbClr>
                </a:solidFill>
                <a:latin typeface="微软雅黑"/>
                <a:ea typeface="微软雅黑"/>
              </a:rPr>
              <a:t xml:space="preserve"> 26 </a:t>
            </a:r>
            <a:r>
              <a:rPr lang="zh-CN" sz="1425">
                <a:solidFill>
                  <a:srgbClr val="F8FAFC">
                    <a:alpha val="62000"/>
                  </a:srgbClr>
                </a:solidFill>
                <a:latin typeface="微软雅黑"/>
                <a:ea typeface="微软雅黑"/>
              </a:rPr>
              <a:t>度</a:t>
            </a:r>
            <a:r>
              <a:rPr lang="en-US" sz="1425">
                <a:solidFill>
                  <a:srgbClr val="F8FAFC">
                    <a:alpha val="62000"/>
                  </a:srgbClr>
                </a:solidFill>
                <a:latin typeface="微软雅黑"/>
                <a:ea typeface="微软雅黑"/>
              </a:rPr>
              <a:t>"</a:t>
            </a:r>
            <a:r>
              <a:rPr lang="zh-CN" sz="1425">
                <a:solidFill>
                  <a:srgbClr val="F8FAFC">
                    <a:alpha val="62000"/>
                  </a:srgbClr>
                </a:solidFill>
                <a:latin typeface="微软雅黑"/>
                <a:ea typeface="微软雅黑"/>
              </a:rPr>
              <a:t>。</a:t>
            </a:r>
            <a:endParaRPr/>
          </a:p>
          <a:p>
            <a:pPr>
              <a:lnSpc>
                <a:spcPct val="165000"/>
              </a:lnSpc>
            </a:pPr>
            <a:r>
              <a:rPr lang="zh-CN" sz="1425">
                <a:solidFill>
                  <a:srgbClr val="F8FAFC">
                    <a:alpha val="62000"/>
                  </a:srgbClr>
                </a:solidFill>
                <a:latin typeface="微软雅黑"/>
                <a:ea typeface="微软雅黑"/>
              </a:rPr>
              <a:t>所谓的智能，退化成一台需要你背诵指令的遥控器。</a:t>
            </a:r>
            <a:endParaRPr/>
          </a:p>
        </p:txBody>
      </p:sp>
      <p:sp>
        <p:nvSpPr>
          <p:cNvPr id="127" name=""/>
          <p:cNvSpPr/>
          <p:nvPr/>
        </p:nvSpPr>
        <p:spPr>
          <a:xfrm rot="0" flipH="0" flipV="0">
            <a:off x="609600" y="2647950"/>
            <a:ext cx="6286500" cy="1485900"/>
          </a:xfrm>
          <a:prstGeom prst="roundRect">
            <a:avLst>
              <a:gd name="adj" fmla="val 6410"/>
            </a:avLst>
          </a:prstGeom>
          <a:solidFill>
            <a:srgbClr val="16223A"/>
          </a:solidFill>
          <a:ln w="12700">
            <a:solidFill>
              <a:srgbClr val="F8FAFC">
                <a:alpha val="1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28" name="" descr="{&quot;isTemplate&quot;:true,&quot;type&quot;:&quot;text&quot;}"/>
          <p:cNvSpPr txBox="1"/>
          <p:nvPr/>
        </p:nvSpPr>
        <p:spPr>
          <a:xfrm rot="0" flipH="0" flipV="0">
            <a:off x="838200" y="2847975"/>
            <a:ext cx="495300" cy="1085850"/>
          </a:xfrm>
          <a:prstGeom prst="rect"/>
        </p:spPr>
        <p:txBody>
          <a:bodyPr wrap="none" lIns="0" tIns="0" rIns="0" bIns="0"/>
          <a:p>
            <a:pPr>
              <a:lnSpc>
                <a:spcPct val="110000"/>
              </a:lnSpc>
            </a:pPr>
            <a:r>
              <a:rPr lang="en-US" sz="2550" b="1">
                <a:solidFill>
                  <a:srgbClr val="38BDF8"/>
                </a:solidFill>
                <a:latin typeface="Consolas"/>
                <a:ea typeface="Consolas"/>
              </a:rPr>
              <a:t>02</a:t>
            </a:r>
            <a:endParaRPr/>
          </a:p>
        </p:txBody>
      </p:sp>
      <p:sp>
        <p:nvSpPr>
          <p:cNvPr id="129" name="" descr="{&quot;isTemplate&quot;:true,&quot;type&quot;:&quot;text&quot;}"/>
          <p:cNvSpPr txBox="1"/>
          <p:nvPr/>
        </p:nvSpPr>
        <p:spPr>
          <a:xfrm rot="0" flipH="0" flipV="0">
            <a:off x="1543050" y="2847975"/>
            <a:ext cx="4972050" cy="266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725" b="1">
                <a:solidFill>
                  <a:srgbClr val="F8FAFC"/>
                </a:solidFill>
                <a:latin typeface="微软雅黑"/>
                <a:ea typeface="微软雅黑"/>
              </a:rPr>
              <a:t>它分不清</a:t>
            </a:r>
            <a:r>
              <a:rPr lang="en-US" sz="1725" b="1">
                <a:solidFill>
                  <a:srgbClr val="F8FAFC"/>
                </a:solidFill>
                <a:latin typeface="微软雅黑"/>
                <a:ea typeface="微软雅黑"/>
              </a:rPr>
              <a:t>"</a:t>
            </a:r>
            <a:r>
              <a:rPr lang="zh-CN" sz="1725" b="1">
                <a:solidFill>
                  <a:srgbClr val="F8FAFC"/>
                </a:solidFill>
                <a:latin typeface="微软雅黑"/>
                <a:ea typeface="微软雅黑"/>
              </a:rPr>
              <a:t>现在做</a:t>
            </a:r>
            <a:r>
              <a:rPr lang="en-US" sz="1725" b="1">
                <a:solidFill>
                  <a:srgbClr val="F8FAFC"/>
                </a:solidFill>
                <a:latin typeface="微软雅黑"/>
                <a:ea typeface="微软雅黑"/>
              </a:rPr>
              <a:t>"</a:t>
            </a:r>
            <a:r>
              <a:rPr lang="zh-CN" sz="1725" b="1">
                <a:solidFill>
                  <a:srgbClr val="F8FAFC"/>
                </a:solidFill>
                <a:latin typeface="微软雅黑"/>
                <a:ea typeface="微软雅黑"/>
              </a:rPr>
              <a:t>和</a:t>
            </a:r>
            <a:r>
              <a:rPr lang="en-US" sz="1725" b="1">
                <a:solidFill>
                  <a:srgbClr val="F8FAFC"/>
                </a:solidFill>
                <a:latin typeface="微软雅黑"/>
                <a:ea typeface="微软雅黑"/>
              </a:rPr>
              <a:t>"</a:t>
            </a:r>
            <a:r>
              <a:rPr lang="zh-CN" sz="1725" b="1">
                <a:solidFill>
                  <a:srgbClr val="F8FAFC"/>
                </a:solidFill>
                <a:latin typeface="微软雅黑"/>
                <a:ea typeface="微软雅黑"/>
              </a:rPr>
              <a:t>到时候再做</a:t>
            </a:r>
            <a:r>
              <a:rPr lang="en-US" sz="1725" b="1">
                <a:solidFill>
                  <a:srgbClr val="F8FAFC"/>
                </a:solidFill>
                <a:latin typeface="微软雅黑"/>
                <a:ea typeface="微软雅黑"/>
              </a:rPr>
              <a:t>"</a:t>
            </a:r>
            <a:endParaRPr/>
          </a:p>
        </p:txBody>
      </p:sp>
      <p:sp>
        <p:nvSpPr>
          <p:cNvPr id="130" name="" descr="{&quot;isTemplate&quot;:true,&quot;type&quot;:&quot;text&quot;}"/>
          <p:cNvSpPr txBox="1"/>
          <p:nvPr/>
        </p:nvSpPr>
        <p:spPr>
          <a:xfrm rot="0" flipH="0" flipV="0">
            <a:off x="1543050" y="3209925"/>
            <a:ext cx="4972050" cy="723900"/>
          </a:xfrm>
          <a:prstGeom prst="rect"/>
        </p:spPr>
        <p:txBody>
          <a:bodyPr wrap="none" lIns="0" tIns="0" rIns="0" bIns="0"/>
          <a:p>
            <a:pPr>
              <a:lnSpc>
                <a:spcPct val="165000"/>
              </a:lnSpc>
            </a:pPr>
            <a:r>
              <a:rPr lang="zh-CN" sz="1425">
                <a:solidFill>
                  <a:srgbClr val="F8FAFC">
                    <a:alpha val="62000"/>
                  </a:srgbClr>
                </a:solidFill>
                <a:latin typeface="微软雅黑"/>
                <a:ea typeface="微软雅黑"/>
              </a:rPr>
              <a:t>你说</a:t>
            </a:r>
            <a:r>
              <a:rPr lang="en-US" sz="1425">
                <a:solidFill>
                  <a:srgbClr val="F8FAFC">
                    <a:alpha val="62000"/>
                  </a:srgbClr>
                </a:solidFill>
                <a:latin typeface="微软雅黑"/>
                <a:ea typeface="微软雅黑"/>
              </a:rPr>
              <a:t>"</a:t>
            </a:r>
            <a:r>
              <a:rPr lang="zh-CN" sz="1425">
                <a:solidFill>
                  <a:srgbClr val="F8FAFC">
                    <a:alpha val="62000"/>
                  </a:srgbClr>
                </a:solidFill>
                <a:latin typeface="微软雅黑"/>
                <a:ea typeface="微软雅黑"/>
              </a:rPr>
              <a:t>提醒我九点关灯</a:t>
            </a:r>
            <a:r>
              <a:rPr lang="en-US" sz="1425">
                <a:solidFill>
                  <a:srgbClr val="F8FAFC">
                    <a:alpha val="62000"/>
                  </a:srgbClr>
                </a:solidFill>
                <a:latin typeface="微软雅黑"/>
                <a:ea typeface="微软雅黑"/>
              </a:rPr>
              <a:t>"</a:t>
            </a:r>
            <a:r>
              <a:rPr lang="zh-CN" sz="1425">
                <a:solidFill>
                  <a:srgbClr val="F8FAFC">
                    <a:alpha val="62000"/>
                  </a:srgbClr>
                </a:solidFill>
                <a:latin typeface="微软雅黑"/>
                <a:ea typeface="微软雅黑"/>
              </a:rPr>
              <a:t>，它当场就把灯关了。</a:t>
            </a:r>
            <a:endParaRPr/>
          </a:p>
          <a:p>
            <a:pPr>
              <a:lnSpc>
                <a:spcPct val="165000"/>
              </a:lnSpc>
            </a:pPr>
            <a:r>
              <a:rPr lang="zh-CN" sz="1425">
                <a:solidFill>
                  <a:srgbClr val="F8FAFC">
                    <a:alpha val="62000"/>
                  </a:srgbClr>
                </a:solidFill>
                <a:latin typeface="微软雅黑"/>
                <a:ea typeface="微软雅黑"/>
              </a:rPr>
              <a:t>设备自己动了，比什么都不做更难向家里人解释。</a:t>
            </a:r>
            <a:endParaRPr/>
          </a:p>
        </p:txBody>
      </p:sp>
      <p:sp>
        <p:nvSpPr>
          <p:cNvPr id="131" name=""/>
          <p:cNvSpPr/>
          <p:nvPr/>
        </p:nvSpPr>
        <p:spPr>
          <a:xfrm rot="0" flipH="0" flipV="0">
            <a:off x="609600" y="4248150"/>
            <a:ext cx="6286500" cy="1838325"/>
          </a:xfrm>
          <a:prstGeom prst="roundRect">
            <a:avLst>
              <a:gd name="adj" fmla="val 5181"/>
            </a:avLst>
          </a:prstGeom>
          <a:solidFill>
            <a:srgbClr val="16223A"/>
          </a:solidFill>
          <a:ln w="12700">
            <a:solidFill>
              <a:srgbClr val="F8FAFC">
                <a:alpha val="1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32" name="" descr="{&quot;isTemplate&quot;:true,&quot;type&quot;:&quot;text&quot;}"/>
          <p:cNvSpPr txBox="1"/>
          <p:nvPr/>
        </p:nvSpPr>
        <p:spPr>
          <a:xfrm rot="0" flipH="0" flipV="0">
            <a:off x="838200" y="4448175"/>
            <a:ext cx="495300" cy="1438275"/>
          </a:xfrm>
          <a:prstGeom prst="rect"/>
        </p:spPr>
        <p:txBody>
          <a:bodyPr wrap="none" lIns="0" tIns="0" rIns="0" bIns="0"/>
          <a:p>
            <a:pPr>
              <a:lnSpc>
                <a:spcPct val="110000"/>
              </a:lnSpc>
            </a:pPr>
            <a:r>
              <a:rPr lang="en-US" sz="2550" b="1">
                <a:solidFill>
                  <a:srgbClr val="38BDF8"/>
                </a:solidFill>
                <a:latin typeface="Consolas"/>
                <a:ea typeface="Consolas"/>
              </a:rPr>
              <a:t>03</a:t>
            </a:r>
            <a:endParaRPr/>
          </a:p>
        </p:txBody>
      </p:sp>
      <p:sp>
        <p:nvSpPr>
          <p:cNvPr id="133" name="" descr="{&quot;isTemplate&quot;:true,&quot;type&quot;:&quot;text&quot;}"/>
          <p:cNvSpPr txBox="1"/>
          <p:nvPr/>
        </p:nvSpPr>
        <p:spPr>
          <a:xfrm rot="0" flipH="0" flipV="0">
            <a:off x="1543050" y="4448175"/>
            <a:ext cx="4972050" cy="266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725" b="1">
                <a:solidFill>
                  <a:srgbClr val="F8FAFC"/>
                </a:solidFill>
                <a:latin typeface="微软雅黑"/>
                <a:ea typeface="微软雅黑"/>
              </a:rPr>
              <a:t>它没有边界</a:t>
            </a:r>
            <a:endParaRPr/>
          </a:p>
        </p:txBody>
      </p:sp>
      <p:sp>
        <p:nvSpPr>
          <p:cNvPr id="134" name="" descr="{&quot;isTemplate&quot;:true,&quot;type&quot;:&quot;text&quot;}"/>
          <p:cNvSpPr txBox="1"/>
          <p:nvPr/>
        </p:nvSpPr>
        <p:spPr>
          <a:xfrm rot="0" flipH="0" flipV="0">
            <a:off x="1543050" y="4810125"/>
            <a:ext cx="4972050" cy="10763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425">
                <a:solidFill>
                  <a:srgbClr val="F8FAFC">
                    <a:alpha val="62000"/>
                  </a:srgbClr>
                </a:solidFill>
                <a:latin typeface="微软雅黑"/>
                <a:ea typeface="微软雅黑"/>
              </a:rPr>
              <a:t>一个账号能操作所有人家的设备，也就谈不上</a:t>
            </a:r>
            <a:r>
              <a:rPr lang="en-US" sz="1425">
                <a:solidFill>
                  <a:srgbClr val="F8FAFC">
                    <a:alpha val="62000"/>
                  </a:srgbClr>
                </a:solidFill>
                <a:latin typeface="微软雅黑"/>
                <a:ea typeface="微软雅黑"/>
              </a:rPr>
              <a:t>"</a:t>
            </a:r>
            <a:r>
              <a:rPr lang="zh-CN" sz="1425">
                <a:solidFill>
                  <a:srgbClr val="F8FAFC">
                    <a:alpha val="62000"/>
                  </a:srgbClr>
                </a:solidFill>
                <a:latin typeface="微软雅黑"/>
                <a:ea typeface="微软雅黑"/>
              </a:rPr>
              <a:t>一家人一个家</a:t>
            </a:r>
            <a:r>
              <a:rPr lang="en-US" sz="1425">
                <a:solidFill>
                  <a:srgbClr val="F8FAFC">
                    <a:alpha val="62000"/>
                  </a:srgbClr>
                </a:solidFill>
                <a:latin typeface="微软雅黑"/>
                <a:ea typeface="微软雅黑"/>
              </a:rPr>
              <a:t>"</a:t>
            </a:r>
            <a:r>
              <a:rPr lang="zh-CN" sz="1425">
                <a:solidFill>
                  <a:srgbClr val="F8FAFC">
                    <a:alpha val="62000"/>
                  </a:srgbClr>
                </a:solidFill>
                <a:latin typeface="微软雅黑"/>
                <a:ea typeface="微软雅黑"/>
              </a:rPr>
              <a:t>。</a:t>
            </a:r>
            <a:endParaRPr/>
          </a:p>
          <a:p>
            <a:pPr>
              <a:lnSpc>
                <a:spcPct val="165000"/>
              </a:lnSpc>
            </a:pPr>
            <a:r>
              <a:rPr lang="zh-CN" sz="1425">
                <a:solidFill>
                  <a:srgbClr val="F8FAFC">
                    <a:alpha val="62000"/>
                  </a:srgbClr>
                </a:solidFill>
                <a:latin typeface="微软雅黑"/>
                <a:ea typeface="微软雅黑"/>
              </a:rPr>
              <a:t>多用户这件事，得在架构里先留位置。</a:t>
            </a:r>
            <a:endParaRPr/>
          </a:p>
        </p:txBody>
      </p:sp>
      <p:sp>
        <p:nvSpPr>
          <p:cNvPr id="135" name=""/>
          <p:cNvSpPr/>
          <p:nvPr/>
        </p:nvSpPr>
        <p:spPr>
          <a:xfrm rot="0" flipH="0" flipV="0">
            <a:off x="7391400" y="1981200"/>
            <a:ext cx="4191000" cy="3343275"/>
          </a:xfrm>
          <a:prstGeom prst="roundRect">
            <a:avLst>
              <a:gd name="adj" fmla="val 2849"/>
            </a:avLst>
          </a:prstGeom>
          <a:solidFill>
            <a:srgbClr val="38BDF8">
              <a:alpha val="8000"/>
            </a:srgbClr>
          </a:solidFill>
          <a:ln w="12700">
            <a:solidFill>
              <a:srgbClr val="38BDF8">
                <a:alpha val="3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36" name="" descr="{&quot;isTemplate&quot;:true,&quot;type&quot;:&quot;text&quot;}"/>
          <p:cNvSpPr txBox="1"/>
          <p:nvPr/>
        </p:nvSpPr>
        <p:spPr>
          <a:xfrm rot="0" flipH="0" flipV="0">
            <a:off x="7677150" y="2286000"/>
            <a:ext cx="36195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b="1" spc="225">
                <a:solidFill>
                  <a:srgbClr val="38BDF8"/>
                </a:solidFill>
                <a:latin typeface="微软雅黑"/>
                <a:ea typeface="微软雅黑"/>
              </a:rPr>
              <a:t>所以问题的根源是</a:t>
            </a:r>
            <a:endParaRPr/>
          </a:p>
        </p:txBody>
      </p:sp>
      <p:sp>
        <p:nvSpPr>
          <p:cNvPr id="137" name="" descr="{&quot;isTemplate&quot;:true,&quot;type&quot;:&quot;text&quot;}"/>
          <p:cNvSpPr txBox="1"/>
          <p:nvPr/>
        </p:nvSpPr>
        <p:spPr>
          <a:xfrm rot="0" flipH="0" flipV="0">
            <a:off x="7677150" y="2609850"/>
            <a:ext cx="3619500" cy="8953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950" b="1">
                <a:solidFill>
                  <a:srgbClr val="F8FAFC"/>
                </a:solidFill>
                <a:latin typeface="微软雅黑"/>
                <a:ea typeface="微软雅黑"/>
              </a:rPr>
              <a:t>不是模型不够聪明，</a:t>
            </a:r>
            <a:endParaRPr/>
          </a:p>
          <a:p>
            <a:pPr>
              <a:lnSpc>
                <a:spcPct val="150000"/>
              </a:lnSpc>
            </a:pPr>
            <a:r>
              <a:rPr lang="zh-CN" sz="1950" b="1">
                <a:solidFill>
                  <a:srgbClr val="F8FAFC"/>
                </a:solidFill>
                <a:latin typeface="微软雅黑"/>
                <a:ea typeface="微软雅黑"/>
              </a:rPr>
              <a:t>是缺了执行前后的两层约束。</a:t>
            </a:r>
            <a:endParaRPr/>
          </a:p>
        </p:txBody>
      </p:sp>
      <p:sp>
        <p:nvSpPr>
          <p:cNvPr id="138" name=""/>
          <p:cNvSpPr/>
          <p:nvPr/>
        </p:nvSpPr>
        <p:spPr>
          <a:xfrm rot="0" flipH="0" flipV="0">
            <a:off x="7677150" y="3733800"/>
            <a:ext cx="571500" cy="9525"/>
          </a:xfrm>
          <a:prstGeom prst="rect">
            <a:avLst/>
          </a:prstGeom>
          <a:solidFill>
            <a:srgbClr val="F8FAFC">
              <a:alpha val="20000"/>
            </a:srgbClr>
          </a:solidFill>
          <a:ln/>
        </p:spPr>
        <p:txBody>
          <a:bodyPr/>
          <a:p/>
        </p:txBody>
      </p:sp>
      <p:sp>
        <p:nvSpPr>
          <p:cNvPr id="139" name="" descr="{&quot;isTemplate&quot;:true,&quot;type&quot;:&quot;text&quot;}"/>
          <p:cNvSpPr txBox="1"/>
          <p:nvPr/>
        </p:nvSpPr>
        <p:spPr>
          <a:xfrm rot="0" flipH="0" flipV="0">
            <a:off x="7677150" y="3933825"/>
            <a:ext cx="3619500" cy="1085850"/>
          </a:xfrm>
          <a:prstGeom prst="rect"/>
        </p:spPr>
        <p:txBody>
          <a:bodyPr wrap="none" lIns="0" tIns="0" rIns="0" bIns="0"/>
          <a:p>
            <a:pPr>
              <a:lnSpc>
                <a:spcPct val="175000"/>
              </a:lnSpc>
            </a:pPr>
            <a:r>
              <a:rPr lang="zh-CN" sz="1350">
                <a:solidFill>
                  <a:srgbClr val="F8FAFC">
                    <a:alpha val="62000"/>
                  </a:srgbClr>
                </a:solidFill>
                <a:latin typeface="微软雅黑"/>
                <a:ea typeface="微软雅黑"/>
              </a:rPr>
              <a:t>执行前：听懂并记住；</a:t>
            </a:r>
            <a:endParaRPr/>
          </a:p>
          <a:p>
            <a:pPr>
              <a:lnSpc>
                <a:spcPct val="175000"/>
              </a:lnSpc>
            </a:pPr>
            <a:r>
              <a:rPr lang="zh-CN" sz="1350">
                <a:solidFill>
                  <a:srgbClr val="F8FAFC">
                    <a:alpha val="62000"/>
                  </a:srgbClr>
                </a:solidFill>
                <a:latin typeface="微软雅黑"/>
                <a:ea typeface="微软雅黑"/>
              </a:rPr>
              <a:t>执行后：兜住错误。</a:t>
            </a:r>
            <a:endParaRPr/>
          </a:p>
          <a:p>
            <a:pPr>
              <a:lnSpc>
                <a:spcPct val="175000"/>
              </a:lnSpc>
            </a:pPr>
            <a:r>
              <a:rPr lang="zh-CN" sz="1350">
                <a:solidFill>
                  <a:srgbClr val="F8FAFC">
                    <a:alpha val="62000"/>
                  </a:srgbClr>
                </a:solidFill>
                <a:latin typeface="微软雅黑"/>
                <a:ea typeface="微软雅黑"/>
              </a:rPr>
              <a:t>这三条痛点，就是我要做的三件事。</a:t>
            </a:r>
            <a:endParaRPr/>
          </a:p>
        </p:txBody>
      </p:sp>
      <p:sp>
        <p:nvSpPr>
          <p:cNvPr id="140" name="" descr="{&quot;isTemplate&quot;:true,&quot;type&quot;:&quot;text&quot;}"/>
          <p:cNvSpPr txBox="1"/>
          <p:nvPr/>
        </p:nvSpPr>
        <p:spPr>
          <a:xfrm rot="0" flipH="0" flipV="0">
            <a:off x="609600" y="6477000"/>
            <a:ext cx="19431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F8FAFC">
                    <a:alpha val="40000"/>
                  </a:srgbClr>
                </a:solidFill>
                <a:latin typeface="微软雅黑"/>
                <a:ea typeface="微软雅黑"/>
              </a:rPr>
              <a:t xml:space="preserve">HomeMind · </a:t>
            </a:r>
            <a:r>
              <a:rPr lang="zh-CN" sz="975">
                <a:solidFill>
                  <a:srgbClr val="F8FAFC">
                    <a:alpha val="40000"/>
                  </a:srgbClr>
                </a:solidFill>
                <a:latin typeface="微软雅黑"/>
                <a:ea typeface="微软雅黑"/>
              </a:rPr>
              <a:t>智能家居多智能体中枢</a:t>
            </a:r>
            <a:endParaRPr/>
          </a:p>
        </p:txBody>
      </p:sp>
      <p:sp>
        <p:nvSpPr>
          <p:cNvPr id="141" name="" descr="{&quot;isTemplate&quot;:true,&quot;type&quot;:&quot;text&quot;}"/>
          <p:cNvSpPr txBox="1"/>
          <p:nvPr/>
        </p:nvSpPr>
        <p:spPr>
          <a:xfrm rot="0" flipH="0" flipV="0">
            <a:off x="11096625" y="6477000"/>
            <a:ext cx="4857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F8FAFC">
                    <a:alpha val="40000"/>
                  </a:srgbClr>
                </a:solidFill>
                <a:latin typeface="Consolas"/>
                <a:ea typeface="Consolas"/>
              </a:rPr>
              <a:t>02 / 13</a:t>
            </a:r>
            <a:endParaRPr/>
          </a:p>
        </p:txBody>
      </p:sp>
    </p:spTree>
  </p:cSld>
</p:sld>
</file>

<file path=ppt/slides/slide3.xml><?xml version="1.0" encoding="utf-8"?>
<p:sld xmlns:p="http://schemas.openxmlformats.org/presentationml/2006/main" xmlns:a="http://schemas.openxmlformats.org/drawingml/2006/main">
  <p:cSld>
    <p:spTree>
      <p:nvGrpSpPr>
        <p:cNvPr id="142" name="" descr="&lt;Slide style={{ width: 1280, height: 720, position: 'relative', overflow: 'hidden', background: '#0B1120', fontFamily: '微软雅黑' }}&gt;&#10;    &lt;Box style={{ height: 110, paddingLeft: 64, paddingRight: 64, paddingTop: 34, flexDirection: 'row', alignItems: 'center', gap: 18 }}&gt;&#10;        &lt;Box style={{ width: 4, height: 34, background: '#38BDF8' }} /&gt;&#10;        &lt;Text style={{ fontSize: 36, fontWeight: 700, color: '#F8FAFC', letterSpacing: 0.5 }}&gt;所以我给自己定了三条死规矩&lt;/Text&gt;&#10;    &lt;/Box&gt;&#10;&#10;    &lt;Box style={{ height: 546, paddingLeft: 64, paddingRight: 64, flexDirection: 'row', gap: 52 }}&gt;&#10;        &lt;Box style={{ width: 340, justifyContent: 'center' }}&gt;&#10;            &lt;Text style={{ fontSize: 96, fontWeight: 700, color: 'rgba(56,189,248,0.22)', fontFamily: 'Consolas', lineHeight: 1 }}&gt;03&lt;/Text&gt;&#10;            &lt;Text style={{ fontSize: 30, fontWeight: 700, color: '#F8FAFC', lineHeight: 1.5, marginTop: 18 }}&gt;&#10;                每条规矩&lt;br /&gt;都对应上面&lt;br /&gt;一个痛点&#10;            &lt;/Text&gt;&#10;            &lt;Box style={{ width: 56, height: 3, background: '#38BDF8', marginTop: 26 }} /&gt;&#10;            &lt;Text style={{ fontSize: 17, color: 'rgba(248,250,252,0.55)', lineHeight: 1.8, marginTop: 22, width: 300 }}&gt;&#10;                这三句话写进了 README 第一段，&lt;br /&gt;也写进了每一层的实现里。&#10;            &lt;/Text&gt;&#10;        &lt;/Box&gt;&#10;&#10;        &lt;Box style={{ width: 760, flexDirection: 'column', gap: 22 }}&gt;&#10;            &lt;Box style={{ flex: 1, flexDirection: 'row', gap: 18, alignItems: 'center', background: '#16223A', border: '1px solid rgba(56,189,248,0.22)', borderRadius: 10, padding: '26px 26px' }}&gt;&#10;                &lt;Text style={{ fontSize: 13, color: '#38BDF8', fontFamily: 'Consolas', fontWeight: 700, width: 44, letterSpacing: 1 }}&gt;R-01&lt;/Text&gt;&#10;                &lt;Box style={{ width: 668 }}&gt;&#10;                    &lt;Text style={{ fontSize: 24, fontWeight: 700, color: '#F8FAFC' }}&gt;听得懂人话&lt;/Text&gt;&#10;                    &lt;Text style={{ fontSize: 18, color: 'rgba(248,250,252,0.62)', lineHeight: 1.7, marginTop: 9 }}&gt;&#10;                        规则引擎与大模型双模解析，&lt;span style={{ color: '#38BDF8' }}&gt;任一层都能独立跑完整条链路&lt;/span&gt;。&lt;br /&gt;&#10;                        模型挂了不是降级成&quot;抱歉我不懂&quot;，是照常能开关灯。&#10;                    &lt;/Text&gt;&#10;                &lt;/Box&gt;&#10;            &lt;/Box&gt;&#10;&#10;            &lt;Box style={{ flex: 1, flexDirection: 'row', gap: 18, alignItems: 'center', background: '#16223A', border: '1px solid rgba(56,189,248,0.22)', borderRadius: 10, padding: '26px 26px' }}&gt;&#10;                &lt;Text style={{ fontSize: 13, color: '#38BDF8', fontFamily: 'Consolas', fontWeight: 700, width: 44, letterSpacing: 1 }}&gt;R-02&lt;/Text&gt;&#10;                &lt;Box style={{ width: 668 }}&gt;&#10;                    &lt;Text style={{ fontSize: 24, fontWeight: 700, color: '#F8FAFC' }}&gt;记得住习惯&lt;/Text&gt;&#10;                    &lt;Text style={{ fontSize: 18, color: 'rgba(248,250,252,0.62)', lineHeight: 1.7, marginTop: 9 }}&gt;&#10;                        三层记忆 + 加权召回。&lt;span style={{ color: '#38BDF8' }}&gt;召回结果会反向改写工具参数&lt;/span&gt;——&lt;br /&gt;&#10;                        说&quot;把空调打开&quot;，它会按你记下的偏好直接开到 26 度。&#10;                    &lt;/Text&gt;&#10;                &lt;/Box&gt;&#10;            &lt;/Box&gt;&#10;&#10;            &lt;Box style={{ flex: 1, flexDirection: 'row', gap: 18, alignItems: 'center', background: 'rgba(251,113,133,0.08)', border: '1px solid rgba(251,113,133,0.42)', borderRadius: 10, padding: '26px 26px' }}&gt;&#10;                &lt;Text style={{ fontSize: 13, color: '#FB7185', fontFamily: 'Consolas', fontWeight: 700, width: 44, letterSpacing: 1 }}&gt;R-03&lt;/Text&gt;&#10;                &lt;Box style={{ width: 668 }}&gt;&#10;                    &lt;Text style={{ fontSize: 24, fontWeight: 700, color: '#F8FAFC' }}&gt;管得住风险&lt;/Text&gt;&#10;                    &lt;Text style={{ fontSize: 18, color: 'rgba(248,250,252,0.62)', lineHeight: 1.7, marginTop: 9 }}&gt;&#10;                        护栏是&lt;span style={{ color: '#FB7185' }}&gt;独立的一个图节点&lt;/span&gt;，不是散落在各处的 if。&lt;br /&gt;&#10;                        这条是三条里最贵的，也是这个项目能不能落地的分水岭。&#10;                    &lt;/Text&gt;&#10;                &lt;/Box&gt;&#10;            &lt;/Box&gt;&#10;        &lt;/Box&gt;&#10;    &lt;/Box&gt;&#10;&#10;    &lt;Box style={{ height: 64, paddingLeft: 64, paddingRight: 64, flexDirection: 'row', justifyContent: 'space-between', alignItems: 'center' }}&gt;&#10;        &lt;Text style={{ fontSize: 13, color: 'rgba(248,250,252,0.40)' }}&gt;HomeMind · 智能家居多智能体中枢&lt;/Text&gt;&#10;        &lt;Text style={{ fontSize: 13, color: 'rgba(248,250,252,0.40)', fontFamily: 'Consolas' }}&gt;03 / 13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120"/>
          </a:solidFill>
          <a:ln/>
        </p:spPr>
        <p:txBody>
          <a:bodyPr/>
          <a:p/>
        </p:txBody>
      </p:sp>
      <p:sp>
        <p:nvSpPr>
          <p:cNvPr id="144" name=""/>
          <p:cNvSpPr/>
          <p:nvPr/>
        </p:nvSpPr>
        <p:spPr>
          <a:xfrm rot="0" flipH="0" flipV="0">
            <a:off x="609600" y="523875"/>
            <a:ext cx="38100" cy="323850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p/>
        </p:txBody>
      </p:sp>
      <p:sp>
        <p:nvSpPr>
          <p:cNvPr id="145" name="" descr="{&quot;isTemplate&quot;:true,&quot;type&quot;:&quot;text&quot;}"/>
          <p:cNvSpPr txBox="1"/>
          <p:nvPr/>
        </p:nvSpPr>
        <p:spPr>
          <a:xfrm rot="0" flipH="0" flipV="0">
            <a:off x="819150" y="476250"/>
            <a:ext cx="4524375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700" b="1" spc="38">
                <a:solidFill>
                  <a:srgbClr val="F8FAFC"/>
                </a:solidFill>
                <a:latin typeface="微软雅黑"/>
                <a:ea typeface="微软雅黑"/>
              </a:rPr>
              <a:t>所以我给自己定了三条死规矩</a:t>
            </a:r>
            <a:endParaRPr/>
          </a:p>
        </p:txBody>
      </p:sp>
      <p:sp>
        <p:nvSpPr>
          <p:cNvPr id="146" name="" descr="{&quot;isTemplate&quot;:true,&quot;type&quot;:&quot;text&quot;}"/>
          <p:cNvSpPr txBox="1"/>
          <p:nvPr/>
        </p:nvSpPr>
        <p:spPr>
          <a:xfrm rot="0" flipH="0" flipV="0">
            <a:off x="609600" y="1647825"/>
            <a:ext cx="3238500" cy="1104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7200" b="1">
                <a:solidFill>
                  <a:srgbClr val="38BDF8">
                    <a:alpha val="22000"/>
                  </a:srgbClr>
                </a:solidFill>
                <a:latin typeface="Consolas"/>
                <a:ea typeface="Consolas"/>
              </a:rPr>
              <a:t>03</a:t>
            </a:r>
            <a:endParaRPr/>
          </a:p>
        </p:txBody>
      </p:sp>
      <p:sp>
        <p:nvSpPr>
          <p:cNvPr id="147" name="" descr="{&quot;isTemplate&quot;:true,&quot;type&quot;:&quot;text&quot;}"/>
          <p:cNvSpPr txBox="1"/>
          <p:nvPr/>
        </p:nvSpPr>
        <p:spPr>
          <a:xfrm rot="0" flipH="0" flipV="0">
            <a:off x="609600" y="2924175"/>
            <a:ext cx="3238500" cy="15430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2250" b="1">
                <a:solidFill>
                  <a:srgbClr val="F8FAFC"/>
                </a:solidFill>
                <a:latin typeface="微软雅黑"/>
                <a:ea typeface="微软雅黑"/>
              </a:rPr>
              <a:t>每条规矩</a:t>
            </a:r>
            <a:endParaRPr/>
          </a:p>
          <a:p>
            <a:pPr>
              <a:lnSpc>
                <a:spcPct val="150000"/>
              </a:lnSpc>
            </a:pPr>
            <a:r>
              <a:rPr lang="zh-CN" sz="2250" b="1">
                <a:solidFill>
                  <a:srgbClr val="F8FAFC"/>
                </a:solidFill>
                <a:latin typeface="微软雅黑"/>
                <a:ea typeface="微软雅黑"/>
              </a:rPr>
              <a:t>都对应上面</a:t>
            </a:r>
            <a:endParaRPr/>
          </a:p>
          <a:p>
            <a:pPr>
              <a:lnSpc>
                <a:spcPct val="150000"/>
              </a:lnSpc>
            </a:pPr>
            <a:r>
              <a:rPr lang="zh-CN" sz="2250" b="1">
                <a:solidFill>
                  <a:srgbClr val="F8FAFC"/>
                </a:solidFill>
                <a:latin typeface="微软雅黑"/>
                <a:ea typeface="微软雅黑"/>
              </a:rPr>
              <a:t>一个痛点</a:t>
            </a:r>
            <a:endParaRPr/>
          </a:p>
        </p:txBody>
      </p:sp>
      <p:sp>
        <p:nvSpPr>
          <p:cNvPr id="148" name=""/>
          <p:cNvSpPr/>
          <p:nvPr/>
        </p:nvSpPr>
        <p:spPr>
          <a:xfrm rot="0" flipH="0" flipV="0">
            <a:off x="609600" y="4714875"/>
            <a:ext cx="533400" cy="28575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p/>
        </p:txBody>
      </p:sp>
      <p:sp>
        <p:nvSpPr>
          <p:cNvPr id="149" name="" descr="{&quot;isTemplate&quot;:true,&quot;type&quot;:&quot;text&quot;}"/>
          <p:cNvSpPr txBox="1"/>
          <p:nvPr/>
        </p:nvSpPr>
        <p:spPr>
          <a:xfrm rot="0" flipH="0" flipV="0">
            <a:off x="609600" y="4953000"/>
            <a:ext cx="2857500" cy="704850"/>
          </a:xfrm>
          <a:prstGeom prst="rect"/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zh-CN" sz="1275">
                <a:solidFill>
                  <a:srgbClr val="F8FAFC">
                    <a:alpha val="55000"/>
                  </a:srgbClr>
                </a:solidFill>
                <a:latin typeface="微软雅黑"/>
                <a:ea typeface="微软雅黑"/>
              </a:rPr>
              <a:t>这三句话写进了</a:t>
            </a:r>
            <a:r>
              <a:rPr lang="en-US" sz="1275">
                <a:solidFill>
                  <a:srgbClr val="F8FAFC">
                    <a:alpha val="55000"/>
                  </a:srgbClr>
                </a:solidFill>
                <a:latin typeface="微软雅黑"/>
                <a:ea typeface="微软雅黑"/>
              </a:rPr>
              <a:t xml:space="preserve"> README </a:t>
            </a:r>
            <a:r>
              <a:rPr lang="zh-CN" sz="1275">
                <a:solidFill>
                  <a:srgbClr val="F8FAFC">
                    <a:alpha val="55000"/>
                  </a:srgbClr>
                </a:solidFill>
                <a:latin typeface="微软雅黑"/>
                <a:ea typeface="微软雅黑"/>
              </a:rPr>
              <a:t>第一段，</a:t>
            </a:r>
            <a:endParaRPr/>
          </a:p>
          <a:p>
            <a:pPr>
              <a:lnSpc>
                <a:spcPct val="180000"/>
              </a:lnSpc>
            </a:pPr>
            <a:r>
              <a:rPr lang="zh-CN" sz="1275">
                <a:solidFill>
                  <a:srgbClr val="F8FAFC">
                    <a:alpha val="55000"/>
                  </a:srgbClr>
                </a:solidFill>
                <a:latin typeface="微软雅黑"/>
                <a:ea typeface="微软雅黑"/>
              </a:rPr>
              <a:t>也写进了每一层的实现里。</a:t>
            </a:r>
            <a:endParaRPr/>
          </a:p>
        </p:txBody>
      </p:sp>
      <p:sp>
        <p:nvSpPr>
          <p:cNvPr id="150" name=""/>
          <p:cNvSpPr/>
          <p:nvPr/>
        </p:nvSpPr>
        <p:spPr>
          <a:xfrm rot="0" flipH="0" flipV="0">
            <a:off x="4343400" y="1047750"/>
            <a:ext cx="7239000" cy="1590675"/>
          </a:xfrm>
          <a:prstGeom prst="roundRect">
            <a:avLst>
              <a:gd name="adj" fmla="val 5988"/>
            </a:avLst>
          </a:prstGeom>
          <a:solidFill>
            <a:srgbClr val="16223A"/>
          </a:solidFill>
          <a:ln w="12700">
            <a:solidFill>
              <a:srgbClr val="38BDF8">
                <a:alpha val="22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51" name="" descr="{&quot;isTemplate&quot;:true,&quot;type&quot;:&quot;text&quot;}"/>
          <p:cNvSpPr txBox="1"/>
          <p:nvPr/>
        </p:nvSpPr>
        <p:spPr>
          <a:xfrm rot="0" flipH="0" flipV="0">
            <a:off x="4591050" y="1771650"/>
            <a:ext cx="4095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 spc="75">
                <a:solidFill>
                  <a:srgbClr val="38BDF8"/>
                </a:solidFill>
                <a:latin typeface="Consolas"/>
                <a:ea typeface="Consolas"/>
              </a:rPr>
              <a:t>R-01</a:t>
            </a:r>
            <a:endParaRPr/>
          </a:p>
        </p:txBody>
      </p:sp>
      <p:sp>
        <p:nvSpPr>
          <p:cNvPr id="152" name="" descr="{&quot;isTemplate&quot;:true,&quot;type&quot;:&quot;text&quot;}"/>
          <p:cNvSpPr txBox="1"/>
          <p:nvPr/>
        </p:nvSpPr>
        <p:spPr>
          <a:xfrm rot="0" flipH="0" flipV="0">
            <a:off x="5172075" y="1314450"/>
            <a:ext cx="63627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F8FAFC"/>
                </a:solidFill>
                <a:latin typeface="微软雅黑"/>
                <a:ea typeface="微软雅黑"/>
              </a:rPr>
              <a:t>听得懂人话</a:t>
            </a:r>
            <a:endParaRPr/>
          </a:p>
        </p:txBody>
      </p:sp>
      <p:sp>
        <p:nvSpPr>
          <p:cNvPr id="153" name="" descr="{&quot;isTemplate&quot;:true,&quot;type&quot;:&quot;text&quot;}"/>
          <p:cNvSpPr txBox="1"/>
          <p:nvPr/>
        </p:nvSpPr>
        <p:spPr>
          <a:xfrm rot="0" flipH="0" flipV="0">
            <a:off x="5172075" y="1676400"/>
            <a:ext cx="6362700" cy="704850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1350">
                <a:solidFill>
                  <a:srgbClr val="F8FAFC">
                    <a:alpha val="62000"/>
                  </a:srgbClr>
                </a:solidFill>
                <a:latin typeface="微软雅黑"/>
                <a:ea typeface="微软雅黑"/>
              </a:rPr>
              <a:t>规则引擎与大模型双模解析，</a:t>
            </a:r>
            <a:r>
              <a:rPr lang="zh-CN" sz="1350">
                <a:solidFill>
                  <a:srgbClr val="38BDF8"/>
                </a:solidFill>
                <a:latin typeface="微软雅黑"/>
                <a:ea typeface="微软雅黑"/>
              </a:rPr>
              <a:t>任一层都能独立跑完整条链路</a:t>
            </a:r>
            <a:r>
              <a:rPr lang="zh-CN" sz="1350">
                <a:solidFill>
                  <a:srgbClr val="F8FAFC">
                    <a:alpha val="62000"/>
                  </a:srgbClr>
                </a:solidFill>
                <a:latin typeface="微软雅黑"/>
                <a:ea typeface="微软雅黑"/>
              </a:rPr>
              <a:t>。</a:t>
            </a:r>
            <a:endParaRPr/>
          </a:p>
          <a:p>
            <a:pPr>
              <a:lnSpc>
                <a:spcPct val="170000"/>
              </a:lnSpc>
            </a:pPr>
            <a:r>
              <a:rPr lang="zh-CN" sz="1350">
                <a:solidFill>
                  <a:srgbClr val="F8FAFC">
                    <a:alpha val="62000"/>
                  </a:srgbClr>
                </a:solidFill>
                <a:latin typeface="微软雅黑"/>
                <a:ea typeface="微软雅黑"/>
              </a:rPr>
              <a:t>模型挂了不是降级成</a:t>
            </a:r>
            <a:r>
              <a:rPr lang="en-US" sz="1350">
                <a:solidFill>
                  <a:srgbClr val="F8FAFC">
                    <a:alpha val="62000"/>
                  </a:srgbClr>
                </a:solidFill>
                <a:latin typeface="微软雅黑"/>
                <a:ea typeface="微软雅黑"/>
              </a:rPr>
              <a:t>"</a:t>
            </a:r>
            <a:r>
              <a:rPr lang="zh-CN" sz="1350">
                <a:solidFill>
                  <a:srgbClr val="F8FAFC">
                    <a:alpha val="62000"/>
                  </a:srgbClr>
                </a:solidFill>
                <a:latin typeface="微软雅黑"/>
                <a:ea typeface="微软雅黑"/>
              </a:rPr>
              <a:t>抱歉我不懂</a:t>
            </a:r>
            <a:r>
              <a:rPr lang="en-US" sz="1350">
                <a:solidFill>
                  <a:srgbClr val="F8FAFC">
                    <a:alpha val="62000"/>
                  </a:srgbClr>
                </a:solidFill>
                <a:latin typeface="微软雅黑"/>
                <a:ea typeface="微软雅黑"/>
              </a:rPr>
              <a:t>"</a:t>
            </a:r>
            <a:r>
              <a:rPr lang="zh-CN" sz="1350">
                <a:solidFill>
                  <a:srgbClr val="F8FAFC">
                    <a:alpha val="62000"/>
                  </a:srgbClr>
                </a:solidFill>
                <a:latin typeface="微软雅黑"/>
                <a:ea typeface="微软雅黑"/>
              </a:rPr>
              <a:t>，是照常能开关灯。</a:t>
            </a:r>
            <a:endParaRPr/>
          </a:p>
        </p:txBody>
      </p:sp>
      <p:sp>
        <p:nvSpPr>
          <p:cNvPr id="154" name=""/>
          <p:cNvSpPr/>
          <p:nvPr/>
        </p:nvSpPr>
        <p:spPr>
          <a:xfrm rot="0" flipH="0" flipV="0">
            <a:off x="4343400" y="2847975"/>
            <a:ext cx="7239000" cy="1600200"/>
          </a:xfrm>
          <a:prstGeom prst="roundRect">
            <a:avLst>
              <a:gd name="adj" fmla="val 5952"/>
            </a:avLst>
          </a:prstGeom>
          <a:solidFill>
            <a:srgbClr val="16223A"/>
          </a:solidFill>
          <a:ln w="12700">
            <a:solidFill>
              <a:srgbClr val="38BDF8">
                <a:alpha val="22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55" name="" descr="{&quot;isTemplate&quot;:true,&quot;type&quot;:&quot;text&quot;}"/>
          <p:cNvSpPr txBox="1"/>
          <p:nvPr/>
        </p:nvSpPr>
        <p:spPr>
          <a:xfrm rot="0" flipH="0" flipV="0">
            <a:off x="4591050" y="3571875"/>
            <a:ext cx="4095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 spc="75">
                <a:solidFill>
                  <a:srgbClr val="38BDF8"/>
                </a:solidFill>
                <a:latin typeface="Consolas"/>
                <a:ea typeface="Consolas"/>
              </a:rPr>
              <a:t>R-02</a:t>
            </a:r>
            <a:endParaRPr/>
          </a:p>
        </p:txBody>
      </p:sp>
      <p:sp>
        <p:nvSpPr>
          <p:cNvPr id="156" name="" descr="{&quot;isTemplate&quot;:true,&quot;type&quot;:&quot;text&quot;}"/>
          <p:cNvSpPr txBox="1"/>
          <p:nvPr/>
        </p:nvSpPr>
        <p:spPr>
          <a:xfrm rot="0" flipH="0" flipV="0">
            <a:off x="5172075" y="3114675"/>
            <a:ext cx="63627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F8FAFC"/>
                </a:solidFill>
                <a:latin typeface="微软雅黑"/>
                <a:ea typeface="微软雅黑"/>
              </a:rPr>
              <a:t>记得住习惯</a:t>
            </a:r>
            <a:endParaRPr/>
          </a:p>
        </p:txBody>
      </p:sp>
      <p:sp>
        <p:nvSpPr>
          <p:cNvPr id="157" name="" descr="{&quot;isTemplate&quot;:true,&quot;type&quot;:&quot;text&quot;}"/>
          <p:cNvSpPr txBox="1"/>
          <p:nvPr/>
        </p:nvSpPr>
        <p:spPr>
          <a:xfrm rot="0" flipH="0" flipV="0">
            <a:off x="5172075" y="3476625"/>
            <a:ext cx="6362700" cy="704850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1350">
                <a:solidFill>
                  <a:srgbClr val="F8FAFC">
                    <a:alpha val="62000"/>
                  </a:srgbClr>
                </a:solidFill>
                <a:latin typeface="微软雅黑"/>
                <a:ea typeface="微软雅黑"/>
              </a:rPr>
              <a:t>三层记忆</a:t>
            </a:r>
            <a:r>
              <a:rPr lang="en-US" sz="1350">
                <a:solidFill>
                  <a:srgbClr val="F8FAFC">
                    <a:alpha val="62000"/>
                  </a:srgbClr>
                </a:solidFill>
                <a:latin typeface="微软雅黑"/>
                <a:ea typeface="微软雅黑"/>
              </a:rPr>
              <a:t xml:space="preserve"> + </a:t>
            </a:r>
            <a:r>
              <a:rPr lang="zh-CN" sz="1350">
                <a:solidFill>
                  <a:srgbClr val="F8FAFC">
                    <a:alpha val="62000"/>
                  </a:srgbClr>
                </a:solidFill>
                <a:latin typeface="微软雅黑"/>
                <a:ea typeface="微软雅黑"/>
              </a:rPr>
              <a:t>加权召回。</a:t>
            </a:r>
            <a:r>
              <a:rPr lang="zh-CN" sz="1350">
                <a:solidFill>
                  <a:srgbClr val="38BDF8"/>
                </a:solidFill>
                <a:latin typeface="微软雅黑"/>
                <a:ea typeface="微软雅黑"/>
              </a:rPr>
              <a:t>召回结果会反向改写工具参数</a:t>
            </a:r>
            <a:r>
              <a:rPr sz="1350">
                <a:solidFill>
                  <a:srgbClr val="F8FAFC">
                    <a:alpha val="62000"/>
                  </a:srgbClr>
                </a:solidFill>
                <a:latin typeface="微软雅黑"/>
                <a:ea typeface="微软雅黑"/>
              </a:rPr>
              <a:t>——</a:t>
            </a:r>
            <a:endParaRPr/>
          </a:p>
          <a:p>
            <a:pPr>
              <a:lnSpc>
                <a:spcPct val="170000"/>
              </a:lnSpc>
            </a:pPr>
            <a:r>
              <a:rPr lang="zh-CN" sz="1350">
                <a:solidFill>
                  <a:srgbClr val="F8FAFC">
                    <a:alpha val="62000"/>
                  </a:srgbClr>
                </a:solidFill>
                <a:latin typeface="微软雅黑"/>
                <a:ea typeface="微软雅黑"/>
              </a:rPr>
              <a:t>说</a:t>
            </a:r>
            <a:r>
              <a:rPr lang="en-US" sz="1350">
                <a:solidFill>
                  <a:srgbClr val="F8FAFC">
                    <a:alpha val="62000"/>
                  </a:srgbClr>
                </a:solidFill>
                <a:latin typeface="微软雅黑"/>
                <a:ea typeface="微软雅黑"/>
              </a:rPr>
              <a:t>"</a:t>
            </a:r>
            <a:r>
              <a:rPr lang="zh-CN" sz="1350">
                <a:solidFill>
                  <a:srgbClr val="F8FAFC">
                    <a:alpha val="62000"/>
                  </a:srgbClr>
                </a:solidFill>
                <a:latin typeface="微软雅黑"/>
                <a:ea typeface="微软雅黑"/>
              </a:rPr>
              <a:t>把空调打开</a:t>
            </a:r>
            <a:r>
              <a:rPr lang="en-US" sz="1350">
                <a:solidFill>
                  <a:srgbClr val="F8FAFC">
                    <a:alpha val="62000"/>
                  </a:srgbClr>
                </a:solidFill>
                <a:latin typeface="微软雅黑"/>
                <a:ea typeface="微软雅黑"/>
              </a:rPr>
              <a:t>"</a:t>
            </a:r>
            <a:r>
              <a:rPr lang="zh-CN" sz="1350">
                <a:solidFill>
                  <a:srgbClr val="F8FAFC">
                    <a:alpha val="62000"/>
                  </a:srgbClr>
                </a:solidFill>
                <a:latin typeface="微软雅黑"/>
                <a:ea typeface="微软雅黑"/>
              </a:rPr>
              <a:t>，它会按你记下的偏好直接开到</a:t>
            </a:r>
            <a:r>
              <a:rPr lang="en-US" sz="1350">
                <a:solidFill>
                  <a:srgbClr val="F8FAFC">
                    <a:alpha val="62000"/>
                  </a:srgbClr>
                </a:solidFill>
                <a:latin typeface="微软雅黑"/>
                <a:ea typeface="微软雅黑"/>
              </a:rPr>
              <a:t xml:space="preserve"> 26 </a:t>
            </a:r>
            <a:r>
              <a:rPr lang="zh-CN" sz="1350">
                <a:solidFill>
                  <a:srgbClr val="F8FAFC">
                    <a:alpha val="62000"/>
                  </a:srgbClr>
                </a:solidFill>
                <a:latin typeface="微软雅黑"/>
                <a:ea typeface="微软雅黑"/>
              </a:rPr>
              <a:t>度。</a:t>
            </a:r>
            <a:endParaRPr/>
          </a:p>
        </p:txBody>
      </p:sp>
      <p:sp>
        <p:nvSpPr>
          <p:cNvPr id="158" name=""/>
          <p:cNvSpPr/>
          <p:nvPr/>
        </p:nvSpPr>
        <p:spPr>
          <a:xfrm rot="0" flipH="0" flipV="0">
            <a:off x="4343400" y="4657725"/>
            <a:ext cx="7239000" cy="1590675"/>
          </a:xfrm>
          <a:prstGeom prst="roundRect">
            <a:avLst>
              <a:gd name="adj" fmla="val 5988"/>
            </a:avLst>
          </a:prstGeom>
          <a:solidFill>
            <a:srgbClr val="FB7185">
              <a:alpha val="8000"/>
            </a:srgbClr>
          </a:solidFill>
          <a:ln w="12700">
            <a:solidFill>
              <a:srgbClr val="FB7185">
                <a:alpha val="42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59" name="" descr="{&quot;isTemplate&quot;:true,&quot;type&quot;:&quot;text&quot;}"/>
          <p:cNvSpPr txBox="1"/>
          <p:nvPr/>
        </p:nvSpPr>
        <p:spPr>
          <a:xfrm rot="0" flipH="0" flipV="0">
            <a:off x="4591050" y="5381625"/>
            <a:ext cx="4095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 spc="75">
                <a:solidFill>
                  <a:srgbClr val="FB7185"/>
                </a:solidFill>
                <a:latin typeface="Consolas"/>
                <a:ea typeface="Consolas"/>
              </a:rPr>
              <a:t>R-03</a:t>
            </a:r>
            <a:endParaRPr/>
          </a:p>
        </p:txBody>
      </p:sp>
      <p:sp>
        <p:nvSpPr>
          <p:cNvPr id="160" name="" descr="{&quot;isTemplate&quot;:true,&quot;type&quot;:&quot;text&quot;}"/>
          <p:cNvSpPr txBox="1"/>
          <p:nvPr/>
        </p:nvSpPr>
        <p:spPr>
          <a:xfrm rot="0" flipH="0" flipV="0">
            <a:off x="5172075" y="4924425"/>
            <a:ext cx="63627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F8FAFC"/>
                </a:solidFill>
                <a:latin typeface="微软雅黑"/>
                <a:ea typeface="微软雅黑"/>
              </a:rPr>
              <a:t>管得住风险</a:t>
            </a:r>
            <a:endParaRPr/>
          </a:p>
        </p:txBody>
      </p:sp>
      <p:sp>
        <p:nvSpPr>
          <p:cNvPr id="161" name="" descr="{&quot;isTemplate&quot;:true,&quot;type&quot;:&quot;text&quot;}"/>
          <p:cNvSpPr txBox="1"/>
          <p:nvPr/>
        </p:nvSpPr>
        <p:spPr>
          <a:xfrm rot="0" flipH="0" flipV="0">
            <a:off x="5172075" y="5286375"/>
            <a:ext cx="6362700" cy="704850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1350">
                <a:solidFill>
                  <a:srgbClr val="F8FAFC">
                    <a:alpha val="62000"/>
                  </a:srgbClr>
                </a:solidFill>
                <a:latin typeface="微软雅黑"/>
                <a:ea typeface="微软雅黑"/>
              </a:rPr>
              <a:t>护栏是</a:t>
            </a:r>
            <a:r>
              <a:rPr lang="zh-CN" sz="1350">
                <a:solidFill>
                  <a:srgbClr val="FB7185"/>
                </a:solidFill>
                <a:latin typeface="微软雅黑"/>
                <a:ea typeface="微软雅黑"/>
              </a:rPr>
              <a:t>独立的一个图节点</a:t>
            </a:r>
            <a:r>
              <a:rPr lang="zh-CN" sz="1350">
                <a:solidFill>
                  <a:srgbClr val="F8FAFC">
                    <a:alpha val="62000"/>
                  </a:srgbClr>
                </a:solidFill>
                <a:latin typeface="微软雅黑"/>
                <a:ea typeface="微软雅黑"/>
              </a:rPr>
              <a:t>，不是散落在各处的</a:t>
            </a:r>
            <a:r>
              <a:rPr lang="en-US" sz="1350">
                <a:solidFill>
                  <a:srgbClr val="F8FAFC">
                    <a:alpha val="62000"/>
                  </a:srgbClr>
                </a:solidFill>
                <a:latin typeface="微软雅黑"/>
                <a:ea typeface="微软雅黑"/>
              </a:rPr>
              <a:t xml:space="preserve"> if</a:t>
            </a:r>
            <a:r>
              <a:rPr lang="zh-CN" sz="1350">
                <a:solidFill>
                  <a:srgbClr val="F8FAFC">
                    <a:alpha val="62000"/>
                  </a:srgbClr>
                </a:solidFill>
                <a:latin typeface="微软雅黑"/>
                <a:ea typeface="微软雅黑"/>
              </a:rPr>
              <a:t>。</a:t>
            </a:r>
            <a:endParaRPr/>
          </a:p>
          <a:p>
            <a:pPr>
              <a:lnSpc>
                <a:spcPct val="170000"/>
              </a:lnSpc>
            </a:pPr>
            <a:r>
              <a:rPr lang="zh-CN" sz="1350">
                <a:solidFill>
                  <a:srgbClr val="F8FAFC">
                    <a:alpha val="62000"/>
                  </a:srgbClr>
                </a:solidFill>
                <a:latin typeface="微软雅黑"/>
                <a:ea typeface="微软雅黑"/>
              </a:rPr>
              <a:t>这条是三条里最贵的，也是这个项目能不能落地的分水岭。</a:t>
            </a:r>
            <a:endParaRPr/>
          </a:p>
        </p:txBody>
      </p:sp>
      <p:sp>
        <p:nvSpPr>
          <p:cNvPr id="162" name="" descr="{&quot;isTemplate&quot;:true,&quot;type&quot;:&quot;text&quot;}"/>
          <p:cNvSpPr txBox="1"/>
          <p:nvPr/>
        </p:nvSpPr>
        <p:spPr>
          <a:xfrm rot="0" flipH="0" flipV="0">
            <a:off x="609600" y="6477000"/>
            <a:ext cx="19431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F8FAFC">
                    <a:alpha val="40000"/>
                  </a:srgbClr>
                </a:solidFill>
                <a:latin typeface="微软雅黑"/>
                <a:ea typeface="微软雅黑"/>
              </a:rPr>
              <a:t xml:space="preserve">HomeMind · </a:t>
            </a:r>
            <a:r>
              <a:rPr lang="zh-CN" sz="975">
                <a:solidFill>
                  <a:srgbClr val="F8FAFC">
                    <a:alpha val="40000"/>
                  </a:srgbClr>
                </a:solidFill>
                <a:latin typeface="微软雅黑"/>
                <a:ea typeface="微软雅黑"/>
              </a:rPr>
              <a:t>智能家居多智能体中枢</a:t>
            </a:r>
            <a:endParaRPr/>
          </a:p>
        </p:txBody>
      </p:sp>
      <p:sp>
        <p:nvSpPr>
          <p:cNvPr id="163" name="" descr="{&quot;isTemplate&quot;:true,&quot;type&quot;:&quot;text&quot;}"/>
          <p:cNvSpPr txBox="1"/>
          <p:nvPr/>
        </p:nvSpPr>
        <p:spPr>
          <a:xfrm rot="0" flipH="0" flipV="0">
            <a:off x="11096625" y="6477000"/>
            <a:ext cx="4857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F8FAFC">
                    <a:alpha val="40000"/>
                  </a:srgbClr>
                </a:solidFill>
                <a:latin typeface="Consolas"/>
                <a:ea typeface="Consolas"/>
              </a:rPr>
              <a:t>03 / 13</a:t>
            </a:r>
            <a:endParaRPr/>
          </a:p>
        </p:txBody>
      </p:sp>
    </p:spTree>
  </p:cSld>
</p:sld>
</file>

<file path=ppt/slides/slide4.xml><?xml version="1.0" encoding="utf-8"?>
<p:sld xmlns:p="http://schemas.openxmlformats.org/presentationml/2006/main" xmlns:a="http://schemas.openxmlformats.org/drawingml/2006/main">
  <p:cSld>
    <p:spTree>
      <p:nvGrpSpPr>
        <p:cNvPr id="164" name="" descr="&lt;Slide style={{ width: 1280, height: 720, position: 'relative', overflow: 'hidden', background: '#0B1120', fontFamily: '微软雅黑' }}&gt;&#10;    &lt;Box style={{ height: 110, paddingLeft: 64, paddingRight: 64, paddingTop: 34, flexDirection: 'row', alignItems: 'center', gap: 18 }}&gt;&#10;        &lt;Box style={{ width: 4, height: 34, background: '#38BDF8' }} /&gt;&#10;        &lt;Text style={{ fontSize: 36, fontWeight: 700, color: '#F8FAFC', letterSpacing: 0.5 }}&gt;六层架构，两张图&lt;/Text&gt;&#10;    &lt;/Box&gt;&#10;&#10;    &lt;Box style={{ height: 546, paddingLeft: 64, paddingRight: 64, flexDirection: 'column', gap: 24 }}&gt;&#10;        &lt;Box style={{ height: 282, flexDirection: 'column', gap: 6 }}&gt;&#10;            &lt;Box style={{ height: 42, flexDirection: 'row', alignItems: 'center', background: '#16223A', border: '1px solid rgba(248,250,252,0.10)', borderRadius: 6, paddingLeft: 20, paddingRight: 20, gap: 20 }}&gt;&#10;                &lt;Text style={{ fontSize: 15, fontWeight: 700, color: '#F8FAFC', width: 96 }}&gt;交互层&lt;/Text&gt;&#10;                &lt;Text style={{ fontSize: 14, color: 'rgba(248,250,252,0.62)' }}&gt;原生 Web（零构建）· Gradio 演示 · FastAPI + Uvicorn&lt;/Text&gt;&#10;            &lt;/Box&gt;&#10;&#10;            &lt;Box style={{ height: 42, flexDirection: 'row', alignItems: 'center', background: 'rgba(56,189,248,0.10)', border: '1px solid rgba(56,189,248,0.45)', borderRadius: 6, paddingLeft: 20, paddingRight: 20, gap: 20 }}&gt;&#10;                &lt;Text style={{ fontSize: 15, fontWeight: 700, color: '#38BDF8', width: 96 }}&gt;编排层&lt;/Text&gt;&#10;                &lt;Text style={{ fontSize: 14, color: 'rgba(248,250,252,0.80)' }}&gt;LangGraph 两张图 —— 单 Agent 主图（6 节点）+ Supervisor 多 Agent 图&lt;/Text&gt;&#10;            &lt;/Box&gt;&#10;&#10;            &lt;Box style={{ height: 42, flexDirection: 'row', alignItems: 'center', background: '#16223A', border: '1px solid rgba(248,250,252,0.10)', borderRadius: 6, paddingLeft: 20, paddingRight: 20, gap: 20 }}&gt;&#10;                &lt;Text style={{ fontSize: 15, fontWeight: 700, color: '#F8FAFC', width: 96 }}&gt;模型层&lt;/Text&gt;&#10;                &lt;Text style={{ fontSize: 14, color: 'rgba(248,250,252,0.62)' }}&gt;LLMClient（OpenAI 兼容协议）→ DeepSeek 实测打通 ｜ 规则引擎兜底&lt;/Text&gt;&#10;            &lt;/Box&gt;&#10;&#10;            &lt;Box style={{ height: 42, flexDirection: 'row', alignItems: 'center', background: 'rgba(56,189,248,0.10)', border: '1px solid rgba(56,189,248,0.45)', borderRadius: 6, paddingLeft: 20, paddingRight: 20, gap: 20 }}&gt;&#10;                &lt;Text style={{ fontSize: 15, fontWeight: 700, color: '#38BDF8', width: 96 }}&gt;工具层&lt;/Text&gt;&#10;                &lt;Text style={{ fontSize: 14, color: 'rgba(248,250,252,0.80)' }}&gt;自建 ToolRegistry —— 超时 / 重试 / 熔断 / 幂等，5 个工具，MCP 风格 Schema&lt;/Text&gt;&#10;            &lt;/Box&gt;&#10;&#10;            &lt;Box style={{ height: 42, flexDirection: 'row', alignItems: 'center', background: '#16223A', border: '1px solid rgba(248,250,252,0.10)', borderRadius: 6, paddingLeft: 20, paddingRight: 20, gap: 20 }}&gt;&#10;                &lt;Text style={{ fontSize: 15, fontWeight: 700, color: '#F8FAFC', width: 96 }}&gt;记忆层&lt;/Text&gt;&#10;                &lt;Text style={{ fontSize: 14, color: 'rgba(248,250,252,0.62)' }}&gt;短期 Redis（跑内存降级）｜ 长期 SQLite ｜ 语义字符 bigram Jaccard&lt;/Text&gt;&#10;            &lt;/Box&gt;&#10;&#10;            &lt;Box style={{ height: 42, flexDirection: 'row', alignItems: 'center', background: '#16223A', border: '1px solid rgba(248,250,252,0.10)', borderRadius: 6, paddingLeft: 20, paddingRight: 20, gap: 20 }}&gt;&#10;                &lt;Text style={{ fontSize: 15, fontWeight: 700, color: '#F8FAFC', width: 96 }}&gt;数据层&lt;/Text&gt;&#10;                &lt;Text style={{ fontSize: 14, color: 'rgba(248,250,252,0.62)' }}&gt;SQLite：family · custom_scene · device · room · device_seed_log&lt;/Text&gt;&#10;            &lt;/Box&gt;&#10;        &lt;/Box&gt;&#10;&#10;        &lt;Box style={{ height: 240, flexDirection: 'row', gap: 24 }}&gt;&#10;            &lt;Box style={{ width: 690, background: '#16223A', border: '1px solid rgba(248,250,252,0.10)', borderRadius: 10, padding: '26px 28px' }}&gt;&#10;                &lt;Text style={{ fontSize: 22, fontWeight: 700, color: '#F8FAFC' }}&gt;真正让它不像玩具的，是工具层&lt;/Text&gt;&#10;                &lt;Text style={{ fontSize: 18, color: 'rgba(248,250,252,0.62)', lineHeight: 1.75, marginTop: 14 }}&gt;&#10;                    超时、重试、熔断（30 秒半开）、幂等、降级，全部内建在注册中心里——&lt;br /&gt;&#10;                    业务 handler 只管干活，不操心这些。&lt;br /&gt;&#10;                    &lt;span style={{ color: '#38BDF8' }}&gt;好处是答辩时能指着代码讲：策略在哪一行、为什么是这个值。&lt;/span&gt;&#10;                &lt;/Text&gt;&#10;            &lt;/Box&gt;&#10;&#10;            &lt;Box style={{ width: 438, background: 'rgba(56,189,248,0.06)', border: '1px solid rgba(56,189,248,0.28)', borderRadius: 10, padding: '26px 28px' }}&gt;&#10;                &lt;Text style={{ fontSize: 13, color: '#38BDF8', letterSpacing: 2, fontWeight: 700 }}&gt;一句话判断&lt;/Text&gt;&#10;                &lt;Text style={{ fontSize: 21, fontWeight: 700, color: '#F8FAFC', lineHeight: 1.6, marginTop: 16 }}&gt;&#10;                    六个层里，只有编排层和工具层是我真正花时间的地方。&#10;                &lt;/Text&gt;&#10;                &lt;Text style={{ fontSize: 17, color: 'rgba(248,250,252,0.58)', lineHeight: 1.75, marginTop: 14 }}&gt;&#10;                    其余四层要么是现成的，要么是降级实现。&#10;                &lt;/Text&gt;&#10;            &lt;/Box&gt;&#10;        &lt;/Box&gt;&#10;    &lt;/Box&gt;&#10;&#10;    &lt;Box style={{ height: 64, paddingLeft: 64, paddingRight: 64, flexDirection: 'row', justifyContent: 'space-between', alignItems: 'center' }}&gt;&#10;        &lt;Text style={{ fontSize: 13, color: 'rgba(248,250,252,0.40)' }}&gt;HomeMind · 智能家居多智能体中枢&lt;/Text&gt;&#10;        &lt;Text style={{ fontSize: 13, color: 'rgba(248,250,252,0.40)', fontFamily: 'Consolas' }}&gt;04 / 13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120"/>
          </a:solidFill>
          <a:ln/>
        </p:spPr>
        <p:txBody>
          <a:bodyPr/>
          <a:p/>
        </p:txBody>
      </p:sp>
      <p:sp>
        <p:nvSpPr>
          <p:cNvPr id="166" name=""/>
          <p:cNvSpPr/>
          <p:nvPr/>
        </p:nvSpPr>
        <p:spPr>
          <a:xfrm rot="0" flipH="0" flipV="0">
            <a:off x="609600" y="523875"/>
            <a:ext cx="38100" cy="323850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p/>
        </p:txBody>
      </p:sp>
      <p:sp>
        <p:nvSpPr>
          <p:cNvPr id="167" name="" descr="{&quot;isTemplate&quot;:true,&quot;type&quot;:&quot;text&quot;}"/>
          <p:cNvSpPr txBox="1"/>
          <p:nvPr/>
        </p:nvSpPr>
        <p:spPr>
          <a:xfrm rot="0" flipH="0" flipV="0">
            <a:off x="819150" y="476250"/>
            <a:ext cx="2781300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700" b="1" spc="38">
                <a:solidFill>
                  <a:srgbClr val="F8FAFC"/>
                </a:solidFill>
                <a:latin typeface="微软雅黑"/>
                <a:ea typeface="微软雅黑"/>
              </a:rPr>
              <a:t>六层架构，两张图</a:t>
            </a:r>
            <a:endParaRPr/>
          </a:p>
        </p:txBody>
      </p:sp>
      <p:sp>
        <p:nvSpPr>
          <p:cNvPr id="168" name=""/>
          <p:cNvSpPr/>
          <p:nvPr/>
        </p:nvSpPr>
        <p:spPr>
          <a:xfrm rot="0" flipH="0" flipV="0">
            <a:off x="609600" y="1047750"/>
            <a:ext cx="10972800" cy="400050"/>
          </a:xfrm>
          <a:prstGeom prst="roundRect">
            <a:avLst>
              <a:gd name="adj" fmla="val 14286"/>
            </a:avLst>
          </a:prstGeom>
          <a:solidFill>
            <a:srgbClr val="16223A"/>
          </a:solidFill>
          <a:ln w="12700">
            <a:solidFill>
              <a:srgbClr val="F8FAFC">
                <a:alpha val="1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69" name="" descr="{&quot;isTemplate&quot;:true,&quot;type&quot;:&quot;text&quot;}"/>
          <p:cNvSpPr txBox="1"/>
          <p:nvPr/>
        </p:nvSpPr>
        <p:spPr>
          <a:xfrm rot="0" flipH="0" flipV="0">
            <a:off x="800100" y="1162050"/>
            <a:ext cx="9144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F8FAFC"/>
                </a:solidFill>
                <a:latin typeface="微软雅黑"/>
                <a:ea typeface="微软雅黑"/>
              </a:rPr>
              <a:t>交互层</a:t>
            </a:r>
            <a:endParaRPr/>
          </a:p>
        </p:txBody>
      </p:sp>
      <p:sp>
        <p:nvSpPr>
          <p:cNvPr id="170" name="" descr="{&quot;isTemplate&quot;:true,&quot;type&quot;:&quot;text&quot;}"/>
          <p:cNvSpPr txBox="1"/>
          <p:nvPr/>
        </p:nvSpPr>
        <p:spPr>
          <a:xfrm rot="0" flipH="0" flipV="0">
            <a:off x="1905000" y="1171575"/>
            <a:ext cx="32099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F8FAFC">
                    <a:alpha val="62000"/>
                  </a:srgbClr>
                </a:solidFill>
                <a:latin typeface="微软雅黑"/>
                <a:ea typeface="微软雅黑"/>
              </a:rPr>
              <a:t>原生</a:t>
            </a:r>
            <a:r>
              <a:rPr lang="en-US" sz="1050">
                <a:solidFill>
                  <a:srgbClr val="F8FAFC">
                    <a:alpha val="62000"/>
                  </a:srgbClr>
                </a:solidFill>
                <a:latin typeface="微软雅黑"/>
                <a:ea typeface="微软雅黑"/>
              </a:rPr>
              <a:t xml:space="preserve"> Web</a:t>
            </a:r>
            <a:r>
              <a:rPr lang="zh-CN" sz="1050">
                <a:solidFill>
                  <a:srgbClr val="F8FAFC">
                    <a:alpha val="62000"/>
                  </a:srgbClr>
                </a:solidFill>
                <a:latin typeface="微软雅黑"/>
                <a:ea typeface="微软雅黑"/>
              </a:rPr>
              <a:t>（零构建）·</a:t>
            </a:r>
            <a:r>
              <a:rPr lang="en-US" sz="1050">
                <a:solidFill>
                  <a:srgbClr val="F8FAFC">
                    <a:alpha val="62000"/>
                  </a:srgbClr>
                </a:solidFill>
                <a:latin typeface="微软雅黑"/>
                <a:ea typeface="微软雅黑"/>
              </a:rPr>
              <a:t xml:space="preserve"> Gradio </a:t>
            </a:r>
            <a:r>
              <a:rPr lang="zh-CN" sz="1050">
                <a:solidFill>
                  <a:srgbClr val="F8FAFC">
                    <a:alpha val="62000"/>
                  </a:srgbClr>
                </a:solidFill>
                <a:latin typeface="微软雅黑"/>
                <a:ea typeface="微软雅黑"/>
              </a:rPr>
              <a:t>演示</a:t>
            </a:r>
            <a:r>
              <a:rPr lang="en-US" sz="1050">
                <a:solidFill>
                  <a:srgbClr val="F8FAFC">
                    <a:alpha val="62000"/>
                  </a:srgbClr>
                </a:solidFill>
                <a:latin typeface="微软雅黑"/>
                <a:ea typeface="微软雅黑"/>
              </a:rPr>
              <a:t xml:space="preserve"> · FastAPI + Uvicorn</a:t>
            </a:r>
            <a:endParaRPr/>
          </a:p>
        </p:txBody>
      </p:sp>
      <p:sp>
        <p:nvSpPr>
          <p:cNvPr id="171" name=""/>
          <p:cNvSpPr/>
          <p:nvPr/>
        </p:nvSpPr>
        <p:spPr>
          <a:xfrm rot="0" flipH="0" flipV="0">
            <a:off x="609600" y="1504950"/>
            <a:ext cx="10972800" cy="400050"/>
          </a:xfrm>
          <a:prstGeom prst="roundRect">
            <a:avLst>
              <a:gd name="adj" fmla="val 14286"/>
            </a:avLst>
          </a:prstGeom>
          <a:solidFill>
            <a:srgbClr val="38BDF8">
              <a:alpha val="10000"/>
            </a:srgbClr>
          </a:solidFill>
          <a:ln w="12700">
            <a:solidFill>
              <a:srgbClr val="38BDF8">
                <a:alpha val="4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72" name="" descr="{&quot;isTemplate&quot;:true,&quot;type&quot;:&quot;text&quot;}"/>
          <p:cNvSpPr txBox="1"/>
          <p:nvPr/>
        </p:nvSpPr>
        <p:spPr>
          <a:xfrm rot="0" flipH="0" flipV="0">
            <a:off x="800100" y="1619250"/>
            <a:ext cx="9144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38BDF8"/>
                </a:solidFill>
                <a:latin typeface="微软雅黑"/>
                <a:ea typeface="微软雅黑"/>
              </a:rPr>
              <a:t>编排层</a:t>
            </a:r>
            <a:endParaRPr/>
          </a:p>
        </p:txBody>
      </p:sp>
      <p:sp>
        <p:nvSpPr>
          <p:cNvPr id="173" name="" descr="{&quot;isTemplate&quot;:true,&quot;type&quot;:&quot;text&quot;}"/>
          <p:cNvSpPr txBox="1"/>
          <p:nvPr/>
        </p:nvSpPr>
        <p:spPr>
          <a:xfrm rot="0" flipH="0" flipV="0">
            <a:off x="1905000" y="1628775"/>
            <a:ext cx="43719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F8FAFC">
                    <a:alpha val="80000"/>
                  </a:srgbClr>
                </a:solidFill>
                <a:latin typeface="微软雅黑"/>
                <a:ea typeface="微软雅黑"/>
              </a:rPr>
              <a:t xml:space="preserve">LangGraph </a:t>
            </a:r>
            <a:r>
              <a:rPr lang="zh-CN" sz="1050">
                <a:solidFill>
                  <a:srgbClr val="F8FAFC">
                    <a:alpha val="80000"/>
                  </a:srgbClr>
                </a:solidFill>
                <a:latin typeface="微软雅黑"/>
                <a:ea typeface="微软雅黑"/>
              </a:rPr>
              <a:t>两张图</a:t>
            </a:r>
            <a:r>
              <a:rPr lang="en-US" sz="1050">
                <a:solidFill>
                  <a:srgbClr val="F8FAFC">
                    <a:alpha val="80000"/>
                  </a:srgbClr>
                </a:solidFill>
                <a:latin typeface="微软雅黑"/>
                <a:ea typeface="微软雅黑"/>
              </a:rPr>
              <a:t xml:space="preserve"> —— </a:t>
            </a:r>
            <a:r>
              <a:rPr lang="zh-CN" sz="1050">
                <a:solidFill>
                  <a:srgbClr val="F8FAFC">
                    <a:alpha val="80000"/>
                  </a:srgbClr>
                </a:solidFill>
                <a:latin typeface="微软雅黑"/>
                <a:ea typeface="微软雅黑"/>
              </a:rPr>
              <a:t>单</a:t>
            </a:r>
            <a:r>
              <a:rPr lang="en-US" sz="1050">
                <a:solidFill>
                  <a:srgbClr val="F8FAFC">
                    <a:alpha val="80000"/>
                  </a:srgbClr>
                </a:solidFill>
                <a:latin typeface="微软雅黑"/>
                <a:ea typeface="微软雅黑"/>
              </a:rPr>
              <a:t xml:space="preserve"> Agent </a:t>
            </a:r>
            <a:r>
              <a:rPr lang="zh-CN" sz="1050">
                <a:solidFill>
                  <a:srgbClr val="F8FAFC">
                    <a:alpha val="80000"/>
                  </a:srgbClr>
                </a:solidFill>
                <a:latin typeface="微软雅黑"/>
                <a:ea typeface="微软雅黑"/>
              </a:rPr>
              <a:t>主图（</a:t>
            </a:r>
            <a:r>
              <a:rPr lang="en-US" sz="1050">
                <a:solidFill>
                  <a:srgbClr val="F8FAFC">
                    <a:alpha val="80000"/>
                  </a:srgbClr>
                </a:solidFill>
                <a:latin typeface="微软雅黑"/>
                <a:ea typeface="微软雅黑"/>
              </a:rPr>
              <a:t xml:space="preserve">6 </a:t>
            </a:r>
            <a:r>
              <a:rPr lang="zh-CN" sz="1050">
                <a:solidFill>
                  <a:srgbClr val="F8FAFC">
                    <a:alpha val="80000"/>
                  </a:srgbClr>
                </a:solidFill>
                <a:latin typeface="微软雅黑"/>
                <a:ea typeface="微软雅黑"/>
              </a:rPr>
              <a:t>节点）</a:t>
            </a:r>
            <a:r>
              <a:rPr lang="en-US" sz="1050">
                <a:solidFill>
                  <a:srgbClr val="F8FAFC">
                    <a:alpha val="80000"/>
                  </a:srgbClr>
                </a:solidFill>
                <a:latin typeface="微软雅黑"/>
                <a:ea typeface="微软雅黑"/>
              </a:rPr>
              <a:t xml:space="preserve">+ Supervisor </a:t>
            </a:r>
            <a:r>
              <a:rPr lang="zh-CN" sz="1050">
                <a:solidFill>
                  <a:srgbClr val="F8FAFC">
                    <a:alpha val="80000"/>
                  </a:srgbClr>
                </a:solidFill>
                <a:latin typeface="微软雅黑"/>
                <a:ea typeface="微软雅黑"/>
              </a:rPr>
              <a:t>多</a:t>
            </a:r>
            <a:r>
              <a:rPr lang="en-US" sz="1050">
                <a:solidFill>
                  <a:srgbClr val="F8FAFC">
                    <a:alpha val="80000"/>
                  </a:srgbClr>
                </a:solidFill>
                <a:latin typeface="微软雅黑"/>
                <a:ea typeface="微软雅黑"/>
              </a:rPr>
              <a:t xml:space="preserve"> Agent </a:t>
            </a:r>
            <a:r>
              <a:rPr lang="zh-CN" sz="1050">
                <a:solidFill>
                  <a:srgbClr val="F8FAFC">
                    <a:alpha val="80000"/>
                  </a:srgbClr>
                </a:solidFill>
                <a:latin typeface="微软雅黑"/>
                <a:ea typeface="微软雅黑"/>
              </a:rPr>
              <a:t>图</a:t>
            </a:r>
            <a:endParaRPr/>
          </a:p>
        </p:txBody>
      </p:sp>
      <p:sp>
        <p:nvSpPr>
          <p:cNvPr id="174" name=""/>
          <p:cNvSpPr/>
          <p:nvPr/>
        </p:nvSpPr>
        <p:spPr>
          <a:xfrm rot="0" flipH="0" flipV="0">
            <a:off x="609600" y="1962150"/>
            <a:ext cx="10972800" cy="400050"/>
          </a:xfrm>
          <a:prstGeom prst="roundRect">
            <a:avLst>
              <a:gd name="adj" fmla="val 14286"/>
            </a:avLst>
          </a:prstGeom>
          <a:solidFill>
            <a:srgbClr val="16223A"/>
          </a:solidFill>
          <a:ln w="12700">
            <a:solidFill>
              <a:srgbClr val="F8FAFC">
                <a:alpha val="1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75" name="" descr="{&quot;isTemplate&quot;:true,&quot;type&quot;:&quot;text&quot;}"/>
          <p:cNvSpPr txBox="1"/>
          <p:nvPr/>
        </p:nvSpPr>
        <p:spPr>
          <a:xfrm rot="0" flipH="0" flipV="0">
            <a:off x="800100" y="2076450"/>
            <a:ext cx="9144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F8FAFC"/>
                </a:solidFill>
                <a:latin typeface="微软雅黑"/>
                <a:ea typeface="微软雅黑"/>
              </a:rPr>
              <a:t>模型层</a:t>
            </a:r>
            <a:endParaRPr/>
          </a:p>
        </p:txBody>
      </p:sp>
      <p:sp>
        <p:nvSpPr>
          <p:cNvPr id="176" name="" descr="{&quot;isTemplate&quot;:true,&quot;type&quot;:&quot;text&quot;}"/>
          <p:cNvSpPr txBox="1"/>
          <p:nvPr/>
        </p:nvSpPr>
        <p:spPr>
          <a:xfrm rot="0" flipH="0" flipV="0">
            <a:off x="1905000" y="2085975"/>
            <a:ext cx="42100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F8FAFC">
                    <a:alpha val="62000"/>
                  </a:srgbClr>
                </a:solidFill>
                <a:latin typeface="微软雅黑"/>
                <a:ea typeface="微软雅黑"/>
              </a:rPr>
              <a:t>LLMClient</a:t>
            </a:r>
            <a:r>
              <a:rPr lang="zh-CN" sz="1050">
                <a:solidFill>
                  <a:srgbClr val="F8FAFC">
                    <a:alpha val="62000"/>
                  </a:srgbClr>
                </a:solidFill>
                <a:latin typeface="微软雅黑"/>
                <a:ea typeface="微软雅黑"/>
              </a:rPr>
              <a:t>（</a:t>
            </a:r>
            <a:r>
              <a:rPr lang="en-US" sz="1050">
                <a:solidFill>
                  <a:srgbClr val="F8FAFC">
                    <a:alpha val="62000"/>
                  </a:srgbClr>
                </a:solidFill>
                <a:latin typeface="微软雅黑"/>
                <a:ea typeface="微软雅黑"/>
              </a:rPr>
              <a:t xml:space="preserve">OpenAI </a:t>
            </a:r>
            <a:r>
              <a:rPr lang="zh-CN" sz="1050">
                <a:solidFill>
                  <a:srgbClr val="F8FAFC">
                    <a:alpha val="62000"/>
                  </a:srgbClr>
                </a:solidFill>
                <a:latin typeface="微软雅黑"/>
                <a:ea typeface="微软雅黑"/>
              </a:rPr>
              <a:t>兼容协议）→</a:t>
            </a:r>
            <a:r>
              <a:rPr lang="en-US" sz="1050">
                <a:solidFill>
                  <a:srgbClr val="F8FAFC">
                    <a:alpha val="62000"/>
                  </a:srgbClr>
                </a:solidFill>
                <a:latin typeface="微软雅黑"/>
                <a:ea typeface="微软雅黑"/>
              </a:rPr>
              <a:t xml:space="preserve"> DeepSeek </a:t>
            </a:r>
            <a:r>
              <a:rPr lang="zh-CN" sz="1050">
                <a:solidFill>
                  <a:srgbClr val="F8FAFC">
                    <a:alpha val="62000"/>
                  </a:srgbClr>
                </a:solidFill>
                <a:latin typeface="微软雅黑"/>
                <a:ea typeface="微软雅黑"/>
              </a:rPr>
              <a:t>实测打通</a:t>
            </a:r>
            <a:r>
              <a:rPr lang="en-US" sz="1050">
                <a:solidFill>
                  <a:srgbClr val="F8FAFC">
                    <a:alpha val="62000"/>
                  </a:srgbClr>
                </a:solidFill>
                <a:latin typeface="微软雅黑"/>
                <a:ea typeface="微软雅黑"/>
              </a:rPr>
              <a:t xml:space="preserve"> </a:t>
            </a:r>
            <a:r>
              <a:rPr lang="zh-CN" sz="1050">
                <a:solidFill>
                  <a:srgbClr val="F8FAFC">
                    <a:alpha val="62000"/>
                  </a:srgbClr>
                </a:solidFill>
                <a:latin typeface="微软雅黑"/>
                <a:ea typeface="微软雅黑"/>
              </a:rPr>
              <a:t>｜</a:t>
            </a:r>
            <a:r>
              <a:rPr lang="en-US" sz="1050">
                <a:solidFill>
                  <a:srgbClr val="F8FAFC">
                    <a:alpha val="62000"/>
                  </a:srgbClr>
                </a:solidFill>
                <a:latin typeface="微软雅黑"/>
                <a:ea typeface="微软雅黑"/>
              </a:rPr>
              <a:t xml:space="preserve"> </a:t>
            </a:r>
            <a:r>
              <a:rPr lang="zh-CN" sz="1050">
                <a:solidFill>
                  <a:srgbClr val="F8FAFC">
                    <a:alpha val="62000"/>
                  </a:srgbClr>
                </a:solidFill>
                <a:latin typeface="微软雅黑"/>
                <a:ea typeface="微软雅黑"/>
              </a:rPr>
              <a:t>规则引擎兜底</a:t>
            </a:r>
            <a:endParaRPr/>
          </a:p>
        </p:txBody>
      </p:sp>
      <p:sp>
        <p:nvSpPr>
          <p:cNvPr id="177" name=""/>
          <p:cNvSpPr/>
          <p:nvPr/>
        </p:nvSpPr>
        <p:spPr>
          <a:xfrm rot="0" flipH="0" flipV="0">
            <a:off x="609600" y="2419350"/>
            <a:ext cx="10972800" cy="400050"/>
          </a:xfrm>
          <a:prstGeom prst="roundRect">
            <a:avLst>
              <a:gd name="adj" fmla="val 14286"/>
            </a:avLst>
          </a:prstGeom>
          <a:solidFill>
            <a:srgbClr val="38BDF8">
              <a:alpha val="10000"/>
            </a:srgbClr>
          </a:solidFill>
          <a:ln w="12700">
            <a:solidFill>
              <a:srgbClr val="38BDF8">
                <a:alpha val="4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78" name="" descr="{&quot;isTemplate&quot;:true,&quot;type&quot;:&quot;text&quot;}"/>
          <p:cNvSpPr txBox="1"/>
          <p:nvPr/>
        </p:nvSpPr>
        <p:spPr>
          <a:xfrm rot="0" flipH="0" flipV="0">
            <a:off x="800100" y="2533650"/>
            <a:ext cx="9144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38BDF8"/>
                </a:solidFill>
                <a:latin typeface="微软雅黑"/>
                <a:ea typeface="微软雅黑"/>
              </a:rPr>
              <a:t>工具层</a:t>
            </a:r>
            <a:endParaRPr/>
          </a:p>
        </p:txBody>
      </p:sp>
      <p:sp>
        <p:nvSpPr>
          <p:cNvPr id="179" name="" descr="{&quot;isTemplate&quot;:true,&quot;type&quot;:&quot;text&quot;}"/>
          <p:cNvSpPr txBox="1"/>
          <p:nvPr/>
        </p:nvSpPr>
        <p:spPr>
          <a:xfrm rot="0" flipH="0" flipV="0">
            <a:off x="1905000" y="2543175"/>
            <a:ext cx="4667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F8FAFC">
                    <a:alpha val="80000"/>
                  </a:srgbClr>
                </a:solidFill>
                <a:latin typeface="微软雅黑"/>
                <a:ea typeface="微软雅黑"/>
              </a:rPr>
              <a:t>自建</a:t>
            </a:r>
            <a:r>
              <a:rPr lang="en-US" sz="1050">
                <a:solidFill>
                  <a:srgbClr val="F8FAFC">
                    <a:alpha val="80000"/>
                  </a:srgbClr>
                </a:solidFill>
                <a:latin typeface="微软雅黑"/>
                <a:ea typeface="微软雅黑"/>
              </a:rPr>
              <a:t xml:space="preserve"> ToolRegistry —— </a:t>
            </a:r>
            <a:r>
              <a:rPr lang="zh-CN" sz="1050">
                <a:solidFill>
                  <a:srgbClr val="F8FAFC">
                    <a:alpha val="80000"/>
                  </a:srgbClr>
                </a:solidFill>
                <a:latin typeface="微软雅黑"/>
                <a:ea typeface="微软雅黑"/>
              </a:rPr>
              <a:t>超时</a:t>
            </a:r>
            <a:r>
              <a:rPr lang="en-US" sz="1050">
                <a:solidFill>
                  <a:srgbClr val="F8FAFC">
                    <a:alpha val="80000"/>
                  </a:srgbClr>
                </a:solidFill>
                <a:latin typeface="微软雅黑"/>
                <a:ea typeface="微软雅黑"/>
              </a:rPr>
              <a:t xml:space="preserve"> / </a:t>
            </a:r>
            <a:r>
              <a:rPr lang="zh-CN" sz="1050">
                <a:solidFill>
                  <a:srgbClr val="F8FAFC">
                    <a:alpha val="80000"/>
                  </a:srgbClr>
                </a:solidFill>
                <a:latin typeface="微软雅黑"/>
                <a:ea typeface="微软雅黑"/>
              </a:rPr>
              <a:t>重试</a:t>
            </a:r>
            <a:r>
              <a:rPr lang="en-US" sz="1050">
                <a:solidFill>
                  <a:srgbClr val="F8FAFC">
                    <a:alpha val="80000"/>
                  </a:srgbClr>
                </a:solidFill>
                <a:latin typeface="微软雅黑"/>
                <a:ea typeface="微软雅黑"/>
              </a:rPr>
              <a:t xml:space="preserve"> / </a:t>
            </a:r>
            <a:r>
              <a:rPr lang="zh-CN" sz="1050">
                <a:solidFill>
                  <a:srgbClr val="F8FAFC">
                    <a:alpha val="80000"/>
                  </a:srgbClr>
                </a:solidFill>
                <a:latin typeface="微软雅黑"/>
                <a:ea typeface="微软雅黑"/>
              </a:rPr>
              <a:t>熔断</a:t>
            </a:r>
            <a:r>
              <a:rPr lang="en-US" sz="1050">
                <a:solidFill>
                  <a:srgbClr val="F8FAFC">
                    <a:alpha val="80000"/>
                  </a:srgbClr>
                </a:solidFill>
                <a:latin typeface="微软雅黑"/>
                <a:ea typeface="微软雅黑"/>
              </a:rPr>
              <a:t xml:space="preserve"> / </a:t>
            </a:r>
            <a:r>
              <a:rPr lang="zh-CN" sz="1050">
                <a:solidFill>
                  <a:srgbClr val="F8FAFC">
                    <a:alpha val="80000"/>
                  </a:srgbClr>
                </a:solidFill>
                <a:latin typeface="微软雅黑"/>
                <a:ea typeface="微软雅黑"/>
              </a:rPr>
              <a:t>幂等，</a:t>
            </a:r>
            <a:r>
              <a:rPr lang="en-US" sz="1050">
                <a:solidFill>
                  <a:srgbClr val="F8FAFC">
                    <a:alpha val="80000"/>
                  </a:srgbClr>
                </a:solidFill>
                <a:latin typeface="微软雅黑"/>
                <a:ea typeface="微软雅黑"/>
              </a:rPr>
              <a:t xml:space="preserve">5 </a:t>
            </a:r>
            <a:r>
              <a:rPr lang="zh-CN" sz="1050">
                <a:solidFill>
                  <a:srgbClr val="F8FAFC">
                    <a:alpha val="80000"/>
                  </a:srgbClr>
                </a:solidFill>
                <a:latin typeface="微软雅黑"/>
                <a:ea typeface="微软雅黑"/>
              </a:rPr>
              <a:t>个工具，</a:t>
            </a:r>
            <a:r>
              <a:rPr lang="en-US" sz="1050">
                <a:solidFill>
                  <a:srgbClr val="F8FAFC">
                    <a:alpha val="80000"/>
                  </a:srgbClr>
                </a:solidFill>
                <a:latin typeface="微软雅黑"/>
                <a:ea typeface="微软雅黑"/>
              </a:rPr>
              <a:t xml:space="preserve">MCP </a:t>
            </a:r>
            <a:r>
              <a:rPr lang="zh-CN" sz="1050">
                <a:solidFill>
                  <a:srgbClr val="F8FAFC">
                    <a:alpha val="80000"/>
                  </a:srgbClr>
                </a:solidFill>
                <a:latin typeface="微软雅黑"/>
                <a:ea typeface="微软雅黑"/>
              </a:rPr>
              <a:t>风格</a:t>
            </a:r>
            <a:r>
              <a:rPr lang="en-US" sz="1050">
                <a:solidFill>
                  <a:srgbClr val="F8FAFC">
                    <a:alpha val="80000"/>
                  </a:srgbClr>
                </a:solidFill>
                <a:latin typeface="微软雅黑"/>
                <a:ea typeface="微软雅黑"/>
              </a:rPr>
              <a:t xml:space="preserve"> Schema</a:t>
            </a:r>
            <a:endParaRPr/>
          </a:p>
        </p:txBody>
      </p:sp>
      <p:sp>
        <p:nvSpPr>
          <p:cNvPr id="180" name=""/>
          <p:cNvSpPr/>
          <p:nvPr/>
        </p:nvSpPr>
        <p:spPr>
          <a:xfrm rot="0" flipH="0" flipV="0">
            <a:off x="609600" y="2876550"/>
            <a:ext cx="10972800" cy="400050"/>
          </a:xfrm>
          <a:prstGeom prst="roundRect">
            <a:avLst>
              <a:gd name="adj" fmla="val 14286"/>
            </a:avLst>
          </a:prstGeom>
          <a:solidFill>
            <a:srgbClr val="16223A"/>
          </a:solidFill>
          <a:ln w="12700">
            <a:solidFill>
              <a:srgbClr val="F8FAFC">
                <a:alpha val="1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81" name="" descr="{&quot;isTemplate&quot;:true,&quot;type&quot;:&quot;text&quot;}"/>
          <p:cNvSpPr txBox="1"/>
          <p:nvPr/>
        </p:nvSpPr>
        <p:spPr>
          <a:xfrm rot="0" flipH="0" flipV="0">
            <a:off x="800100" y="2990850"/>
            <a:ext cx="9144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F8FAFC"/>
                </a:solidFill>
                <a:latin typeface="微软雅黑"/>
                <a:ea typeface="微软雅黑"/>
              </a:rPr>
              <a:t>记忆层</a:t>
            </a:r>
            <a:endParaRPr/>
          </a:p>
        </p:txBody>
      </p:sp>
      <p:sp>
        <p:nvSpPr>
          <p:cNvPr id="182" name="" descr="{&quot;isTemplate&quot;:true,&quot;type&quot;:&quot;text&quot;}"/>
          <p:cNvSpPr txBox="1"/>
          <p:nvPr/>
        </p:nvSpPr>
        <p:spPr>
          <a:xfrm rot="0" flipH="0" flipV="0">
            <a:off x="1905000" y="3000375"/>
            <a:ext cx="41052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F8FAFC">
                    <a:alpha val="62000"/>
                  </a:srgbClr>
                </a:solidFill>
                <a:latin typeface="微软雅黑"/>
                <a:ea typeface="微软雅黑"/>
              </a:rPr>
              <a:t>短期</a:t>
            </a:r>
            <a:r>
              <a:rPr lang="en-US" sz="1050">
                <a:solidFill>
                  <a:srgbClr val="F8FAFC">
                    <a:alpha val="62000"/>
                  </a:srgbClr>
                </a:solidFill>
                <a:latin typeface="微软雅黑"/>
                <a:ea typeface="微软雅黑"/>
              </a:rPr>
              <a:t xml:space="preserve"> Redis</a:t>
            </a:r>
            <a:r>
              <a:rPr lang="zh-CN" sz="1050">
                <a:solidFill>
                  <a:srgbClr val="F8FAFC">
                    <a:alpha val="62000"/>
                  </a:srgbClr>
                </a:solidFill>
                <a:latin typeface="微软雅黑"/>
                <a:ea typeface="微软雅黑"/>
              </a:rPr>
              <a:t>（跑内存降级）｜</a:t>
            </a:r>
            <a:r>
              <a:rPr lang="en-US" sz="1050">
                <a:solidFill>
                  <a:srgbClr val="F8FAFC">
                    <a:alpha val="62000"/>
                  </a:srgbClr>
                </a:solidFill>
                <a:latin typeface="微软雅黑"/>
                <a:ea typeface="微软雅黑"/>
              </a:rPr>
              <a:t xml:space="preserve"> </a:t>
            </a:r>
            <a:r>
              <a:rPr lang="zh-CN" sz="1050">
                <a:solidFill>
                  <a:srgbClr val="F8FAFC">
                    <a:alpha val="62000"/>
                  </a:srgbClr>
                </a:solidFill>
                <a:latin typeface="微软雅黑"/>
                <a:ea typeface="微软雅黑"/>
              </a:rPr>
              <a:t>长期</a:t>
            </a:r>
            <a:r>
              <a:rPr lang="en-US" sz="1050">
                <a:solidFill>
                  <a:srgbClr val="F8FAFC">
                    <a:alpha val="62000"/>
                  </a:srgbClr>
                </a:solidFill>
                <a:latin typeface="微软雅黑"/>
                <a:ea typeface="微软雅黑"/>
              </a:rPr>
              <a:t xml:space="preserve"> SQLite </a:t>
            </a:r>
            <a:r>
              <a:rPr lang="zh-CN" sz="1050">
                <a:solidFill>
                  <a:srgbClr val="F8FAFC">
                    <a:alpha val="62000"/>
                  </a:srgbClr>
                </a:solidFill>
                <a:latin typeface="微软雅黑"/>
                <a:ea typeface="微软雅黑"/>
              </a:rPr>
              <a:t>｜</a:t>
            </a:r>
            <a:r>
              <a:rPr lang="en-US" sz="1050">
                <a:solidFill>
                  <a:srgbClr val="F8FAFC">
                    <a:alpha val="62000"/>
                  </a:srgbClr>
                </a:solidFill>
                <a:latin typeface="微软雅黑"/>
                <a:ea typeface="微软雅黑"/>
              </a:rPr>
              <a:t xml:space="preserve"> </a:t>
            </a:r>
            <a:r>
              <a:rPr lang="zh-CN" sz="1050">
                <a:solidFill>
                  <a:srgbClr val="F8FAFC">
                    <a:alpha val="62000"/>
                  </a:srgbClr>
                </a:solidFill>
                <a:latin typeface="微软雅黑"/>
                <a:ea typeface="微软雅黑"/>
              </a:rPr>
              <a:t>语义字符</a:t>
            </a:r>
            <a:r>
              <a:rPr lang="en-US" sz="1050">
                <a:solidFill>
                  <a:srgbClr val="F8FAFC">
                    <a:alpha val="62000"/>
                  </a:srgbClr>
                </a:solidFill>
                <a:latin typeface="微软雅黑"/>
                <a:ea typeface="微软雅黑"/>
              </a:rPr>
              <a:t xml:space="preserve"> bigram Jaccard</a:t>
            </a:r>
            <a:endParaRPr/>
          </a:p>
        </p:txBody>
      </p:sp>
      <p:sp>
        <p:nvSpPr>
          <p:cNvPr id="183" name=""/>
          <p:cNvSpPr/>
          <p:nvPr/>
        </p:nvSpPr>
        <p:spPr>
          <a:xfrm rot="0" flipH="0" flipV="0">
            <a:off x="609600" y="3333750"/>
            <a:ext cx="10972800" cy="400050"/>
          </a:xfrm>
          <a:prstGeom prst="roundRect">
            <a:avLst>
              <a:gd name="adj" fmla="val 14286"/>
            </a:avLst>
          </a:prstGeom>
          <a:solidFill>
            <a:srgbClr val="16223A"/>
          </a:solidFill>
          <a:ln w="12700">
            <a:solidFill>
              <a:srgbClr val="F8FAFC">
                <a:alpha val="1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84" name="" descr="{&quot;isTemplate&quot;:true,&quot;type&quot;:&quot;text&quot;}"/>
          <p:cNvSpPr txBox="1"/>
          <p:nvPr/>
        </p:nvSpPr>
        <p:spPr>
          <a:xfrm rot="0" flipH="0" flipV="0">
            <a:off x="800100" y="3448050"/>
            <a:ext cx="9144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F8FAFC"/>
                </a:solidFill>
                <a:latin typeface="微软雅黑"/>
                <a:ea typeface="微软雅黑"/>
              </a:rPr>
              <a:t>数据层</a:t>
            </a:r>
            <a:endParaRPr/>
          </a:p>
        </p:txBody>
      </p:sp>
      <p:sp>
        <p:nvSpPr>
          <p:cNvPr id="185" name="" descr="{&quot;isTemplate&quot;:true,&quot;type&quot;:&quot;text&quot;}"/>
          <p:cNvSpPr txBox="1"/>
          <p:nvPr/>
        </p:nvSpPr>
        <p:spPr>
          <a:xfrm rot="0" flipH="0" flipV="0">
            <a:off x="1905000" y="3457575"/>
            <a:ext cx="38671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F8FAFC">
                    <a:alpha val="62000"/>
                  </a:srgbClr>
                </a:solidFill>
                <a:latin typeface="微软雅黑"/>
                <a:ea typeface="微软雅黑"/>
              </a:rPr>
              <a:t>SQLite</a:t>
            </a:r>
            <a:r>
              <a:rPr lang="zh-CN" sz="1050">
                <a:solidFill>
                  <a:srgbClr val="F8FAFC">
                    <a:alpha val="62000"/>
                  </a:srgbClr>
                </a:solidFill>
                <a:latin typeface="微软雅黑"/>
                <a:ea typeface="微软雅黑"/>
              </a:rPr>
              <a:t>：</a:t>
            </a:r>
            <a:r>
              <a:rPr lang="en-US" sz="1050">
                <a:solidFill>
                  <a:srgbClr val="F8FAFC">
                    <a:alpha val="62000"/>
                  </a:srgbClr>
                </a:solidFill>
                <a:latin typeface="微软雅黑"/>
                <a:ea typeface="微软雅黑"/>
              </a:rPr>
              <a:t>family · custom_scene · device · room · device_seed_log</a:t>
            </a:r>
            <a:endParaRPr/>
          </a:p>
        </p:txBody>
      </p:sp>
      <p:sp>
        <p:nvSpPr>
          <p:cNvPr id="186" name=""/>
          <p:cNvSpPr/>
          <p:nvPr/>
        </p:nvSpPr>
        <p:spPr>
          <a:xfrm rot="0" flipH="0" flipV="0">
            <a:off x="609600" y="3962400"/>
            <a:ext cx="6572250" cy="2286000"/>
          </a:xfrm>
          <a:prstGeom prst="roundRect">
            <a:avLst>
              <a:gd name="adj" fmla="val 4167"/>
            </a:avLst>
          </a:prstGeom>
          <a:solidFill>
            <a:srgbClr val="16223A"/>
          </a:solidFill>
          <a:ln w="12700">
            <a:solidFill>
              <a:srgbClr val="F8FAFC">
                <a:alpha val="1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87" name="" descr="{&quot;isTemplate&quot;:true,&quot;type&quot;:&quot;text&quot;}"/>
          <p:cNvSpPr txBox="1"/>
          <p:nvPr/>
        </p:nvSpPr>
        <p:spPr>
          <a:xfrm rot="0" flipH="0" flipV="0">
            <a:off x="876300" y="4210050"/>
            <a:ext cx="60388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F8FAFC"/>
                </a:solidFill>
                <a:latin typeface="微软雅黑"/>
                <a:ea typeface="微软雅黑"/>
              </a:rPr>
              <a:t>真正让它不像玩具的，是工具层</a:t>
            </a:r>
            <a:endParaRPr/>
          </a:p>
        </p:txBody>
      </p:sp>
      <p:sp>
        <p:nvSpPr>
          <p:cNvPr id="188" name="" descr="{&quot;isTemplate&quot;:true,&quot;type&quot;:&quot;text&quot;}"/>
          <p:cNvSpPr txBox="1"/>
          <p:nvPr/>
        </p:nvSpPr>
        <p:spPr>
          <a:xfrm rot="0" flipH="0" flipV="0">
            <a:off x="876300" y="4600575"/>
            <a:ext cx="6038850" cy="1085850"/>
          </a:xfrm>
          <a:prstGeom prst="rect"/>
        </p:spPr>
        <p:txBody>
          <a:bodyPr wrap="none" lIns="0" tIns="0" rIns="0" bIns="0"/>
          <a:p>
            <a:pPr>
              <a:lnSpc>
                <a:spcPct val="175000"/>
              </a:lnSpc>
            </a:pPr>
            <a:r>
              <a:rPr lang="zh-CN" sz="1350">
                <a:solidFill>
                  <a:srgbClr val="F8FAFC">
                    <a:alpha val="62000"/>
                  </a:srgbClr>
                </a:solidFill>
                <a:latin typeface="微软雅黑"/>
                <a:ea typeface="微软雅黑"/>
              </a:rPr>
              <a:t>超时、重试、熔断（</a:t>
            </a:r>
            <a:r>
              <a:rPr lang="en-US" sz="1350">
                <a:solidFill>
                  <a:srgbClr val="F8FAFC">
                    <a:alpha val="62000"/>
                  </a:srgbClr>
                </a:solidFill>
                <a:latin typeface="微软雅黑"/>
                <a:ea typeface="微软雅黑"/>
              </a:rPr>
              <a:t xml:space="preserve">30 </a:t>
            </a:r>
            <a:r>
              <a:rPr lang="zh-CN" sz="1350">
                <a:solidFill>
                  <a:srgbClr val="F8FAFC">
                    <a:alpha val="62000"/>
                  </a:srgbClr>
                </a:solidFill>
                <a:latin typeface="微软雅黑"/>
                <a:ea typeface="微软雅黑"/>
              </a:rPr>
              <a:t>秒半开）、幂等、降级，全部内建在注册中心里——</a:t>
            </a:r>
            <a:endParaRPr/>
          </a:p>
          <a:p>
            <a:pPr>
              <a:lnSpc>
                <a:spcPct val="175000"/>
              </a:lnSpc>
            </a:pPr>
            <a:r>
              <a:rPr lang="zh-CN" sz="1350">
                <a:solidFill>
                  <a:srgbClr val="F8FAFC">
                    <a:alpha val="62000"/>
                  </a:srgbClr>
                </a:solidFill>
                <a:latin typeface="微软雅黑"/>
                <a:ea typeface="微软雅黑"/>
              </a:rPr>
              <a:t>业务</a:t>
            </a:r>
            <a:r>
              <a:rPr lang="en-US" sz="1350">
                <a:solidFill>
                  <a:srgbClr val="F8FAFC">
                    <a:alpha val="62000"/>
                  </a:srgbClr>
                </a:solidFill>
                <a:latin typeface="微软雅黑"/>
                <a:ea typeface="微软雅黑"/>
              </a:rPr>
              <a:t xml:space="preserve"> handler </a:t>
            </a:r>
            <a:r>
              <a:rPr lang="zh-CN" sz="1350">
                <a:solidFill>
                  <a:srgbClr val="F8FAFC">
                    <a:alpha val="62000"/>
                  </a:srgbClr>
                </a:solidFill>
                <a:latin typeface="微软雅黑"/>
                <a:ea typeface="微软雅黑"/>
              </a:rPr>
              <a:t>只管干活，不操心这些。</a:t>
            </a:r>
            <a:endParaRPr/>
          </a:p>
          <a:p>
            <a:pPr>
              <a:lnSpc>
                <a:spcPct val="175000"/>
              </a:lnSpc>
            </a:pPr>
            <a:r>
              <a:rPr lang="zh-CN" sz="1350">
                <a:solidFill>
                  <a:srgbClr val="38BDF8"/>
                </a:solidFill>
                <a:latin typeface="微软雅黑"/>
                <a:ea typeface="微软雅黑"/>
              </a:rPr>
              <a:t>好处是答辩时能指着代码讲：策略在哪一行、为什么是这个值。</a:t>
            </a:r>
            <a:endParaRPr/>
          </a:p>
        </p:txBody>
      </p:sp>
      <p:sp>
        <p:nvSpPr>
          <p:cNvPr id="189" name=""/>
          <p:cNvSpPr/>
          <p:nvPr/>
        </p:nvSpPr>
        <p:spPr>
          <a:xfrm rot="0" flipH="0" flipV="0">
            <a:off x="7410450" y="3962400"/>
            <a:ext cx="4171950" cy="2286000"/>
          </a:xfrm>
          <a:prstGeom prst="roundRect">
            <a:avLst>
              <a:gd name="adj" fmla="val 4167"/>
            </a:avLst>
          </a:prstGeom>
          <a:solidFill>
            <a:srgbClr val="38BDF8">
              <a:alpha val="6000"/>
            </a:srgbClr>
          </a:solidFill>
          <a:ln w="12700">
            <a:solidFill>
              <a:srgbClr val="38BDF8">
                <a:alpha val="28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90" name="" descr="{&quot;isTemplate&quot;:true,&quot;type&quot;:&quot;text&quot;}"/>
          <p:cNvSpPr txBox="1"/>
          <p:nvPr/>
        </p:nvSpPr>
        <p:spPr>
          <a:xfrm rot="0" flipH="0" flipV="0">
            <a:off x="7677150" y="4210050"/>
            <a:ext cx="36385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b="1" spc="150">
                <a:solidFill>
                  <a:srgbClr val="38BDF8"/>
                </a:solidFill>
                <a:latin typeface="微软雅黑"/>
                <a:ea typeface="微软雅黑"/>
              </a:rPr>
              <a:t>一句话判断</a:t>
            </a:r>
            <a:endParaRPr/>
          </a:p>
        </p:txBody>
      </p:sp>
      <p:sp>
        <p:nvSpPr>
          <p:cNvPr id="191" name="" descr="{&quot;isTemplate&quot;:true,&quot;type&quot;:&quot;text&quot;}"/>
          <p:cNvSpPr txBox="1"/>
          <p:nvPr/>
        </p:nvSpPr>
        <p:spPr>
          <a:xfrm rot="0" flipH="0" flipV="0">
            <a:off x="7677150" y="4514850"/>
            <a:ext cx="3638550" cy="7715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575" b="1">
                <a:solidFill>
                  <a:srgbClr val="F8FAFC"/>
                </a:solidFill>
                <a:latin typeface="微软雅黑"/>
                <a:ea typeface="微软雅黑"/>
              </a:rPr>
              <a:t>六个层里，只有编排层和工具层是我真正花时间的地方。</a:t>
            </a:r>
            <a:endParaRPr/>
          </a:p>
        </p:txBody>
      </p:sp>
      <p:sp>
        <p:nvSpPr>
          <p:cNvPr id="192" name="" descr="{&quot;isTemplate&quot;:true,&quot;type&quot;:&quot;text&quot;}"/>
          <p:cNvSpPr txBox="1"/>
          <p:nvPr/>
        </p:nvSpPr>
        <p:spPr>
          <a:xfrm rot="0" flipH="0" flipV="0">
            <a:off x="7677150" y="5419725"/>
            <a:ext cx="3638550" cy="342900"/>
          </a:xfrm>
          <a:prstGeom prst="rect"/>
        </p:spPr>
        <p:txBody>
          <a:bodyPr wrap="none" lIns="0" tIns="0" rIns="0" bIns="0"/>
          <a:p>
            <a:pPr>
              <a:lnSpc>
                <a:spcPct val="175000"/>
              </a:lnSpc>
            </a:pPr>
            <a:r>
              <a:rPr lang="zh-CN" sz="1275">
                <a:solidFill>
                  <a:srgbClr val="F8FAFC">
                    <a:alpha val="58000"/>
                  </a:srgbClr>
                </a:solidFill>
                <a:latin typeface="微软雅黑"/>
                <a:ea typeface="微软雅黑"/>
              </a:rPr>
              <a:t>其余四层要么是现成的，要么是降级实现。</a:t>
            </a:r>
            <a:endParaRPr/>
          </a:p>
        </p:txBody>
      </p:sp>
      <p:sp>
        <p:nvSpPr>
          <p:cNvPr id="193" name="" descr="{&quot;isTemplate&quot;:true,&quot;type&quot;:&quot;text&quot;}"/>
          <p:cNvSpPr txBox="1"/>
          <p:nvPr/>
        </p:nvSpPr>
        <p:spPr>
          <a:xfrm rot="0" flipH="0" flipV="0">
            <a:off x="609600" y="6477000"/>
            <a:ext cx="19431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F8FAFC">
                    <a:alpha val="40000"/>
                  </a:srgbClr>
                </a:solidFill>
                <a:latin typeface="微软雅黑"/>
                <a:ea typeface="微软雅黑"/>
              </a:rPr>
              <a:t xml:space="preserve">HomeMind · </a:t>
            </a:r>
            <a:r>
              <a:rPr lang="zh-CN" sz="975">
                <a:solidFill>
                  <a:srgbClr val="F8FAFC">
                    <a:alpha val="40000"/>
                  </a:srgbClr>
                </a:solidFill>
                <a:latin typeface="微软雅黑"/>
                <a:ea typeface="微软雅黑"/>
              </a:rPr>
              <a:t>智能家居多智能体中枢</a:t>
            </a:r>
            <a:endParaRPr/>
          </a:p>
        </p:txBody>
      </p:sp>
      <p:sp>
        <p:nvSpPr>
          <p:cNvPr id="194" name="" descr="{&quot;isTemplate&quot;:true,&quot;type&quot;:&quot;text&quot;}"/>
          <p:cNvSpPr txBox="1"/>
          <p:nvPr/>
        </p:nvSpPr>
        <p:spPr>
          <a:xfrm rot="0" flipH="0" flipV="0">
            <a:off x="11096625" y="6477000"/>
            <a:ext cx="4857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F8FAFC">
                    <a:alpha val="40000"/>
                  </a:srgbClr>
                </a:solidFill>
                <a:latin typeface="Consolas"/>
                <a:ea typeface="Consolas"/>
              </a:rPr>
              <a:t>04 / 13</a:t>
            </a:r>
            <a:endParaRPr/>
          </a:p>
        </p:txBody>
      </p:sp>
    </p:spTree>
  </p:cSld>
</p:sld>
</file>

<file path=ppt/slides/slide5.xml><?xml version="1.0" encoding="utf-8"?>
<p:sld xmlns:p="http://schemas.openxmlformats.org/presentationml/2006/main" xmlns:a="http://schemas.openxmlformats.org/drawingml/2006/main">
  <p:cSld>
    <p:spTree>
      <p:nvGrpSpPr>
        <p:cNvPr id="195" name="" descr="&lt;Slide style={{ width: 1280, height: 720, position: 'relative', overflow: 'hidden', background: '#0B1120', fontFamily: '微软雅黑' }}&gt;&#10;    &lt;Box style={{ height: 110, paddingLeft: 64, paddingRight: 64, paddingTop: 34, flexDirection: 'row', alignItems: 'center', gap: 18 }}&gt;&#10;        &lt;Box style={{ width: 4, height: 34, background: '#38BDF8' }} /&gt;&#10;        &lt;Text style={{ fontSize: 36, fontWeight: 700, color: '#F8FAFC', letterSpacing: 0.5 }}&gt;一句&quot;打开卧室灯&quot;，中间走了六步&lt;/Text&gt;&#10;    &lt;/Box&gt;&#10;&#10;    &lt;Box style={{ height: 546, paddingLeft: 64, paddingRight: 64, flexDirection: 'row', gap: 44 }}&gt;&#10;        &lt;Box style={{ width: 668, flexDirection: 'column', gap: 10 }}&gt;&#10;            &lt;Box style={{ flex: 1, flexDirection: 'row', alignItems: 'center', gap: 16, background: '#16223A', border: '1px solid rgba(248,250,252,0.10)', borderRadius: 8, paddingLeft: 18, paddingRight: 18 }}&gt;&#10;                &lt;Text style={{ fontSize: 15, color: 'rgba(56,189,248,0.60)', fontFamily: 'Consolas', fontWeight: 700, width: 26 }}&gt;01&lt;/Text&gt;&#10;                &lt;Box style={{ width: 590 }}&gt;&#10;                    &lt;Text style={{ fontSize: 19, fontWeight: 700, color: '#F8FAFC' }}&gt;recall_memory &lt;span style={{ fontSize: 15, color: 'rgba(248,250,252,0.50)', fontWeight: 400 }}&gt;记忆召回&lt;/span&gt;&lt;/Text&gt;&#10;                    &lt;Text style={{ fontSize: 15, color: 'rgba(248,250,252,0.55)', marginTop: 5 }}&gt;三层加权召回，权限在这一步就过滤&lt;/Text&gt;&#10;                &lt;/Box&gt;&#10;            &lt;/Box&gt;&#10;&#10;            &lt;Box style={{ flex: 1, flexDirection: 'row', alignItems: 'center', gap: 16, background: '#16223A', border: '1px solid rgba(248,250,252,0.10)', borderRadius: 8, paddingLeft: 18, paddingRight: 18 }}&gt;&#10;                &lt;Text style={{ fontSize: 15, color: 'rgba(56,189,248,0.60)', fontFamily: 'Consolas', fontWeight: 700, width: 26 }}&gt;02&lt;/Text&gt;&#10;                &lt;Box style={{ width: 590 }}&gt;&#10;                    &lt;Text style={{ fontSize: 19, fontWeight: 700, color: '#F8FAFC' }}&gt;parse_intent &lt;span style={{ fontSize: 15, color: 'rgba(248,250,252,0.50)', fontWeight: 400 }}&gt;意图解析&lt;/span&gt;&lt;/Text&gt;&#10;                    &lt;Text style={{ fontSize: 15, color: 'rgba(248,250,252,0.55)', marginTop: 5 }}&gt;注入当前时间 + 读本家庭词表，规则优先、模型兜底&lt;/Text&gt;&#10;                &lt;/Box&gt;&#10;            &lt;/Box&gt;&#10;&#10;            &lt;Box style={{ flex: 1, flexDirection: 'row', alignItems: 'center', gap: 16, background: 'rgba(251,113,133,0.08)', border: '1px solid rgba(251,113,133,0.42)', borderRadius: 8, paddingLeft: 18, paddingRight: 18 }}&gt;&#10;                &lt;Text style={{ fontSize: 15, color: 'rgba(251,113,133,0.75)', fontFamily: 'Consolas', fontWeight: 700, width: 26 }}&gt;03&lt;/Text&gt;&#10;                &lt;Box style={{ width: 590 }}&gt;&#10;                    &lt;Text style={{ fontSize: 19, fontWeight: 700, color: '#F8FAFC' }}&gt;safety_gate &lt;span style={{ fontSize: 15, color: 'rgba(248,250,252,0.50)', fontWeight: 400 }}&gt;安全护栏&lt;/span&gt;&lt;/Text&gt;&#10;                    &lt;Text style={{ fontSize: 15, color: 'rgba(248,250,252,0.55)', marginTop: 5 }}&gt;高危确认 / 创建回显 / 有歧义就反问&lt;/Text&gt;&#10;                &lt;/Box&gt;&#10;            &lt;/Box&gt;&#10;&#10;            &lt;Box style={{ flex: 1, flexDirection: 'row', alignItems: 'center', gap: 16, background: '#16223A', border: '1px solid rgba(248,250,252,0.10)', borderRadius: 8, paddingLeft: 18, paddingRight: 18 }}&gt;&#10;                &lt;Text style={{ fontSize: 15, color: 'rgba(56,189,248,0.60)', fontFamily: 'Consolas', fontWeight: 700, width: 26 }}&gt;04&lt;/Text&gt;&#10;                &lt;Box style={{ width: 590 }}&gt;&#10;                    &lt;Text style={{ fontSize: 19, fontWeight: 700, color: '#F8FAFC' }}&gt;execute_tools &lt;span style={{ fontSize: 15, color: 'rgba(248,250,252,0.50)', fontWeight: 400 }}&gt;工具执行&lt;/span&gt;&lt;/Text&gt;&#10;                    &lt;Text style={{ fontSize: 15, color: 'rgba(248,250,252,0.55)', marginTop: 5 }}&gt;超时 / 重试 / 熔断 / 幂等，业务 handler 只管干活&lt;/Text&gt;&#10;                &lt;/Box&gt;&#10;            &lt;/Box&gt;&#10;&#10;            &lt;Box style={{ flex: 1, flexDirection: 'row', alignItems: 'center', gap: 16, background: '#16223A', border: '1px solid rgba(248,250,252,0.10)', borderRadius: 8, paddingLeft: 18, paddingRight: 18 }}&gt;&#10;                &lt;Text style={{ fontSize: 15, color: 'rgba(56,189,248,0.60)', fontFamily: 'Consolas', fontWeight: 700, width: 26 }}&gt;05&lt;/Text&gt;&#10;                &lt;Box style={{ width: 590 }}&gt;&#10;                    &lt;Text style={{ fontSize: 19, fontWeight: 700, color: '#F8FAFC' }}&gt;respond &lt;span style={{ fontSize: 15, color: 'rgba(248,250,252,0.50)', fontWeight: 400 }}&gt;应答生成&lt;/span&gt;&lt;/Text&gt;&#10;                    &lt;Text style={{ fontSize: 15, color: 'rgba(248,250,252,0.55)', marginTop: 5 }}&gt;工具结果当确定事实喂进去，模型只负责润色&lt;/Text&gt;&#10;                &lt;/Box&gt;&#10;            &lt;/Box&gt;&#10;&#10;            &lt;Box style={{ flex: 1, flexDirection: 'row', alignItems: 'center', gap: 16, background: '#16223A', border: '1px solid rgba(248,250,252,0.10)', borderRadius: 8, paddingLeft: 18, paddingRight: 18 }}&gt;&#10;                &lt;Text style={{ fontSize: 15, color: 'rgba(56,189,248,0.60)', fontFamily: 'Consolas', fontWeight: 700, width: 26 }}&gt;06&lt;/Text&gt;&#10;                &lt;Box style={{ width: 590 }}&gt;&#10;                    &lt;Text style={{ fontSize: 19, fontWeight: 700, color: '#F8FAFC' }}&gt;write_memory &lt;span style={{ fontSize: 15, color: 'rgba(248,250,252,0.50)', fontWeight: 400 }}&gt;记忆写入&lt;/span&gt;&lt;/Text&gt;&#10;                    &lt;Text style={{ fontSize: 15, color: 'rgba(248,250,252,0.55)', marginTop: 5 }}&gt;语义查重，同主题覆盖并留痕（版本 +1）&lt;/Text&gt;&#10;                &lt;/Box&gt;&#10;            &lt;/Box&gt;&#10;        &lt;/Box&gt;&#10;&#10;        &lt;Box style={{ width: 440, flexDirection: 'column', gap: 18, justifyContent: 'center' }}&gt;&#10;            &lt;Box style={{ background: 'rgba(251,113,133,0.08)', border: '1px solid rgba(251,113,133,0.40)', borderRadius: 10, padding: '24px 26px' }}&gt;&#10;                &lt;Text style={{ fontSize: 13, color: '#FB7185', letterSpacing: 2, fontWeight: 700 }}&gt;顺序就是设计&lt;/Text&gt;&#10;                &lt;Text style={{ fontSize: 19, fontWeight: 700, color: '#F8FAFC', lineHeight: 1.6, marginTop: 12 }}&gt;&#10;                    护栏排在执行之前——&lt;br /&gt;这一行顺序决定了会不会误操作。&#10;                &lt;/Text&gt;&#10;            &lt;/Box&gt;&#10;&#10;            &lt;Box style={{ background: '#16223A', border: '1px solid rgba(248,250,252,0.10)', borderRadius: 10, padding: '24px 26px' }}&gt;&#10;                &lt;Text style={{ fontSize: 17, color: 'rgba(248,250,252,0.72)', lineHeight: 1.85 }}&gt;&#10;                    第 2 步做两件容易被忽略的事：&lt;br /&gt;&#10;                    &lt;span style={{ color: '#38BDF8' }}&gt;·&lt;/span&gt; 把&quot;现在&quot;注入进去（大模型没有系统时钟）&lt;br /&gt;&#10;                    &lt;span style={{ color: '#38BDF8' }}&gt;·&lt;/span&gt; 读这个家真实的设备名（你自建的&quot;咖啡机&quot;才听得懂）&#10;                &lt;/Text&gt;&#10;            &lt;/Box&gt;&#10;&#10;            &lt;Box style={{ background: '#16223A', border: '1px solid rgba(248,250,252,0.10)', borderRadius: 10, padding: '24px 26px' }}&gt;&#10;                &lt;Text style={{ fontSize: 17, color: 'rgba(248,250,252,0.72)', lineHeight: 1.85 }}&gt;&#10;                    第 5 步不让模型自由发挥：&lt;br /&gt;&#10;                    工具报了什么，就说什么。禁止因为&quot;历史里提过&quot;就说已完成。&#10;                &lt;/Text&gt;&#10;            &lt;/Box&gt;&#10;        &lt;/Box&gt;&#10;    &lt;/Box&gt;&#10;&#10;    &lt;Box style={{ height: 64, paddingLeft: 64, paddingRight: 64, flexDirection: 'row', justifyContent: 'space-between', alignItems: 'center' }}&gt;&#10;        &lt;Text style={{ fontSize: 13, color: 'rgba(248,250,252,0.40)' }}&gt;HomeMind · 智能家居多智能体中枢&lt;/Text&gt;&#10;        &lt;Text style={{ fontSize: 13, color: 'rgba(248,250,252,0.40)', fontFamily: 'Consolas' }}&gt;05 / 13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120"/>
          </a:solidFill>
          <a:ln/>
        </p:spPr>
        <p:txBody>
          <a:bodyPr/>
          <a:p/>
        </p:txBody>
      </p:sp>
      <p:sp>
        <p:nvSpPr>
          <p:cNvPr id="197" name=""/>
          <p:cNvSpPr/>
          <p:nvPr/>
        </p:nvSpPr>
        <p:spPr>
          <a:xfrm rot="0" flipH="0" flipV="0">
            <a:off x="609600" y="523875"/>
            <a:ext cx="38100" cy="323850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p/>
        </p:txBody>
      </p:sp>
      <p:sp>
        <p:nvSpPr>
          <p:cNvPr id="198" name="" descr="{&quot;isTemplate&quot;:true,&quot;type&quot;:&quot;text&quot;}"/>
          <p:cNvSpPr txBox="1"/>
          <p:nvPr/>
        </p:nvSpPr>
        <p:spPr>
          <a:xfrm rot="0" flipH="0" flipV="0">
            <a:off x="819150" y="476250"/>
            <a:ext cx="5219700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700" b="1" spc="38">
                <a:solidFill>
                  <a:srgbClr val="F8FAFC"/>
                </a:solidFill>
                <a:latin typeface="微软雅黑"/>
                <a:ea typeface="微软雅黑"/>
              </a:rPr>
              <a:t>一句</a:t>
            </a:r>
            <a:r>
              <a:rPr lang="en-US" sz="2700" b="1" spc="38">
                <a:solidFill>
                  <a:srgbClr val="F8FAFC"/>
                </a:solidFill>
                <a:latin typeface="微软雅黑"/>
                <a:ea typeface="微软雅黑"/>
              </a:rPr>
              <a:t>"</a:t>
            </a:r>
            <a:r>
              <a:rPr lang="zh-CN" sz="2700" b="1" spc="38">
                <a:solidFill>
                  <a:srgbClr val="F8FAFC"/>
                </a:solidFill>
                <a:latin typeface="微软雅黑"/>
                <a:ea typeface="微软雅黑"/>
              </a:rPr>
              <a:t>打开卧室灯</a:t>
            </a:r>
            <a:r>
              <a:rPr lang="en-US" sz="2700" b="1" spc="38">
                <a:solidFill>
                  <a:srgbClr val="F8FAFC"/>
                </a:solidFill>
                <a:latin typeface="微软雅黑"/>
                <a:ea typeface="微软雅黑"/>
              </a:rPr>
              <a:t>"</a:t>
            </a:r>
            <a:r>
              <a:rPr lang="zh-CN" sz="2700" b="1" spc="38">
                <a:solidFill>
                  <a:srgbClr val="F8FAFC"/>
                </a:solidFill>
                <a:latin typeface="微软雅黑"/>
                <a:ea typeface="微软雅黑"/>
              </a:rPr>
              <a:t>，中间走了六步</a:t>
            </a:r>
            <a:endParaRPr/>
          </a:p>
        </p:txBody>
      </p:sp>
      <p:sp>
        <p:nvSpPr>
          <p:cNvPr id="199" name=""/>
          <p:cNvSpPr/>
          <p:nvPr/>
        </p:nvSpPr>
        <p:spPr>
          <a:xfrm rot="0" flipH="0" flipV="0">
            <a:off x="609600" y="1047750"/>
            <a:ext cx="6362700" cy="790575"/>
          </a:xfrm>
          <a:prstGeom prst="roundRect">
            <a:avLst>
              <a:gd name="adj" fmla="val 9639"/>
            </a:avLst>
          </a:prstGeom>
          <a:solidFill>
            <a:srgbClr val="16223A"/>
          </a:solidFill>
          <a:ln w="12700">
            <a:solidFill>
              <a:srgbClr val="F8FAFC">
                <a:alpha val="1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00" name="" descr="{&quot;isTemplate&quot;:true,&quot;type&quot;:&quot;text&quot;}"/>
          <p:cNvSpPr txBox="1"/>
          <p:nvPr/>
        </p:nvSpPr>
        <p:spPr>
          <a:xfrm rot="0" flipH="0" flipV="0">
            <a:off x="781050" y="1362075"/>
            <a:ext cx="2476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38BDF8">
                    <a:alpha val="60000"/>
                  </a:srgbClr>
                </a:solidFill>
                <a:latin typeface="Consolas"/>
                <a:ea typeface="Consolas"/>
              </a:rPr>
              <a:t>01</a:t>
            </a:r>
            <a:endParaRPr/>
          </a:p>
        </p:txBody>
      </p:sp>
      <p:sp>
        <p:nvSpPr>
          <p:cNvPr id="201" name="" descr="{&quot;isTemplate&quot;:true,&quot;type&quot;:&quot;text&quot;}"/>
          <p:cNvSpPr txBox="1"/>
          <p:nvPr/>
        </p:nvSpPr>
        <p:spPr>
          <a:xfrm rot="0" flipH="0" flipV="0">
            <a:off x="1181100" y="1228725"/>
            <a:ext cx="56197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F8FAFC"/>
                </a:solidFill>
                <a:latin typeface="微软雅黑"/>
                <a:ea typeface="微软雅黑"/>
              </a:rPr>
              <a:t xml:space="preserve">recall_memory </a:t>
            </a:r>
            <a:r>
              <a:rPr lang="zh-CN" sz="1125">
                <a:solidFill>
                  <a:srgbClr val="F8FAFC">
                    <a:alpha val="50000"/>
                  </a:srgbClr>
                </a:solidFill>
                <a:latin typeface="微软雅黑"/>
                <a:ea typeface="微软雅黑"/>
              </a:rPr>
              <a:t>记忆召回</a:t>
            </a:r>
            <a:endParaRPr/>
          </a:p>
        </p:txBody>
      </p:sp>
      <p:sp>
        <p:nvSpPr>
          <p:cNvPr id="202" name="" descr="{&quot;isTemplate&quot;:true,&quot;type&quot;:&quot;text&quot;}"/>
          <p:cNvSpPr txBox="1"/>
          <p:nvPr/>
        </p:nvSpPr>
        <p:spPr>
          <a:xfrm rot="0" flipH="0" flipV="0">
            <a:off x="1181100" y="1495425"/>
            <a:ext cx="56197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F8FAFC">
                    <a:alpha val="55000"/>
                  </a:srgbClr>
                </a:solidFill>
                <a:latin typeface="微软雅黑"/>
                <a:ea typeface="微软雅黑"/>
              </a:rPr>
              <a:t>三层加权召回，权限在这一步就过滤</a:t>
            </a:r>
            <a:endParaRPr/>
          </a:p>
        </p:txBody>
      </p:sp>
      <p:sp>
        <p:nvSpPr>
          <p:cNvPr id="203" name=""/>
          <p:cNvSpPr/>
          <p:nvPr/>
        </p:nvSpPr>
        <p:spPr>
          <a:xfrm rot="0" flipH="0" flipV="0">
            <a:off x="609600" y="1933575"/>
            <a:ext cx="6362700" cy="781050"/>
          </a:xfrm>
          <a:prstGeom prst="roundRect">
            <a:avLst>
              <a:gd name="adj" fmla="val 9756"/>
            </a:avLst>
          </a:prstGeom>
          <a:solidFill>
            <a:srgbClr val="16223A"/>
          </a:solidFill>
          <a:ln w="12700">
            <a:solidFill>
              <a:srgbClr val="F8FAFC">
                <a:alpha val="1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04" name="" descr="{&quot;isTemplate&quot;:true,&quot;type&quot;:&quot;text&quot;}"/>
          <p:cNvSpPr txBox="1"/>
          <p:nvPr/>
        </p:nvSpPr>
        <p:spPr>
          <a:xfrm rot="0" flipH="0" flipV="0">
            <a:off x="781050" y="2238375"/>
            <a:ext cx="2476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38BDF8">
                    <a:alpha val="60000"/>
                  </a:srgbClr>
                </a:solidFill>
                <a:latin typeface="Consolas"/>
                <a:ea typeface="Consolas"/>
              </a:rPr>
              <a:t>02</a:t>
            </a:r>
            <a:endParaRPr/>
          </a:p>
        </p:txBody>
      </p:sp>
      <p:sp>
        <p:nvSpPr>
          <p:cNvPr id="205" name="" descr="{&quot;isTemplate&quot;:true,&quot;type&quot;:&quot;text&quot;}"/>
          <p:cNvSpPr txBox="1"/>
          <p:nvPr/>
        </p:nvSpPr>
        <p:spPr>
          <a:xfrm rot="0" flipH="0" flipV="0">
            <a:off x="1181100" y="2105025"/>
            <a:ext cx="56197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F8FAFC"/>
                </a:solidFill>
                <a:latin typeface="微软雅黑"/>
                <a:ea typeface="微软雅黑"/>
              </a:rPr>
              <a:t xml:space="preserve">parse_intent </a:t>
            </a:r>
            <a:r>
              <a:rPr lang="zh-CN" sz="1125">
                <a:solidFill>
                  <a:srgbClr val="F8FAFC">
                    <a:alpha val="50000"/>
                  </a:srgbClr>
                </a:solidFill>
                <a:latin typeface="微软雅黑"/>
                <a:ea typeface="微软雅黑"/>
              </a:rPr>
              <a:t>意图解析</a:t>
            </a:r>
            <a:endParaRPr/>
          </a:p>
        </p:txBody>
      </p:sp>
      <p:sp>
        <p:nvSpPr>
          <p:cNvPr id="206" name="" descr="{&quot;isTemplate&quot;:true,&quot;type&quot;:&quot;text&quot;}"/>
          <p:cNvSpPr txBox="1"/>
          <p:nvPr/>
        </p:nvSpPr>
        <p:spPr>
          <a:xfrm rot="0" flipH="0" flipV="0">
            <a:off x="1181100" y="2371725"/>
            <a:ext cx="56197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F8FAFC">
                    <a:alpha val="55000"/>
                  </a:srgbClr>
                </a:solidFill>
                <a:latin typeface="微软雅黑"/>
                <a:ea typeface="微软雅黑"/>
              </a:rPr>
              <a:t>注入当前时间</a:t>
            </a:r>
            <a:r>
              <a:rPr lang="en-US" sz="1125">
                <a:solidFill>
                  <a:srgbClr val="F8FAFC">
                    <a:alpha val="55000"/>
                  </a:srgbClr>
                </a:solidFill>
                <a:latin typeface="微软雅黑"/>
                <a:ea typeface="微软雅黑"/>
              </a:rPr>
              <a:t xml:space="preserve"> + </a:t>
            </a:r>
            <a:r>
              <a:rPr lang="zh-CN" sz="1125">
                <a:solidFill>
                  <a:srgbClr val="F8FAFC">
                    <a:alpha val="55000"/>
                  </a:srgbClr>
                </a:solidFill>
                <a:latin typeface="微软雅黑"/>
                <a:ea typeface="微软雅黑"/>
              </a:rPr>
              <a:t>读本家庭词表，规则优先、模型兜底</a:t>
            </a:r>
            <a:endParaRPr/>
          </a:p>
        </p:txBody>
      </p:sp>
      <p:sp>
        <p:nvSpPr>
          <p:cNvPr id="207" name=""/>
          <p:cNvSpPr/>
          <p:nvPr/>
        </p:nvSpPr>
        <p:spPr>
          <a:xfrm rot="0" flipH="0" flipV="0">
            <a:off x="609600" y="2809875"/>
            <a:ext cx="6362700" cy="790575"/>
          </a:xfrm>
          <a:prstGeom prst="roundRect">
            <a:avLst>
              <a:gd name="adj" fmla="val 9639"/>
            </a:avLst>
          </a:prstGeom>
          <a:solidFill>
            <a:srgbClr val="FB7185">
              <a:alpha val="8000"/>
            </a:srgbClr>
          </a:solidFill>
          <a:ln w="12700">
            <a:solidFill>
              <a:srgbClr val="FB7185">
                <a:alpha val="42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08" name="" descr="{&quot;isTemplate&quot;:true,&quot;type&quot;:&quot;text&quot;}"/>
          <p:cNvSpPr txBox="1"/>
          <p:nvPr/>
        </p:nvSpPr>
        <p:spPr>
          <a:xfrm rot="0" flipH="0" flipV="0">
            <a:off x="781050" y="3124200"/>
            <a:ext cx="2476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FB7185">
                    <a:alpha val="75000"/>
                  </a:srgbClr>
                </a:solidFill>
                <a:latin typeface="Consolas"/>
                <a:ea typeface="Consolas"/>
              </a:rPr>
              <a:t>03</a:t>
            </a:r>
            <a:endParaRPr/>
          </a:p>
        </p:txBody>
      </p:sp>
      <p:sp>
        <p:nvSpPr>
          <p:cNvPr id="209" name="" descr="{&quot;isTemplate&quot;:true,&quot;type&quot;:&quot;text&quot;}"/>
          <p:cNvSpPr txBox="1"/>
          <p:nvPr/>
        </p:nvSpPr>
        <p:spPr>
          <a:xfrm rot="0" flipH="0" flipV="0">
            <a:off x="1181100" y="2990850"/>
            <a:ext cx="56197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F8FAFC"/>
                </a:solidFill>
                <a:latin typeface="微软雅黑"/>
                <a:ea typeface="微软雅黑"/>
              </a:rPr>
              <a:t xml:space="preserve">safety_gate </a:t>
            </a:r>
            <a:r>
              <a:rPr lang="zh-CN" sz="1125">
                <a:solidFill>
                  <a:srgbClr val="F8FAFC">
                    <a:alpha val="50000"/>
                  </a:srgbClr>
                </a:solidFill>
                <a:latin typeface="微软雅黑"/>
                <a:ea typeface="微软雅黑"/>
              </a:rPr>
              <a:t>安全护栏</a:t>
            </a:r>
            <a:endParaRPr/>
          </a:p>
        </p:txBody>
      </p:sp>
      <p:sp>
        <p:nvSpPr>
          <p:cNvPr id="210" name="" descr="{&quot;isTemplate&quot;:true,&quot;type&quot;:&quot;text&quot;}"/>
          <p:cNvSpPr txBox="1"/>
          <p:nvPr/>
        </p:nvSpPr>
        <p:spPr>
          <a:xfrm rot="0" flipH="0" flipV="0">
            <a:off x="1181100" y="3257550"/>
            <a:ext cx="56197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F8FAFC">
                    <a:alpha val="55000"/>
                  </a:srgbClr>
                </a:solidFill>
                <a:latin typeface="微软雅黑"/>
                <a:ea typeface="微软雅黑"/>
              </a:rPr>
              <a:t>高危确认</a:t>
            </a:r>
            <a:r>
              <a:rPr lang="en-US" sz="1125">
                <a:solidFill>
                  <a:srgbClr val="F8FAFC">
                    <a:alpha val="55000"/>
                  </a:srgbClr>
                </a:solidFill>
                <a:latin typeface="微软雅黑"/>
                <a:ea typeface="微软雅黑"/>
              </a:rPr>
              <a:t xml:space="preserve"> / </a:t>
            </a:r>
            <a:r>
              <a:rPr lang="zh-CN" sz="1125">
                <a:solidFill>
                  <a:srgbClr val="F8FAFC">
                    <a:alpha val="55000"/>
                  </a:srgbClr>
                </a:solidFill>
                <a:latin typeface="微软雅黑"/>
                <a:ea typeface="微软雅黑"/>
              </a:rPr>
              <a:t>创建回显</a:t>
            </a:r>
            <a:r>
              <a:rPr lang="en-US" sz="1125">
                <a:solidFill>
                  <a:srgbClr val="F8FAFC">
                    <a:alpha val="55000"/>
                  </a:srgbClr>
                </a:solidFill>
                <a:latin typeface="微软雅黑"/>
                <a:ea typeface="微软雅黑"/>
              </a:rPr>
              <a:t xml:space="preserve"> / </a:t>
            </a:r>
            <a:r>
              <a:rPr lang="zh-CN" sz="1125">
                <a:solidFill>
                  <a:srgbClr val="F8FAFC">
                    <a:alpha val="55000"/>
                  </a:srgbClr>
                </a:solidFill>
                <a:latin typeface="微软雅黑"/>
                <a:ea typeface="微软雅黑"/>
              </a:rPr>
              <a:t>有歧义就反问</a:t>
            </a:r>
            <a:endParaRPr/>
          </a:p>
        </p:txBody>
      </p:sp>
      <p:sp>
        <p:nvSpPr>
          <p:cNvPr id="211" name=""/>
          <p:cNvSpPr/>
          <p:nvPr/>
        </p:nvSpPr>
        <p:spPr>
          <a:xfrm rot="0" flipH="0" flipV="0">
            <a:off x="609600" y="3695700"/>
            <a:ext cx="6362700" cy="790575"/>
          </a:xfrm>
          <a:prstGeom prst="roundRect">
            <a:avLst>
              <a:gd name="adj" fmla="val 9639"/>
            </a:avLst>
          </a:prstGeom>
          <a:solidFill>
            <a:srgbClr val="16223A"/>
          </a:solidFill>
          <a:ln w="12700">
            <a:solidFill>
              <a:srgbClr val="F8FAFC">
                <a:alpha val="1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12" name="" descr="{&quot;isTemplate&quot;:true,&quot;type&quot;:&quot;text&quot;}"/>
          <p:cNvSpPr txBox="1"/>
          <p:nvPr/>
        </p:nvSpPr>
        <p:spPr>
          <a:xfrm rot="0" flipH="0" flipV="0">
            <a:off x="781050" y="4010025"/>
            <a:ext cx="2476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38BDF8">
                    <a:alpha val="60000"/>
                  </a:srgbClr>
                </a:solidFill>
                <a:latin typeface="Consolas"/>
                <a:ea typeface="Consolas"/>
              </a:rPr>
              <a:t>04</a:t>
            </a:r>
            <a:endParaRPr/>
          </a:p>
        </p:txBody>
      </p:sp>
      <p:sp>
        <p:nvSpPr>
          <p:cNvPr id="213" name="" descr="{&quot;isTemplate&quot;:true,&quot;type&quot;:&quot;text&quot;}"/>
          <p:cNvSpPr txBox="1"/>
          <p:nvPr/>
        </p:nvSpPr>
        <p:spPr>
          <a:xfrm rot="0" flipH="0" flipV="0">
            <a:off x="1181100" y="3876675"/>
            <a:ext cx="56197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F8FAFC"/>
                </a:solidFill>
                <a:latin typeface="微软雅黑"/>
                <a:ea typeface="微软雅黑"/>
              </a:rPr>
              <a:t xml:space="preserve">execute_tools </a:t>
            </a:r>
            <a:r>
              <a:rPr lang="zh-CN" sz="1125">
                <a:solidFill>
                  <a:srgbClr val="F8FAFC">
                    <a:alpha val="50000"/>
                  </a:srgbClr>
                </a:solidFill>
                <a:latin typeface="微软雅黑"/>
                <a:ea typeface="微软雅黑"/>
              </a:rPr>
              <a:t>工具执行</a:t>
            </a:r>
            <a:endParaRPr/>
          </a:p>
        </p:txBody>
      </p:sp>
      <p:sp>
        <p:nvSpPr>
          <p:cNvPr id="214" name="" descr="{&quot;isTemplate&quot;:true,&quot;type&quot;:&quot;text&quot;}"/>
          <p:cNvSpPr txBox="1"/>
          <p:nvPr/>
        </p:nvSpPr>
        <p:spPr>
          <a:xfrm rot="0" flipH="0" flipV="0">
            <a:off x="1181100" y="4143375"/>
            <a:ext cx="56197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F8FAFC">
                    <a:alpha val="55000"/>
                  </a:srgbClr>
                </a:solidFill>
                <a:latin typeface="微软雅黑"/>
                <a:ea typeface="微软雅黑"/>
              </a:rPr>
              <a:t>超时</a:t>
            </a:r>
            <a:r>
              <a:rPr lang="en-US" sz="1125">
                <a:solidFill>
                  <a:srgbClr val="F8FAFC">
                    <a:alpha val="55000"/>
                  </a:srgbClr>
                </a:solidFill>
                <a:latin typeface="微软雅黑"/>
                <a:ea typeface="微软雅黑"/>
              </a:rPr>
              <a:t xml:space="preserve"> / </a:t>
            </a:r>
            <a:r>
              <a:rPr lang="zh-CN" sz="1125">
                <a:solidFill>
                  <a:srgbClr val="F8FAFC">
                    <a:alpha val="55000"/>
                  </a:srgbClr>
                </a:solidFill>
                <a:latin typeface="微软雅黑"/>
                <a:ea typeface="微软雅黑"/>
              </a:rPr>
              <a:t>重试</a:t>
            </a:r>
            <a:r>
              <a:rPr lang="en-US" sz="1125">
                <a:solidFill>
                  <a:srgbClr val="F8FAFC">
                    <a:alpha val="55000"/>
                  </a:srgbClr>
                </a:solidFill>
                <a:latin typeface="微软雅黑"/>
                <a:ea typeface="微软雅黑"/>
              </a:rPr>
              <a:t xml:space="preserve"> / </a:t>
            </a:r>
            <a:r>
              <a:rPr lang="zh-CN" sz="1125">
                <a:solidFill>
                  <a:srgbClr val="F8FAFC">
                    <a:alpha val="55000"/>
                  </a:srgbClr>
                </a:solidFill>
                <a:latin typeface="微软雅黑"/>
                <a:ea typeface="微软雅黑"/>
              </a:rPr>
              <a:t>熔断</a:t>
            </a:r>
            <a:r>
              <a:rPr lang="en-US" sz="1125">
                <a:solidFill>
                  <a:srgbClr val="F8FAFC">
                    <a:alpha val="55000"/>
                  </a:srgbClr>
                </a:solidFill>
                <a:latin typeface="微软雅黑"/>
                <a:ea typeface="微软雅黑"/>
              </a:rPr>
              <a:t xml:space="preserve"> / </a:t>
            </a:r>
            <a:r>
              <a:rPr lang="zh-CN" sz="1125">
                <a:solidFill>
                  <a:srgbClr val="F8FAFC">
                    <a:alpha val="55000"/>
                  </a:srgbClr>
                </a:solidFill>
                <a:latin typeface="微软雅黑"/>
                <a:ea typeface="微软雅黑"/>
              </a:rPr>
              <a:t>幂等，业务</a:t>
            </a:r>
            <a:r>
              <a:rPr lang="en-US" sz="1125">
                <a:solidFill>
                  <a:srgbClr val="F8FAFC">
                    <a:alpha val="55000"/>
                  </a:srgbClr>
                </a:solidFill>
                <a:latin typeface="微软雅黑"/>
                <a:ea typeface="微软雅黑"/>
              </a:rPr>
              <a:t xml:space="preserve"> handler </a:t>
            </a:r>
            <a:r>
              <a:rPr lang="zh-CN" sz="1125">
                <a:solidFill>
                  <a:srgbClr val="F8FAFC">
                    <a:alpha val="55000"/>
                  </a:srgbClr>
                </a:solidFill>
                <a:latin typeface="微软雅黑"/>
                <a:ea typeface="微软雅黑"/>
              </a:rPr>
              <a:t>只管干活</a:t>
            </a:r>
            <a:endParaRPr/>
          </a:p>
        </p:txBody>
      </p:sp>
      <p:sp>
        <p:nvSpPr>
          <p:cNvPr id="215" name=""/>
          <p:cNvSpPr/>
          <p:nvPr/>
        </p:nvSpPr>
        <p:spPr>
          <a:xfrm rot="0" flipH="0" flipV="0">
            <a:off x="609600" y="4581525"/>
            <a:ext cx="6362700" cy="781050"/>
          </a:xfrm>
          <a:prstGeom prst="roundRect">
            <a:avLst>
              <a:gd name="adj" fmla="val 9756"/>
            </a:avLst>
          </a:prstGeom>
          <a:solidFill>
            <a:srgbClr val="16223A"/>
          </a:solidFill>
          <a:ln w="12700">
            <a:solidFill>
              <a:srgbClr val="F8FAFC">
                <a:alpha val="1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16" name="" descr="{&quot;isTemplate&quot;:true,&quot;type&quot;:&quot;text&quot;}"/>
          <p:cNvSpPr txBox="1"/>
          <p:nvPr/>
        </p:nvSpPr>
        <p:spPr>
          <a:xfrm rot="0" flipH="0" flipV="0">
            <a:off x="781050" y="4886325"/>
            <a:ext cx="2476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38BDF8">
                    <a:alpha val="60000"/>
                  </a:srgbClr>
                </a:solidFill>
                <a:latin typeface="Consolas"/>
                <a:ea typeface="Consolas"/>
              </a:rPr>
              <a:t>05</a:t>
            </a:r>
            <a:endParaRPr/>
          </a:p>
        </p:txBody>
      </p:sp>
      <p:sp>
        <p:nvSpPr>
          <p:cNvPr id="217" name="" descr="{&quot;isTemplate&quot;:true,&quot;type&quot;:&quot;text&quot;}"/>
          <p:cNvSpPr txBox="1"/>
          <p:nvPr/>
        </p:nvSpPr>
        <p:spPr>
          <a:xfrm rot="0" flipH="0" flipV="0">
            <a:off x="1181100" y="4752975"/>
            <a:ext cx="56197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F8FAFC"/>
                </a:solidFill>
                <a:latin typeface="微软雅黑"/>
                <a:ea typeface="微软雅黑"/>
              </a:rPr>
              <a:t xml:space="preserve">respond </a:t>
            </a:r>
            <a:r>
              <a:rPr lang="zh-CN" sz="1125">
                <a:solidFill>
                  <a:srgbClr val="F8FAFC">
                    <a:alpha val="50000"/>
                  </a:srgbClr>
                </a:solidFill>
                <a:latin typeface="微软雅黑"/>
                <a:ea typeface="微软雅黑"/>
              </a:rPr>
              <a:t>应答生成</a:t>
            </a:r>
            <a:endParaRPr/>
          </a:p>
        </p:txBody>
      </p:sp>
      <p:sp>
        <p:nvSpPr>
          <p:cNvPr id="218" name="" descr="{&quot;isTemplate&quot;:true,&quot;type&quot;:&quot;text&quot;}"/>
          <p:cNvSpPr txBox="1"/>
          <p:nvPr/>
        </p:nvSpPr>
        <p:spPr>
          <a:xfrm rot="0" flipH="0" flipV="0">
            <a:off x="1181100" y="5019675"/>
            <a:ext cx="56197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F8FAFC">
                    <a:alpha val="55000"/>
                  </a:srgbClr>
                </a:solidFill>
                <a:latin typeface="微软雅黑"/>
                <a:ea typeface="微软雅黑"/>
              </a:rPr>
              <a:t>工具结果当确定事实喂进去，模型只负责润色</a:t>
            </a:r>
            <a:endParaRPr/>
          </a:p>
        </p:txBody>
      </p:sp>
      <p:sp>
        <p:nvSpPr>
          <p:cNvPr id="219" name=""/>
          <p:cNvSpPr/>
          <p:nvPr/>
        </p:nvSpPr>
        <p:spPr>
          <a:xfrm rot="0" flipH="0" flipV="0">
            <a:off x="609600" y="5457825"/>
            <a:ext cx="6362700" cy="790575"/>
          </a:xfrm>
          <a:prstGeom prst="roundRect">
            <a:avLst>
              <a:gd name="adj" fmla="val 9639"/>
            </a:avLst>
          </a:prstGeom>
          <a:solidFill>
            <a:srgbClr val="16223A"/>
          </a:solidFill>
          <a:ln w="12700">
            <a:solidFill>
              <a:srgbClr val="F8FAFC">
                <a:alpha val="1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20" name="" descr="{&quot;isTemplate&quot;:true,&quot;type&quot;:&quot;text&quot;}"/>
          <p:cNvSpPr txBox="1"/>
          <p:nvPr/>
        </p:nvSpPr>
        <p:spPr>
          <a:xfrm rot="0" flipH="0" flipV="0">
            <a:off x="781050" y="5772150"/>
            <a:ext cx="2476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38BDF8">
                    <a:alpha val="60000"/>
                  </a:srgbClr>
                </a:solidFill>
                <a:latin typeface="Consolas"/>
                <a:ea typeface="Consolas"/>
              </a:rPr>
              <a:t>06</a:t>
            </a:r>
            <a:endParaRPr/>
          </a:p>
        </p:txBody>
      </p:sp>
      <p:sp>
        <p:nvSpPr>
          <p:cNvPr id="221" name="" descr="{&quot;isTemplate&quot;:true,&quot;type&quot;:&quot;text&quot;}"/>
          <p:cNvSpPr txBox="1"/>
          <p:nvPr/>
        </p:nvSpPr>
        <p:spPr>
          <a:xfrm rot="0" flipH="0" flipV="0">
            <a:off x="1181100" y="5638800"/>
            <a:ext cx="56197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F8FAFC"/>
                </a:solidFill>
                <a:latin typeface="微软雅黑"/>
                <a:ea typeface="微软雅黑"/>
              </a:rPr>
              <a:t xml:space="preserve">write_memory </a:t>
            </a:r>
            <a:r>
              <a:rPr lang="zh-CN" sz="1125">
                <a:solidFill>
                  <a:srgbClr val="F8FAFC">
                    <a:alpha val="50000"/>
                  </a:srgbClr>
                </a:solidFill>
                <a:latin typeface="微软雅黑"/>
                <a:ea typeface="微软雅黑"/>
              </a:rPr>
              <a:t>记忆写入</a:t>
            </a:r>
            <a:endParaRPr/>
          </a:p>
        </p:txBody>
      </p:sp>
      <p:sp>
        <p:nvSpPr>
          <p:cNvPr id="222" name="" descr="{&quot;isTemplate&quot;:true,&quot;type&quot;:&quot;text&quot;}"/>
          <p:cNvSpPr txBox="1"/>
          <p:nvPr/>
        </p:nvSpPr>
        <p:spPr>
          <a:xfrm rot="0" flipH="0" flipV="0">
            <a:off x="1181100" y="5905500"/>
            <a:ext cx="56197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F8FAFC">
                    <a:alpha val="55000"/>
                  </a:srgbClr>
                </a:solidFill>
                <a:latin typeface="微软雅黑"/>
                <a:ea typeface="微软雅黑"/>
              </a:rPr>
              <a:t>语义查重，同主题覆盖并留痕（版本</a:t>
            </a:r>
            <a:r>
              <a:rPr lang="en-US" sz="1125">
                <a:solidFill>
                  <a:srgbClr val="F8FAFC">
                    <a:alpha val="55000"/>
                  </a:srgbClr>
                </a:solidFill>
                <a:latin typeface="微软雅黑"/>
                <a:ea typeface="微软雅黑"/>
              </a:rPr>
              <a:t xml:space="preserve"> +1</a:t>
            </a:r>
            <a:r>
              <a:rPr lang="zh-CN" sz="1125">
                <a:solidFill>
                  <a:srgbClr val="F8FAFC">
                    <a:alpha val="55000"/>
                  </a:srgbClr>
                </a:solidFill>
                <a:latin typeface="微软雅黑"/>
                <a:ea typeface="微软雅黑"/>
              </a:rPr>
              <a:t>）</a:t>
            </a:r>
            <a:endParaRPr/>
          </a:p>
        </p:txBody>
      </p:sp>
      <p:sp>
        <p:nvSpPr>
          <p:cNvPr id="223" name=""/>
          <p:cNvSpPr/>
          <p:nvPr/>
        </p:nvSpPr>
        <p:spPr>
          <a:xfrm rot="0" flipH="0" flipV="0">
            <a:off x="7391400" y="1047750"/>
            <a:ext cx="4191000" cy="1419225"/>
          </a:xfrm>
          <a:prstGeom prst="roundRect">
            <a:avLst>
              <a:gd name="adj" fmla="val 6711"/>
            </a:avLst>
          </a:prstGeom>
          <a:solidFill>
            <a:srgbClr val="FB7185">
              <a:alpha val="8000"/>
            </a:srgbClr>
          </a:solidFill>
          <a:ln w="12700">
            <a:solidFill>
              <a:srgbClr val="FB7185">
                <a:alpha val="4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24" name="" descr="{&quot;isTemplate&quot;:true,&quot;type&quot;:&quot;text&quot;}"/>
          <p:cNvSpPr txBox="1"/>
          <p:nvPr/>
        </p:nvSpPr>
        <p:spPr>
          <a:xfrm rot="0" flipH="0" flipV="0">
            <a:off x="7639050" y="1276350"/>
            <a:ext cx="36957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b="1" spc="150">
                <a:solidFill>
                  <a:srgbClr val="FB7185"/>
                </a:solidFill>
                <a:latin typeface="微软雅黑"/>
                <a:ea typeface="微软雅黑"/>
              </a:rPr>
              <a:t>顺序就是设计</a:t>
            </a:r>
            <a:endParaRPr/>
          </a:p>
        </p:txBody>
      </p:sp>
      <p:sp>
        <p:nvSpPr>
          <p:cNvPr id="225" name="" descr="{&quot;isTemplate&quot;:true,&quot;type&quot;:&quot;text&quot;}"/>
          <p:cNvSpPr txBox="1"/>
          <p:nvPr/>
        </p:nvSpPr>
        <p:spPr>
          <a:xfrm rot="0" flipH="0" flipV="0">
            <a:off x="7639050" y="1543050"/>
            <a:ext cx="3695700" cy="69532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425" b="1">
                <a:solidFill>
                  <a:srgbClr val="F8FAFC"/>
                </a:solidFill>
                <a:latin typeface="微软雅黑"/>
                <a:ea typeface="微软雅黑"/>
              </a:rPr>
              <a:t>护栏排在执行之前——</a:t>
            </a:r>
            <a:endParaRPr/>
          </a:p>
          <a:p>
            <a:pPr>
              <a:lnSpc>
                <a:spcPct val="160000"/>
              </a:lnSpc>
            </a:pPr>
            <a:r>
              <a:rPr lang="zh-CN" sz="1425" b="1">
                <a:solidFill>
                  <a:srgbClr val="F8FAFC"/>
                </a:solidFill>
                <a:latin typeface="微软雅黑"/>
                <a:ea typeface="微软雅黑"/>
              </a:rPr>
              <a:t>这一行顺序决定了会不会误操作。</a:t>
            </a:r>
            <a:endParaRPr/>
          </a:p>
        </p:txBody>
      </p:sp>
      <p:sp>
        <p:nvSpPr>
          <p:cNvPr id="226" name=""/>
          <p:cNvSpPr/>
          <p:nvPr/>
        </p:nvSpPr>
        <p:spPr>
          <a:xfrm rot="0" flipH="0" flipV="0">
            <a:off x="7391400" y="2638425"/>
            <a:ext cx="4191000" cy="1895475"/>
          </a:xfrm>
          <a:prstGeom prst="roundRect">
            <a:avLst>
              <a:gd name="adj" fmla="val 5025"/>
            </a:avLst>
          </a:prstGeom>
          <a:solidFill>
            <a:srgbClr val="16223A"/>
          </a:solidFill>
          <a:ln w="12700">
            <a:solidFill>
              <a:srgbClr val="F8FAFC">
                <a:alpha val="1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27" name="" descr="{&quot;isTemplate&quot;:true,&quot;type&quot;:&quot;text&quot;}"/>
          <p:cNvSpPr txBox="1"/>
          <p:nvPr/>
        </p:nvSpPr>
        <p:spPr>
          <a:xfrm rot="0" flipH="0" flipV="0">
            <a:off x="7639050" y="2867025"/>
            <a:ext cx="3695700" cy="14382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85000"/>
              </a:lnSpc>
            </a:pPr>
            <a:r>
              <a:rPr lang="zh-CN" sz="1275">
                <a:solidFill>
                  <a:srgbClr val="F8FAFC">
                    <a:alpha val="72000"/>
                  </a:srgbClr>
                </a:solidFill>
                <a:latin typeface="微软雅黑"/>
                <a:ea typeface="微软雅黑"/>
              </a:rPr>
              <a:t>第</a:t>
            </a:r>
            <a:r>
              <a:rPr lang="en-US" sz="1275">
                <a:solidFill>
                  <a:srgbClr val="F8FAFC">
                    <a:alpha val="72000"/>
                  </a:srgbClr>
                </a:solidFill>
                <a:latin typeface="微软雅黑"/>
                <a:ea typeface="微软雅黑"/>
              </a:rPr>
              <a:t xml:space="preserve"> 2 </a:t>
            </a:r>
            <a:r>
              <a:rPr lang="zh-CN" sz="1275">
                <a:solidFill>
                  <a:srgbClr val="F8FAFC">
                    <a:alpha val="72000"/>
                  </a:srgbClr>
                </a:solidFill>
                <a:latin typeface="微软雅黑"/>
                <a:ea typeface="微软雅黑"/>
              </a:rPr>
              <a:t>步做两件容易被忽略的事：</a:t>
            </a:r>
            <a:endParaRPr/>
          </a:p>
          <a:p>
            <a:pPr>
              <a:lnSpc>
                <a:spcPct val="185000"/>
              </a:lnSpc>
            </a:pPr>
            <a:r>
              <a:rPr sz="1275">
                <a:solidFill>
                  <a:srgbClr val="38BDF8"/>
                </a:solidFill>
                <a:latin typeface="微软雅黑"/>
                <a:ea typeface="微软雅黑"/>
              </a:rPr>
              <a:t>·</a:t>
            </a:r>
            <a:r>
              <a:rPr lang="en-US" sz="1275">
                <a:solidFill>
                  <a:srgbClr val="F8FAFC">
                    <a:alpha val="72000"/>
                  </a:srgbClr>
                </a:solidFill>
                <a:latin typeface="微软雅黑"/>
                <a:ea typeface="微软雅黑"/>
              </a:rPr>
              <a:t xml:space="preserve"> </a:t>
            </a:r>
            <a:r>
              <a:rPr lang="zh-CN" sz="1275">
                <a:solidFill>
                  <a:srgbClr val="F8FAFC">
                    <a:alpha val="72000"/>
                  </a:srgbClr>
                </a:solidFill>
                <a:latin typeface="微软雅黑"/>
                <a:ea typeface="微软雅黑"/>
              </a:rPr>
              <a:t>把</a:t>
            </a:r>
            <a:r>
              <a:rPr lang="en-US" sz="1275">
                <a:solidFill>
                  <a:srgbClr val="F8FAFC">
                    <a:alpha val="72000"/>
                  </a:srgbClr>
                </a:solidFill>
                <a:latin typeface="微软雅黑"/>
                <a:ea typeface="微软雅黑"/>
              </a:rPr>
              <a:t>"</a:t>
            </a:r>
            <a:r>
              <a:rPr lang="zh-CN" sz="1275">
                <a:solidFill>
                  <a:srgbClr val="F8FAFC">
                    <a:alpha val="72000"/>
                  </a:srgbClr>
                </a:solidFill>
                <a:latin typeface="微软雅黑"/>
                <a:ea typeface="微软雅黑"/>
              </a:rPr>
              <a:t>现在</a:t>
            </a:r>
            <a:r>
              <a:rPr lang="en-US" sz="1275">
                <a:solidFill>
                  <a:srgbClr val="F8FAFC">
                    <a:alpha val="72000"/>
                  </a:srgbClr>
                </a:solidFill>
                <a:latin typeface="微软雅黑"/>
                <a:ea typeface="微软雅黑"/>
              </a:rPr>
              <a:t>"</a:t>
            </a:r>
            <a:r>
              <a:rPr lang="zh-CN" sz="1275">
                <a:solidFill>
                  <a:srgbClr val="F8FAFC">
                    <a:alpha val="72000"/>
                  </a:srgbClr>
                </a:solidFill>
                <a:latin typeface="微软雅黑"/>
                <a:ea typeface="微软雅黑"/>
              </a:rPr>
              <a:t>注入进去（大模型没有系统时钟）</a:t>
            </a:r>
            <a:endParaRPr/>
          </a:p>
          <a:p>
            <a:pPr>
              <a:lnSpc>
                <a:spcPct val="185000"/>
              </a:lnSpc>
            </a:pPr>
            <a:r>
              <a:rPr sz="1275">
                <a:solidFill>
                  <a:srgbClr val="38BDF8"/>
                </a:solidFill>
                <a:latin typeface="微软雅黑"/>
                <a:ea typeface="微软雅黑"/>
              </a:rPr>
              <a:t>·</a:t>
            </a:r>
            <a:r>
              <a:rPr lang="en-US" sz="1275">
                <a:solidFill>
                  <a:srgbClr val="F8FAFC">
                    <a:alpha val="72000"/>
                  </a:srgbClr>
                </a:solidFill>
                <a:latin typeface="微软雅黑"/>
                <a:ea typeface="微软雅黑"/>
              </a:rPr>
              <a:t xml:space="preserve"> </a:t>
            </a:r>
            <a:r>
              <a:rPr lang="zh-CN" sz="1275">
                <a:solidFill>
                  <a:srgbClr val="F8FAFC">
                    <a:alpha val="72000"/>
                  </a:srgbClr>
                </a:solidFill>
                <a:latin typeface="微软雅黑"/>
                <a:ea typeface="微软雅黑"/>
              </a:rPr>
              <a:t>读这个家真实的设备名（你自建的</a:t>
            </a:r>
            <a:r>
              <a:rPr lang="en-US" sz="1275">
                <a:solidFill>
                  <a:srgbClr val="F8FAFC">
                    <a:alpha val="72000"/>
                  </a:srgbClr>
                </a:solidFill>
                <a:latin typeface="微软雅黑"/>
                <a:ea typeface="微软雅黑"/>
              </a:rPr>
              <a:t>"</a:t>
            </a:r>
            <a:r>
              <a:rPr lang="zh-CN" sz="1275">
                <a:solidFill>
                  <a:srgbClr val="F8FAFC">
                    <a:alpha val="72000"/>
                  </a:srgbClr>
                </a:solidFill>
                <a:latin typeface="微软雅黑"/>
                <a:ea typeface="微软雅黑"/>
              </a:rPr>
              <a:t>咖啡机</a:t>
            </a:r>
            <a:r>
              <a:rPr lang="en-US" sz="1275">
                <a:solidFill>
                  <a:srgbClr val="F8FAFC">
                    <a:alpha val="72000"/>
                  </a:srgbClr>
                </a:solidFill>
                <a:latin typeface="微软雅黑"/>
                <a:ea typeface="微软雅黑"/>
              </a:rPr>
              <a:t>"</a:t>
            </a:r>
            <a:r>
              <a:rPr lang="zh-CN" sz="1275">
                <a:solidFill>
                  <a:srgbClr val="F8FAFC">
                    <a:alpha val="72000"/>
                  </a:srgbClr>
                </a:solidFill>
                <a:latin typeface="微软雅黑"/>
                <a:ea typeface="微软雅黑"/>
              </a:rPr>
              <a:t>才听得懂）</a:t>
            </a:r>
            <a:endParaRPr/>
          </a:p>
        </p:txBody>
      </p:sp>
      <p:sp>
        <p:nvSpPr>
          <p:cNvPr id="228" name=""/>
          <p:cNvSpPr/>
          <p:nvPr/>
        </p:nvSpPr>
        <p:spPr>
          <a:xfrm rot="0" flipH="0" flipV="0">
            <a:off x="7391400" y="4705350"/>
            <a:ext cx="4191000" cy="1543050"/>
          </a:xfrm>
          <a:prstGeom prst="roundRect">
            <a:avLst>
              <a:gd name="adj" fmla="val 6173"/>
            </a:avLst>
          </a:prstGeom>
          <a:solidFill>
            <a:srgbClr val="16223A"/>
          </a:solidFill>
          <a:ln w="12700">
            <a:solidFill>
              <a:srgbClr val="F8FAFC">
                <a:alpha val="1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29" name="" descr="{&quot;isTemplate&quot;:true,&quot;type&quot;:&quot;text&quot;}"/>
          <p:cNvSpPr txBox="1"/>
          <p:nvPr/>
        </p:nvSpPr>
        <p:spPr>
          <a:xfrm rot="0" flipH="0" flipV="0">
            <a:off x="7639050" y="4933950"/>
            <a:ext cx="3695700" cy="10858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85000"/>
              </a:lnSpc>
            </a:pPr>
            <a:r>
              <a:rPr lang="zh-CN" sz="1275">
                <a:solidFill>
                  <a:srgbClr val="F8FAFC">
                    <a:alpha val="72000"/>
                  </a:srgbClr>
                </a:solidFill>
                <a:latin typeface="微软雅黑"/>
                <a:ea typeface="微软雅黑"/>
              </a:rPr>
              <a:t>第</a:t>
            </a:r>
            <a:r>
              <a:rPr lang="en-US" sz="1275">
                <a:solidFill>
                  <a:srgbClr val="F8FAFC">
                    <a:alpha val="72000"/>
                  </a:srgbClr>
                </a:solidFill>
                <a:latin typeface="微软雅黑"/>
                <a:ea typeface="微软雅黑"/>
              </a:rPr>
              <a:t xml:space="preserve"> 5 </a:t>
            </a:r>
            <a:r>
              <a:rPr lang="zh-CN" sz="1275">
                <a:solidFill>
                  <a:srgbClr val="F8FAFC">
                    <a:alpha val="72000"/>
                  </a:srgbClr>
                </a:solidFill>
                <a:latin typeface="微软雅黑"/>
                <a:ea typeface="微软雅黑"/>
              </a:rPr>
              <a:t>步不让模型自由发挥：</a:t>
            </a:r>
            <a:endParaRPr/>
          </a:p>
          <a:p>
            <a:pPr>
              <a:lnSpc>
                <a:spcPct val="185000"/>
              </a:lnSpc>
            </a:pPr>
            <a:r>
              <a:rPr lang="zh-CN" sz="1275">
                <a:solidFill>
                  <a:srgbClr val="F8FAFC">
                    <a:alpha val="72000"/>
                  </a:srgbClr>
                </a:solidFill>
                <a:latin typeface="微软雅黑"/>
                <a:ea typeface="微软雅黑"/>
              </a:rPr>
              <a:t>工具报了什么，就说什么。禁止因为</a:t>
            </a:r>
            <a:r>
              <a:rPr lang="en-US" sz="1275">
                <a:solidFill>
                  <a:srgbClr val="F8FAFC">
                    <a:alpha val="72000"/>
                  </a:srgbClr>
                </a:solidFill>
                <a:latin typeface="微软雅黑"/>
                <a:ea typeface="微软雅黑"/>
              </a:rPr>
              <a:t>"</a:t>
            </a:r>
            <a:r>
              <a:rPr lang="zh-CN" sz="1275">
                <a:solidFill>
                  <a:srgbClr val="F8FAFC">
                    <a:alpha val="72000"/>
                  </a:srgbClr>
                </a:solidFill>
                <a:latin typeface="微软雅黑"/>
                <a:ea typeface="微软雅黑"/>
              </a:rPr>
              <a:t>历史里提过</a:t>
            </a:r>
            <a:r>
              <a:rPr lang="en-US" sz="1275">
                <a:solidFill>
                  <a:srgbClr val="F8FAFC">
                    <a:alpha val="72000"/>
                  </a:srgbClr>
                </a:solidFill>
                <a:latin typeface="微软雅黑"/>
                <a:ea typeface="微软雅黑"/>
              </a:rPr>
              <a:t>"</a:t>
            </a:r>
            <a:r>
              <a:rPr lang="zh-CN" sz="1275">
                <a:solidFill>
                  <a:srgbClr val="F8FAFC">
                    <a:alpha val="72000"/>
                  </a:srgbClr>
                </a:solidFill>
                <a:latin typeface="微软雅黑"/>
                <a:ea typeface="微软雅黑"/>
              </a:rPr>
              <a:t>就说已完成。</a:t>
            </a:r>
            <a:endParaRPr/>
          </a:p>
        </p:txBody>
      </p:sp>
      <p:sp>
        <p:nvSpPr>
          <p:cNvPr id="230" name="" descr="{&quot;isTemplate&quot;:true,&quot;type&quot;:&quot;text&quot;}"/>
          <p:cNvSpPr txBox="1"/>
          <p:nvPr/>
        </p:nvSpPr>
        <p:spPr>
          <a:xfrm rot="0" flipH="0" flipV="0">
            <a:off x="609600" y="6477000"/>
            <a:ext cx="19431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F8FAFC">
                    <a:alpha val="40000"/>
                  </a:srgbClr>
                </a:solidFill>
                <a:latin typeface="微软雅黑"/>
                <a:ea typeface="微软雅黑"/>
              </a:rPr>
              <a:t xml:space="preserve">HomeMind · </a:t>
            </a:r>
            <a:r>
              <a:rPr lang="zh-CN" sz="975">
                <a:solidFill>
                  <a:srgbClr val="F8FAFC">
                    <a:alpha val="40000"/>
                  </a:srgbClr>
                </a:solidFill>
                <a:latin typeface="微软雅黑"/>
                <a:ea typeface="微软雅黑"/>
              </a:rPr>
              <a:t>智能家居多智能体中枢</a:t>
            </a:r>
            <a:endParaRPr/>
          </a:p>
        </p:txBody>
      </p:sp>
      <p:sp>
        <p:nvSpPr>
          <p:cNvPr id="231" name="" descr="{&quot;isTemplate&quot;:true,&quot;type&quot;:&quot;text&quot;}"/>
          <p:cNvSpPr txBox="1"/>
          <p:nvPr/>
        </p:nvSpPr>
        <p:spPr>
          <a:xfrm rot="0" flipH="0" flipV="0">
            <a:off x="11096625" y="6477000"/>
            <a:ext cx="4857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F8FAFC">
                    <a:alpha val="40000"/>
                  </a:srgbClr>
                </a:solidFill>
                <a:latin typeface="Consolas"/>
                <a:ea typeface="Consolas"/>
              </a:rPr>
              <a:t>05 / 13</a:t>
            </a:r>
            <a:endParaRPr/>
          </a:p>
        </p:txBody>
      </p:sp>
    </p:spTree>
  </p:cSld>
</p:sld>
</file>

<file path=ppt/slides/slide6.xml><?xml version="1.0" encoding="utf-8"?>
<p:sld xmlns:p="http://schemas.openxmlformats.org/presentationml/2006/main" xmlns:a="http://schemas.openxmlformats.org/drawingml/2006/main">
  <p:cSld>
    <p:spTree>
      <p:nvGrpSpPr>
        <p:cNvPr id="232" name="" descr="&lt;Slide style={{ width: 1280, height: 720, position: 'relative', overflow: 'hidden', background: '#0B1120', fontFamily: '微软雅黑' }}&gt;&#10;    &lt;Box style={{ height: 110, paddingLeft: 64, paddingRight: 64, paddingTop: 34, flexDirection: 'row', alignItems: 'center', gap: 18 }}&gt;&#10;        &lt;Box style={{ width: 4, height: 34, background: '#38BDF8' }} /&gt;&#10;        &lt;Text style={{ fontSize: 36, fontWeight: 700, color: '#F8FAFC', letterSpacing: 0.5 }}&gt;不是什么都交给一个大模型&lt;/Text&gt;&#10;    &lt;/Box&gt;&#10;&#10;    &lt;Box style={{ height: 546, paddingLeft: 64, paddingRight: 64, flexDirection: 'row', gap: 40 }}&gt;&#10;        &lt;Box style={{ width: 400, flexDirection: 'column', gap: 18, justifyContent: 'space-between' }}&gt;&#10;            &lt;Text style={{ fontSize: 26, fontWeight: 700, color: '#F8FAFC', lineHeight: 1.55 }}&gt;&#10;                Supervisor 只决策，&lt;br /&gt;不碰工具&#10;            &lt;/Text&gt;&#10;            &lt;Box style={{ width: 56, height: 3, background: '#38BDF8' }} /&gt;&#10;            &lt;Text style={{ fontSize: 18, color: 'rgba(248,250,252,0.62)', lineHeight: 1.8 }}&gt;&#10;                三个子 Agent 各有工具白名单——设备管家调不动日程，日程秘书碰不了门锁。&#10;            &lt;/Text&gt;&#10;            &lt;Text style={{ fontSize: 18, color: 'rgba(248,250,252,0.62)', lineHeight: 1.8 }}&gt;&#10;                执行前做冲突检测：同一台设备被要求&quot;开&quot;和&quot;关&quot;，直接挂起不执行。&#10;            &lt;/Text&gt;&#10;&#10;            &lt;Box style={{ background: 'rgba(56,189,248,0.08)', border: '1px solid rgba(56,189,248,0.30)', borderRadius: 10, padding: '22px 24px', marginTop: 6 }}&gt;&#10;                &lt;Text style={{ fontSize: 13, color: '#38BDF8', letterSpacing: 2, fontWeight: 700 }}&gt;多 Agent 会不会削弱安全&lt;/Text&gt;&#10;                &lt;Text style={{ fontSize: 18, fontWeight: 700, color: '#F8FAFC', lineHeight: 1.6, marginTop: 10 }}&gt;&#10;                    不会——两张图共用同一份执行原语。&#10;                &lt;/Text&gt;&#10;                &lt;Text style={{ fontSize: 16, color: 'rgba(248,250,252,0.58)', lineHeight: 1.7, marginTop: 8 }}&gt;&#10;                    护栏仍然只有一个位置，多一个 Agent 不会多一个绕过口。&#10;                &lt;/Text&gt;&#10;            &lt;/Box&gt;&#10;        &lt;/Box&gt;&#10;&#10;        &lt;Box style={{ width: 712, flexDirection: 'column', justifyContent: 'space-between', gap: 8 }}&gt;&#10;            &lt;Box style={{ height: 46, flexDirection: 'row', alignItems: 'center', justifyContent: 'center', background: '#16223A', border: '1px solid rgba(248,250,252,0.10)', borderRadius: 8 }}&gt;&#10;                &lt;Text style={{ fontSize: 16, color: 'rgba(248,250,252,0.62)' }}&gt;parse_intent 解析出 2 个任务&lt;/Text&gt;&#10;            &lt;/Box&gt;&#10;&#10;            &lt;Text style={{ fontSize: 18, color: 'rgba(56,189,248,0.55)', textAlign: 'center' }}&gt;↓&lt;/Text&gt;&#10;&#10;            &lt;Box style={{ height: 76, flexDirection: 'row', alignItems: 'center', justifyContent: 'center', background: 'rgba(56,189,248,0.12)', border: '1px solid rgba(56,189,248,0.55)', borderRadius: 8 }}&gt;&#10;                &lt;Box&gt;&#10;                    &lt;Text style={{ fontSize: 21, fontWeight: 700, color: '#38BDF8', textAlign: 'center' }}&gt;Supervisor&lt;/Text&gt;&#10;                    &lt;Text style={{ fontSize: 14, color: 'rgba(248,250,252,0.55)', textAlign: 'center', marginTop: 4 }}&gt;只负责分派，不直接调用任何工具&lt;/Text&gt;&#10;                &lt;/Box&gt;&#10;            &lt;/Box&gt;&#10;&#10;            &lt;Text style={{ fontSize: 18, color: 'rgba(56,189,248,0.55)', textAlign: 'center' }}&gt;↓&lt;/Text&gt;&#10;&#10;            &lt;Box style={{ height: 58, flexDirection: 'row', alignItems: 'center', gap: 14, background: '#16223A', border: '1px solid rgba(248,250,252,0.10)', borderRadius: 8, paddingLeft: 20, paddingRight: 20 }}&gt;&#10;                &lt;Text style={{ fontSize: 17, fontWeight: 700, color: '#F8FAFC', width: 130 }}&gt;device_agent&lt;/Text&gt;&#10;                &lt;Text style={{ fontSize: 15, color: 'rgba(248,250,252,0.55)' }}&gt;设备控制 / 查询 / 门锁&lt;/Text&gt;&#10;            &lt;/Box&gt;&#10;&#10;            &lt;Box style={{ height: 58, flexDirection: 'row', alignItems: 'center', gap: 14, background: '#16223A', border: '1px solid rgba(248,250,252,0.10)', borderRadius: 8, paddingLeft: 20, paddingRight: 20, marginLeft: 32 }}&gt;&#10;                &lt;Text style={{ fontSize: 17, fontWeight: 700, color: '#F8FAFC', width: 130 }}&gt;schedule_agent&lt;/Text&gt;&#10;                &lt;Text style={{ fontSize: 15, color: 'rgba(248,250,252,0.55)' }}&gt;创建提醒 / 查询日程&lt;/Text&gt;&#10;            &lt;/Box&gt;&#10;&#10;            &lt;Box style={{ height: 58, flexDirection: 'row', alignItems: 'center', gap: 14, background: '#16223A', border: '1px solid rgba(248,250,252,0.10)', borderRadius: 8, paddingLeft: 20, paddingRight: 20, marginLeft: 64 }}&gt;&#10;                &lt;Text style={{ fontSize: 17, fontWeight: 700, color: '#F8FAFC', width: 130 }}&gt;knowledge_agent&lt;/Text&gt;&#10;                &lt;Text style={{ fontSize: 15, color: 'rgba(248,250,252,0.55)' }}&gt;说明书问答（本地检索）&lt;/Text&gt;&#10;            &lt;/Box&gt;&#10;&#10;            &lt;Text style={{ fontSize: 18, color: 'rgba(56,189,248,0.55)', textAlign: 'center' }}&gt;↓&lt;/Text&gt;&#10;&#10;            &lt;Box style={{ height: 52, flexDirection: 'row', alignItems: 'center', justifyContent: 'center', background: 'rgba(251,113,133,0.08)', border: '1px solid rgba(251,113,133,0.40)', borderRadius: 8 }}&gt;&#10;                &lt;Text style={{ fontSize: 16, color: '#FB7185', fontWeight: 700 }}&gt;共用 agent/execution.py —— 治理只有一处实现&lt;/Text&gt;&#10;            &lt;/Box&gt;&#10;        &lt;/Box&gt;&#10;    &lt;/Box&gt;&#10;&#10;    &lt;Box style={{ height: 64, paddingLeft: 64, paddingRight: 64, flexDirection: 'row', justifyContent: 'space-between', alignItems: 'center' }}&gt;&#10;        &lt;Text style={{ fontSize: 13, color: 'rgba(248,250,252,0.40)' }}&gt;HomeMind · 智能家居多智能体中枢&lt;/Text&gt;&#10;        &lt;Text style={{ fontSize: 13, color: 'rgba(248,250,252,0.40)', fontFamily: 'Consolas' }}&gt;06 / 13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120"/>
          </a:solidFill>
          <a:ln/>
        </p:spPr>
        <p:txBody>
          <a:bodyPr/>
          <a:p/>
        </p:txBody>
      </p:sp>
      <p:sp>
        <p:nvSpPr>
          <p:cNvPr id="234" name=""/>
          <p:cNvSpPr/>
          <p:nvPr/>
        </p:nvSpPr>
        <p:spPr>
          <a:xfrm rot="0" flipH="0" flipV="0">
            <a:off x="609600" y="523875"/>
            <a:ext cx="38100" cy="323850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p/>
        </p:txBody>
      </p:sp>
      <p:sp>
        <p:nvSpPr>
          <p:cNvPr id="235" name="" descr="{&quot;isTemplate&quot;:true,&quot;type&quot;:&quot;text&quot;}"/>
          <p:cNvSpPr txBox="1"/>
          <p:nvPr/>
        </p:nvSpPr>
        <p:spPr>
          <a:xfrm rot="0" flipH="0" flipV="0">
            <a:off x="819150" y="476250"/>
            <a:ext cx="4171950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700" b="1" spc="38">
                <a:solidFill>
                  <a:srgbClr val="F8FAFC"/>
                </a:solidFill>
                <a:latin typeface="微软雅黑"/>
                <a:ea typeface="微软雅黑"/>
              </a:rPr>
              <a:t>不是什么都交给一个大模型</a:t>
            </a:r>
            <a:endParaRPr/>
          </a:p>
        </p:txBody>
      </p:sp>
      <p:sp>
        <p:nvSpPr>
          <p:cNvPr id="236" name="" descr="{&quot;isTemplate&quot;:true,&quot;type&quot;:&quot;text&quot;}"/>
          <p:cNvSpPr txBox="1"/>
          <p:nvPr/>
        </p:nvSpPr>
        <p:spPr>
          <a:xfrm rot="0" flipH="0" flipV="0">
            <a:off x="609600" y="1047750"/>
            <a:ext cx="3810000" cy="92392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1950" b="1">
                <a:solidFill>
                  <a:srgbClr val="F8FAFC"/>
                </a:solidFill>
                <a:latin typeface="微软雅黑"/>
                <a:ea typeface="微软雅黑"/>
              </a:rPr>
              <a:t xml:space="preserve">Supervisor </a:t>
            </a:r>
            <a:r>
              <a:rPr lang="zh-CN" sz="1950" b="1">
                <a:solidFill>
                  <a:srgbClr val="F8FAFC"/>
                </a:solidFill>
                <a:latin typeface="微软雅黑"/>
                <a:ea typeface="微软雅黑"/>
              </a:rPr>
              <a:t>只决策，</a:t>
            </a:r>
            <a:endParaRPr/>
          </a:p>
          <a:p>
            <a:pPr>
              <a:lnSpc>
                <a:spcPct val="155000"/>
              </a:lnSpc>
            </a:pPr>
            <a:r>
              <a:rPr lang="zh-CN" sz="1950" b="1">
                <a:solidFill>
                  <a:srgbClr val="F8FAFC"/>
                </a:solidFill>
                <a:latin typeface="微软雅黑"/>
                <a:ea typeface="微软雅黑"/>
              </a:rPr>
              <a:t>不碰工具</a:t>
            </a:r>
            <a:endParaRPr/>
          </a:p>
        </p:txBody>
      </p:sp>
      <p:sp>
        <p:nvSpPr>
          <p:cNvPr id="237" name=""/>
          <p:cNvSpPr/>
          <p:nvPr/>
        </p:nvSpPr>
        <p:spPr>
          <a:xfrm rot="0" flipH="0" flipV="0">
            <a:off x="609600" y="2219325"/>
            <a:ext cx="533400" cy="28575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p/>
        </p:txBody>
      </p:sp>
      <p:sp>
        <p:nvSpPr>
          <p:cNvPr id="238" name="" descr="{&quot;isTemplate&quot;:true,&quot;type&quot;:&quot;text&quot;}"/>
          <p:cNvSpPr txBox="1"/>
          <p:nvPr/>
        </p:nvSpPr>
        <p:spPr>
          <a:xfrm rot="0" flipH="0" flipV="0">
            <a:off x="609600" y="2505075"/>
            <a:ext cx="3810000" cy="7429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80000"/>
              </a:lnSpc>
            </a:pPr>
            <a:r>
              <a:rPr lang="zh-CN" sz="1350">
                <a:solidFill>
                  <a:srgbClr val="F8FAFC">
                    <a:alpha val="62000"/>
                  </a:srgbClr>
                </a:solidFill>
                <a:latin typeface="微软雅黑"/>
                <a:ea typeface="微软雅黑"/>
              </a:rPr>
              <a:t>三个子</a:t>
            </a:r>
            <a:r>
              <a:rPr lang="en-US" sz="1350">
                <a:solidFill>
                  <a:srgbClr val="F8FAFC">
                    <a:alpha val="62000"/>
                  </a:srgbClr>
                </a:solidFill>
                <a:latin typeface="微软雅黑"/>
                <a:ea typeface="微软雅黑"/>
              </a:rPr>
              <a:t xml:space="preserve"> Agent </a:t>
            </a:r>
            <a:r>
              <a:rPr lang="zh-CN" sz="1350">
                <a:solidFill>
                  <a:srgbClr val="F8FAFC">
                    <a:alpha val="62000"/>
                  </a:srgbClr>
                </a:solidFill>
                <a:latin typeface="微软雅黑"/>
                <a:ea typeface="微软雅黑"/>
              </a:rPr>
              <a:t>各有工具白名单——设备管家调不动日程，日程秘书碰不了门锁。</a:t>
            </a:r>
            <a:endParaRPr/>
          </a:p>
        </p:txBody>
      </p:sp>
      <p:sp>
        <p:nvSpPr>
          <p:cNvPr id="239" name="" descr="{&quot;isTemplate&quot;:true,&quot;type&quot;:&quot;text&quot;}"/>
          <p:cNvSpPr txBox="1"/>
          <p:nvPr/>
        </p:nvSpPr>
        <p:spPr>
          <a:xfrm rot="0" flipH="0" flipV="0">
            <a:off x="609600" y="3495675"/>
            <a:ext cx="3810000" cy="7429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80000"/>
              </a:lnSpc>
            </a:pPr>
            <a:r>
              <a:rPr lang="zh-CN" sz="1350">
                <a:solidFill>
                  <a:srgbClr val="F8FAFC">
                    <a:alpha val="62000"/>
                  </a:srgbClr>
                </a:solidFill>
                <a:latin typeface="微软雅黑"/>
                <a:ea typeface="微软雅黑"/>
              </a:rPr>
              <a:t>执行前做冲突检测：同一台设备被要求</a:t>
            </a:r>
            <a:r>
              <a:rPr lang="en-US" sz="1350">
                <a:solidFill>
                  <a:srgbClr val="F8FAFC">
                    <a:alpha val="62000"/>
                  </a:srgbClr>
                </a:solidFill>
                <a:latin typeface="微软雅黑"/>
                <a:ea typeface="微软雅黑"/>
              </a:rPr>
              <a:t>"</a:t>
            </a:r>
            <a:r>
              <a:rPr lang="zh-CN" sz="1350">
                <a:solidFill>
                  <a:srgbClr val="F8FAFC">
                    <a:alpha val="62000"/>
                  </a:srgbClr>
                </a:solidFill>
                <a:latin typeface="微软雅黑"/>
                <a:ea typeface="微软雅黑"/>
              </a:rPr>
              <a:t>开</a:t>
            </a:r>
            <a:r>
              <a:rPr lang="en-US" sz="1350">
                <a:solidFill>
                  <a:srgbClr val="F8FAFC">
                    <a:alpha val="62000"/>
                  </a:srgbClr>
                </a:solidFill>
                <a:latin typeface="微软雅黑"/>
                <a:ea typeface="微软雅黑"/>
              </a:rPr>
              <a:t>"</a:t>
            </a:r>
            <a:r>
              <a:rPr lang="zh-CN" sz="1350">
                <a:solidFill>
                  <a:srgbClr val="F8FAFC">
                    <a:alpha val="62000"/>
                  </a:srgbClr>
                </a:solidFill>
                <a:latin typeface="微软雅黑"/>
                <a:ea typeface="微软雅黑"/>
              </a:rPr>
              <a:t>和</a:t>
            </a:r>
            <a:r>
              <a:rPr lang="en-US" sz="1350">
                <a:solidFill>
                  <a:srgbClr val="F8FAFC">
                    <a:alpha val="62000"/>
                  </a:srgbClr>
                </a:solidFill>
                <a:latin typeface="微软雅黑"/>
                <a:ea typeface="微软雅黑"/>
              </a:rPr>
              <a:t>"</a:t>
            </a:r>
            <a:r>
              <a:rPr lang="zh-CN" sz="1350">
                <a:solidFill>
                  <a:srgbClr val="F8FAFC">
                    <a:alpha val="62000"/>
                  </a:srgbClr>
                </a:solidFill>
                <a:latin typeface="微软雅黑"/>
                <a:ea typeface="微软雅黑"/>
              </a:rPr>
              <a:t>关</a:t>
            </a:r>
            <a:r>
              <a:rPr lang="en-US" sz="1350">
                <a:solidFill>
                  <a:srgbClr val="F8FAFC">
                    <a:alpha val="62000"/>
                  </a:srgbClr>
                </a:solidFill>
                <a:latin typeface="微软雅黑"/>
                <a:ea typeface="微软雅黑"/>
              </a:rPr>
              <a:t>"</a:t>
            </a:r>
            <a:r>
              <a:rPr lang="zh-CN" sz="1350">
                <a:solidFill>
                  <a:srgbClr val="F8FAFC">
                    <a:alpha val="62000"/>
                  </a:srgbClr>
                </a:solidFill>
                <a:latin typeface="微软雅黑"/>
                <a:ea typeface="微软雅黑"/>
              </a:rPr>
              <a:t>，直接挂起不执行。</a:t>
            </a:r>
            <a:endParaRPr/>
          </a:p>
        </p:txBody>
      </p:sp>
      <p:sp>
        <p:nvSpPr>
          <p:cNvPr id="240" name=""/>
          <p:cNvSpPr/>
          <p:nvPr/>
        </p:nvSpPr>
        <p:spPr>
          <a:xfrm rot="0" flipH="0" flipV="0">
            <a:off x="609600" y="4543425"/>
            <a:ext cx="3810000" cy="1704975"/>
          </a:xfrm>
          <a:prstGeom prst="roundRect">
            <a:avLst>
              <a:gd name="adj" fmla="val 5587"/>
            </a:avLst>
          </a:prstGeom>
          <a:solidFill>
            <a:srgbClr val="38BDF8">
              <a:alpha val="8000"/>
            </a:srgbClr>
          </a:solidFill>
          <a:ln w="12700">
            <a:solidFill>
              <a:srgbClr val="38BDF8">
                <a:alpha val="3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41" name="" descr="{&quot;isTemplate&quot;:true,&quot;type&quot;:&quot;text&quot;}"/>
          <p:cNvSpPr txBox="1"/>
          <p:nvPr/>
        </p:nvSpPr>
        <p:spPr>
          <a:xfrm rot="0" flipH="0" flipV="0">
            <a:off x="838200" y="4752975"/>
            <a:ext cx="33528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b="1" spc="150">
                <a:solidFill>
                  <a:srgbClr val="38BDF8"/>
                </a:solidFill>
                <a:latin typeface="微软雅黑"/>
                <a:ea typeface="微软雅黑"/>
              </a:rPr>
              <a:t>多</a:t>
            </a:r>
            <a:r>
              <a:rPr lang="en-US" sz="975" b="1" spc="150">
                <a:solidFill>
                  <a:srgbClr val="38BDF8"/>
                </a:solidFill>
                <a:latin typeface="微软雅黑"/>
                <a:ea typeface="微软雅黑"/>
              </a:rPr>
              <a:t xml:space="preserve"> Agent </a:t>
            </a:r>
            <a:r>
              <a:rPr lang="zh-CN" sz="975" b="1" spc="150">
                <a:solidFill>
                  <a:srgbClr val="38BDF8"/>
                </a:solidFill>
                <a:latin typeface="微软雅黑"/>
                <a:ea typeface="微软雅黑"/>
              </a:rPr>
              <a:t>会不会削弱安全</a:t>
            </a:r>
            <a:endParaRPr/>
          </a:p>
        </p:txBody>
      </p:sp>
      <p:sp>
        <p:nvSpPr>
          <p:cNvPr id="242" name="" descr="{&quot;isTemplate&quot;:true,&quot;type&quot;:&quot;text&quot;}"/>
          <p:cNvSpPr txBox="1"/>
          <p:nvPr/>
        </p:nvSpPr>
        <p:spPr>
          <a:xfrm rot="0" flipH="0" flipV="0">
            <a:off x="838200" y="5000625"/>
            <a:ext cx="3352800" cy="33337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350" b="1">
                <a:solidFill>
                  <a:srgbClr val="F8FAFC"/>
                </a:solidFill>
                <a:latin typeface="微软雅黑"/>
                <a:ea typeface="微软雅黑"/>
              </a:rPr>
              <a:t>不会——两张图共用同一份执行原语。</a:t>
            </a:r>
            <a:endParaRPr/>
          </a:p>
        </p:txBody>
      </p:sp>
      <p:sp>
        <p:nvSpPr>
          <p:cNvPr id="243" name="" descr="{&quot;isTemplate&quot;:true,&quot;type&quot;:&quot;text&quot;}"/>
          <p:cNvSpPr txBox="1"/>
          <p:nvPr/>
        </p:nvSpPr>
        <p:spPr>
          <a:xfrm rot="0" flipH="0" flipV="0">
            <a:off x="838200" y="5410200"/>
            <a:ext cx="3352800" cy="6286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200">
                <a:solidFill>
                  <a:srgbClr val="F8FAFC">
                    <a:alpha val="58000"/>
                  </a:srgbClr>
                </a:solidFill>
                <a:latin typeface="微软雅黑"/>
                <a:ea typeface="微软雅黑"/>
              </a:rPr>
              <a:t>护栏仍然只有一个位置，多一个</a:t>
            </a:r>
            <a:r>
              <a:rPr lang="en-US" sz="1200">
                <a:solidFill>
                  <a:srgbClr val="F8FAFC">
                    <a:alpha val="58000"/>
                  </a:srgbClr>
                </a:solidFill>
                <a:latin typeface="微软雅黑"/>
                <a:ea typeface="微软雅黑"/>
              </a:rPr>
              <a:t xml:space="preserve"> Agent </a:t>
            </a:r>
            <a:r>
              <a:rPr lang="zh-CN" sz="1200">
                <a:solidFill>
                  <a:srgbClr val="F8FAFC">
                    <a:alpha val="58000"/>
                  </a:srgbClr>
                </a:solidFill>
                <a:latin typeface="微软雅黑"/>
                <a:ea typeface="微软雅黑"/>
              </a:rPr>
              <a:t>不会多一个绕过口。</a:t>
            </a:r>
            <a:endParaRPr/>
          </a:p>
        </p:txBody>
      </p:sp>
      <p:sp>
        <p:nvSpPr>
          <p:cNvPr id="244" name=""/>
          <p:cNvSpPr/>
          <p:nvPr/>
        </p:nvSpPr>
        <p:spPr>
          <a:xfrm rot="0" flipH="0" flipV="0">
            <a:off x="4800600" y="1047750"/>
            <a:ext cx="6781800" cy="438150"/>
          </a:xfrm>
          <a:prstGeom prst="roundRect">
            <a:avLst>
              <a:gd name="adj" fmla="val 17391"/>
            </a:avLst>
          </a:prstGeom>
          <a:solidFill>
            <a:srgbClr val="16223A"/>
          </a:solidFill>
          <a:ln w="12700">
            <a:solidFill>
              <a:srgbClr val="F8FAFC">
                <a:alpha val="1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45" name="" descr="{&quot;isTemplate&quot;:true,&quot;type&quot;:&quot;text&quot;}"/>
          <p:cNvSpPr txBox="1"/>
          <p:nvPr/>
        </p:nvSpPr>
        <p:spPr>
          <a:xfrm rot="0" flipH="0" flipV="0">
            <a:off x="7200900" y="1171575"/>
            <a:ext cx="19812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F8FAFC">
                    <a:alpha val="62000"/>
                  </a:srgbClr>
                </a:solidFill>
                <a:latin typeface="微软雅黑"/>
                <a:ea typeface="微软雅黑"/>
              </a:rPr>
              <a:t xml:space="preserve">parse_intent </a:t>
            </a:r>
            <a:r>
              <a:rPr lang="zh-CN" sz="1200">
                <a:solidFill>
                  <a:srgbClr val="F8FAFC">
                    <a:alpha val="62000"/>
                  </a:srgbClr>
                </a:solidFill>
                <a:latin typeface="微软雅黑"/>
                <a:ea typeface="微软雅黑"/>
              </a:rPr>
              <a:t>解析出</a:t>
            </a:r>
            <a:r>
              <a:rPr lang="en-US" sz="1200">
                <a:solidFill>
                  <a:srgbClr val="F8FAFC">
                    <a:alpha val="62000"/>
                  </a:srgbClr>
                </a:solidFill>
                <a:latin typeface="微软雅黑"/>
                <a:ea typeface="微软雅黑"/>
              </a:rPr>
              <a:t xml:space="preserve"> 2 </a:t>
            </a:r>
            <a:r>
              <a:rPr lang="zh-CN" sz="1200">
                <a:solidFill>
                  <a:srgbClr val="F8FAFC">
                    <a:alpha val="62000"/>
                  </a:srgbClr>
                </a:solidFill>
                <a:latin typeface="微软雅黑"/>
                <a:ea typeface="微软雅黑"/>
              </a:rPr>
              <a:t>个任务</a:t>
            </a:r>
            <a:endParaRPr/>
          </a:p>
        </p:txBody>
      </p:sp>
      <p:sp>
        <p:nvSpPr>
          <p:cNvPr id="246" name="" descr="{&quot;isTemplate&quot;:true,&quot;type&quot;:&quot;text&quot;}"/>
          <p:cNvSpPr txBox="1"/>
          <p:nvPr/>
        </p:nvSpPr>
        <p:spPr>
          <a:xfrm rot="0" flipH="0" flipV="0">
            <a:off x="4800600" y="1647825"/>
            <a:ext cx="6781800" cy="20955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sz="1350">
                <a:solidFill>
                  <a:srgbClr val="38BDF8">
                    <a:alpha val="55000"/>
                  </a:srgbClr>
                </a:solidFill>
                <a:latin typeface="微软雅黑"/>
                <a:ea typeface="微软雅黑"/>
              </a:rPr>
              <a:t>↓</a:t>
            </a:r>
            <a:endParaRPr/>
          </a:p>
        </p:txBody>
      </p:sp>
      <p:sp>
        <p:nvSpPr>
          <p:cNvPr id="247" name=""/>
          <p:cNvSpPr/>
          <p:nvPr/>
        </p:nvSpPr>
        <p:spPr>
          <a:xfrm rot="0" flipH="0" flipV="0">
            <a:off x="4800600" y="2009775"/>
            <a:ext cx="6781800" cy="723900"/>
          </a:xfrm>
          <a:prstGeom prst="roundRect">
            <a:avLst>
              <a:gd name="adj" fmla="val 10526"/>
            </a:avLst>
          </a:prstGeom>
          <a:solidFill>
            <a:srgbClr val="38BDF8">
              <a:alpha val="12000"/>
            </a:srgbClr>
          </a:solidFill>
          <a:ln w="12700">
            <a:solidFill>
              <a:srgbClr val="38BDF8">
                <a:alpha val="5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48" name="" descr="{&quot;isTemplate&quot;:true,&quot;type&quot;:&quot;text&quot;}"/>
          <p:cNvSpPr txBox="1"/>
          <p:nvPr/>
        </p:nvSpPr>
        <p:spPr>
          <a:xfrm rot="0" flipH="0" flipV="0">
            <a:off x="7191375" y="2152650"/>
            <a:ext cx="2000250" cy="24765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en-US" sz="1575" b="1">
                <a:solidFill>
                  <a:srgbClr val="38BDF8"/>
                </a:solidFill>
                <a:latin typeface="微软雅黑"/>
                <a:ea typeface="微软雅黑"/>
              </a:rPr>
              <a:t>Supervisor</a:t>
            </a:r>
            <a:endParaRPr/>
          </a:p>
        </p:txBody>
      </p:sp>
      <p:sp>
        <p:nvSpPr>
          <p:cNvPr id="249" name="" descr="{&quot;isTemplate&quot;:true,&quot;type&quot;:&quot;text&quot;}"/>
          <p:cNvSpPr txBox="1"/>
          <p:nvPr/>
        </p:nvSpPr>
        <p:spPr>
          <a:xfrm rot="0" flipH="0" flipV="0">
            <a:off x="7191375" y="2438400"/>
            <a:ext cx="2000250" cy="161925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zh-CN" sz="1050">
                <a:solidFill>
                  <a:srgbClr val="F8FAFC">
                    <a:alpha val="55000"/>
                  </a:srgbClr>
                </a:solidFill>
                <a:latin typeface="微软雅黑"/>
                <a:ea typeface="微软雅黑"/>
              </a:rPr>
              <a:t>只负责分派，不直接调用任何工具</a:t>
            </a:r>
            <a:endParaRPr/>
          </a:p>
        </p:txBody>
      </p:sp>
      <p:sp>
        <p:nvSpPr>
          <p:cNvPr id="250" name="" descr="{&quot;isTemplate&quot;:true,&quot;type&quot;:&quot;text&quot;}"/>
          <p:cNvSpPr txBox="1"/>
          <p:nvPr/>
        </p:nvSpPr>
        <p:spPr>
          <a:xfrm rot="0" flipH="0" flipV="0">
            <a:off x="4800600" y="2895600"/>
            <a:ext cx="6781800" cy="20955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sz="1350">
                <a:solidFill>
                  <a:srgbClr val="38BDF8">
                    <a:alpha val="55000"/>
                  </a:srgbClr>
                </a:solidFill>
                <a:latin typeface="微软雅黑"/>
                <a:ea typeface="微软雅黑"/>
              </a:rPr>
              <a:t>↓</a:t>
            </a:r>
            <a:endParaRPr/>
          </a:p>
        </p:txBody>
      </p:sp>
      <p:sp>
        <p:nvSpPr>
          <p:cNvPr id="251" name=""/>
          <p:cNvSpPr/>
          <p:nvPr/>
        </p:nvSpPr>
        <p:spPr>
          <a:xfrm rot="0" flipH="0" flipV="0">
            <a:off x="4800600" y="3257550"/>
            <a:ext cx="6781800" cy="552450"/>
          </a:xfrm>
          <a:prstGeom prst="roundRect">
            <a:avLst>
              <a:gd name="adj" fmla="val 13793"/>
            </a:avLst>
          </a:prstGeom>
          <a:solidFill>
            <a:srgbClr val="16223A"/>
          </a:solidFill>
          <a:ln w="12700">
            <a:solidFill>
              <a:srgbClr val="F8FAFC">
                <a:alpha val="1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52" name="" descr="{&quot;isTemplate&quot;:true,&quot;type&quot;:&quot;text&quot;}"/>
          <p:cNvSpPr txBox="1"/>
          <p:nvPr/>
        </p:nvSpPr>
        <p:spPr>
          <a:xfrm rot="0" flipH="0" flipV="0">
            <a:off x="4991100" y="3438525"/>
            <a:ext cx="12382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8FAFC"/>
                </a:solidFill>
                <a:latin typeface="微软雅黑"/>
                <a:ea typeface="微软雅黑"/>
              </a:rPr>
              <a:t>device_agent</a:t>
            </a:r>
            <a:endParaRPr/>
          </a:p>
        </p:txBody>
      </p:sp>
      <p:sp>
        <p:nvSpPr>
          <p:cNvPr id="253" name="" descr="{&quot;isTemplate&quot;:true,&quot;type&quot;:&quot;text&quot;}"/>
          <p:cNvSpPr txBox="1"/>
          <p:nvPr/>
        </p:nvSpPr>
        <p:spPr>
          <a:xfrm rot="0" flipH="0" flipV="0">
            <a:off x="6362700" y="3448050"/>
            <a:ext cx="14382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F8FAFC">
                    <a:alpha val="55000"/>
                  </a:srgbClr>
                </a:solidFill>
                <a:latin typeface="微软雅黑"/>
                <a:ea typeface="微软雅黑"/>
              </a:rPr>
              <a:t>设备控制</a:t>
            </a:r>
            <a:r>
              <a:rPr lang="en-US" sz="1125">
                <a:solidFill>
                  <a:srgbClr val="F8FAFC">
                    <a:alpha val="55000"/>
                  </a:srgbClr>
                </a:solidFill>
                <a:latin typeface="微软雅黑"/>
                <a:ea typeface="微软雅黑"/>
              </a:rPr>
              <a:t xml:space="preserve"> / </a:t>
            </a:r>
            <a:r>
              <a:rPr lang="zh-CN" sz="1125">
                <a:solidFill>
                  <a:srgbClr val="F8FAFC">
                    <a:alpha val="55000"/>
                  </a:srgbClr>
                </a:solidFill>
                <a:latin typeface="微软雅黑"/>
                <a:ea typeface="微软雅黑"/>
              </a:rPr>
              <a:t>查询</a:t>
            </a:r>
            <a:r>
              <a:rPr lang="en-US" sz="1125">
                <a:solidFill>
                  <a:srgbClr val="F8FAFC">
                    <a:alpha val="55000"/>
                  </a:srgbClr>
                </a:solidFill>
                <a:latin typeface="微软雅黑"/>
                <a:ea typeface="微软雅黑"/>
              </a:rPr>
              <a:t xml:space="preserve"> / </a:t>
            </a:r>
            <a:r>
              <a:rPr lang="zh-CN" sz="1125">
                <a:solidFill>
                  <a:srgbClr val="F8FAFC">
                    <a:alpha val="55000"/>
                  </a:srgbClr>
                </a:solidFill>
                <a:latin typeface="微软雅黑"/>
                <a:ea typeface="微软雅黑"/>
              </a:rPr>
              <a:t>门锁</a:t>
            </a:r>
            <a:endParaRPr/>
          </a:p>
        </p:txBody>
      </p:sp>
      <p:sp>
        <p:nvSpPr>
          <p:cNvPr id="254" name=""/>
          <p:cNvSpPr/>
          <p:nvPr/>
        </p:nvSpPr>
        <p:spPr>
          <a:xfrm rot="0" flipH="0" flipV="0">
            <a:off x="5105400" y="3971925"/>
            <a:ext cx="6477000" cy="552450"/>
          </a:xfrm>
          <a:prstGeom prst="roundRect">
            <a:avLst>
              <a:gd name="adj" fmla="val 13793"/>
            </a:avLst>
          </a:prstGeom>
          <a:solidFill>
            <a:srgbClr val="16223A"/>
          </a:solidFill>
          <a:ln w="12700">
            <a:solidFill>
              <a:srgbClr val="F8FAFC">
                <a:alpha val="1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55" name="" descr="{&quot;isTemplate&quot;:true,&quot;type&quot;:&quot;text&quot;}"/>
          <p:cNvSpPr txBox="1"/>
          <p:nvPr/>
        </p:nvSpPr>
        <p:spPr>
          <a:xfrm rot="0" flipH="0" flipV="0">
            <a:off x="5295900" y="4152900"/>
            <a:ext cx="12382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8FAFC"/>
                </a:solidFill>
                <a:latin typeface="微软雅黑"/>
                <a:ea typeface="微软雅黑"/>
              </a:rPr>
              <a:t>schedule_agent</a:t>
            </a:r>
            <a:endParaRPr/>
          </a:p>
        </p:txBody>
      </p:sp>
      <p:sp>
        <p:nvSpPr>
          <p:cNvPr id="256" name="" descr="{&quot;isTemplate&quot;:true,&quot;type&quot;:&quot;text&quot;}"/>
          <p:cNvSpPr txBox="1"/>
          <p:nvPr/>
        </p:nvSpPr>
        <p:spPr>
          <a:xfrm rot="0" flipH="0" flipV="0">
            <a:off x="6667500" y="4162425"/>
            <a:ext cx="12954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F8FAFC">
                    <a:alpha val="55000"/>
                  </a:srgbClr>
                </a:solidFill>
                <a:latin typeface="微软雅黑"/>
                <a:ea typeface="微软雅黑"/>
              </a:rPr>
              <a:t>创建提醒</a:t>
            </a:r>
            <a:r>
              <a:rPr lang="en-US" sz="1125">
                <a:solidFill>
                  <a:srgbClr val="F8FAFC">
                    <a:alpha val="55000"/>
                  </a:srgbClr>
                </a:solidFill>
                <a:latin typeface="微软雅黑"/>
                <a:ea typeface="微软雅黑"/>
              </a:rPr>
              <a:t xml:space="preserve"> / </a:t>
            </a:r>
            <a:r>
              <a:rPr lang="zh-CN" sz="1125">
                <a:solidFill>
                  <a:srgbClr val="F8FAFC">
                    <a:alpha val="55000"/>
                  </a:srgbClr>
                </a:solidFill>
                <a:latin typeface="微软雅黑"/>
                <a:ea typeface="微软雅黑"/>
              </a:rPr>
              <a:t>查询日程</a:t>
            </a:r>
            <a:endParaRPr/>
          </a:p>
        </p:txBody>
      </p:sp>
      <p:sp>
        <p:nvSpPr>
          <p:cNvPr id="257" name=""/>
          <p:cNvSpPr/>
          <p:nvPr/>
        </p:nvSpPr>
        <p:spPr>
          <a:xfrm rot="0" flipH="0" flipV="0">
            <a:off x="5410200" y="4676775"/>
            <a:ext cx="6172200" cy="552450"/>
          </a:xfrm>
          <a:prstGeom prst="roundRect">
            <a:avLst>
              <a:gd name="adj" fmla="val 13793"/>
            </a:avLst>
          </a:prstGeom>
          <a:solidFill>
            <a:srgbClr val="16223A"/>
          </a:solidFill>
          <a:ln w="12700">
            <a:solidFill>
              <a:srgbClr val="F8FAFC">
                <a:alpha val="1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58" name="" descr="{&quot;isTemplate&quot;:true,&quot;type&quot;:&quot;text&quot;}"/>
          <p:cNvSpPr txBox="1"/>
          <p:nvPr/>
        </p:nvSpPr>
        <p:spPr>
          <a:xfrm rot="0" flipH="0" flipV="0">
            <a:off x="5600700" y="4857750"/>
            <a:ext cx="12382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8FAFC"/>
                </a:solidFill>
                <a:latin typeface="微软雅黑"/>
                <a:ea typeface="微软雅黑"/>
              </a:rPr>
              <a:t>knowledge_agent</a:t>
            </a:r>
            <a:endParaRPr/>
          </a:p>
        </p:txBody>
      </p:sp>
      <p:sp>
        <p:nvSpPr>
          <p:cNvPr id="259" name="" descr="{&quot;isTemplate&quot;:true,&quot;type&quot;:&quot;text&quot;}"/>
          <p:cNvSpPr txBox="1"/>
          <p:nvPr/>
        </p:nvSpPr>
        <p:spPr>
          <a:xfrm rot="0" flipH="0" flipV="0">
            <a:off x="6972300" y="4867275"/>
            <a:ext cx="15716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F8FAFC">
                    <a:alpha val="55000"/>
                  </a:srgbClr>
                </a:solidFill>
                <a:latin typeface="微软雅黑"/>
                <a:ea typeface="微软雅黑"/>
              </a:rPr>
              <a:t>说明书问答（本地检索）</a:t>
            </a:r>
            <a:endParaRPr/>
          </a:p>
        </p:txBody>
      </p:sp>
      <p:sp>
        <p:nvSpPr>
          <p:cNvPr id="260" name="" descr="{&quot;isTemplate&quot;:true,&quot;type&quot;:&quot;text&quot;}"/>
          <p:cNvSpPr txBox="1"/>
          <p:nvPr/>
        </p:nvSpPr>
        <p:spPr>
          <a:xfrm rot="0" flipH="0" flipV="0">
            <a:off x="4800600" y="5391150"/>
            <a:ext cx="6781800" cy="20955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sz="1350">
                <a:solidFill>
                  <a:srgbClr val="38BDF8">
                    <a:alpha val="55000"/>
                  </a:srgbClr>
                </a:solidFill>
                <a:latin typeface="微软雅黑"/>
                <a:ea typeface="微软雅黑"/>
              </a:rPr>
              <a:t>↓</a:t>
            </a:r>
            <a:endParaRPr/>
          </a:p>
        </p:txBody>
      </p:sp>
      <p:sp>
        <p:nvSpPr>
          <p:cNvPr id="261" name=""/>
          <p:cNvSpPr/>
          <p:nvPr/>
        </p:nvSpPr>
        <p:spPr>
          <a:xfrm rot="0" flipH="0" flipV="0">
            <a:off x="4800600" y="5753100"/>
            <a:ext cx="6781800" cy="495300"/>
          </a:xfrm>
          <a:prstGeom prst="roundRect">
            <a:avLst>
              <a:gd name="adj" fmla="val 15385"/>
            </a:avLst>
          </a:prstGeom>
          <a:solidFill>
            <a:srgbClr val="FB7185">
              <a:alpha val="8000"/>
            </a:srgbClr>
          </a:solidFill>
          <a:ln w="12700">
            <a:solidFill>
              <a:srgbClr val="FB7185">
                <a:alpha val="4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62" name="" descr="{&quot;isTemplate&quot;:true,&quot;type&quot;:&quot;text&quot;}"/>
          <p:cNvSpPr txBox="1"/>
          <p:nvPr/>
        </p:nvSpPr>
        <p:spPr>
          <a:xfrm rot="0" flipH="0" flipV="0">
            <a:off x="6467475" y="5905500"/>
            <a:ext cx="34480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FB7185"/>
                </a:solidFill>
                <a:latin typeface="微软雅黑"/>
                <a:ea typeface="微软雅黑"/>
              </a:rPr>
              <a:t>共用</a:t>
            </a:r>
            <a:r>
              <a:rPr lang="en-US" sz="1200" b="1">
                <a:solidFill>
                  <a:srgbClr val="FB7185"/>
                </a:solidFill>
                <a:latin typeface="微软雅黑"/>
                <a:ea typeface="微软雅黑"/>
              </a:rPr>
              <a:t xml:space="preserve"> agent/execution.py —— </a:t>
            </a:r>
            <a:r>
              <a:rPr lang="zh-CN" sz="1200" b="1">
                <a:solidFill>
                  <a:srgbClr val="FB7185"/>
                </a:solidFill>
                <a:latin typeface="微软雅黑"/>
                <a:ea typeface="微软雅黑"/>
              </a:rPr>
              <a:t>治理只有一处实现</a:t>
            </a:r>
            <a:endParaRPr/>
          </a:p>
        </p:txBody>
      </p:sp>
      <p:sp>
        <p:nvSpPr>
          <p:cNvPr id="263" name="" descr="{&quot;isTemplate&quot;:true,&quot;type&quot;:&quot;text&quot;}"/>
          <p:cNvSpPr txBox="1"/>
          <p:nvPr/>
        </p:nvSpPr>
        <p:spPr>
          <a:xfrm rot="0" flipH="0" flipV="0">
            <a:off x="609600" y="6477000"/>
            <a:ext cx="19431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F8FAFC">
                    <a:alpha val="40000"/>
                  </a:srgbClr>
                </a:solidFill>
                <a:latin typeface="微软雅黑"/>
                <a:ea typeface="微软雅黑"/>
              </a:rPr>
              <a:t xml:space="preserve">HomeMind · </a:t>
            </a:r>
            <a:r>
              <a:rPr lang="zh-CN" sz="975">
                <a:solidFill>
                  <a:srgbClr val="F8FAFC">
                    <a:alpha val="40000"/>
                  </a:srgbClr>
                </a:solidFill>
                <a:latin typeface="微软雅黑"/>
                <a:ea typeface="微软雅黑"/>
              </a:rPr>
              <a:t>智能家居多智能体中枢</a:t>
            </a:r>
            <a:endParaRPr/>
          </a:p>
        </p:txBody>
      </p:sp>
      <p:sp>
        <p:nvSpPr>
          <p:cNvPr id="264" name="" descr="{&quot;isTemplate&quot;:true,&quot;type&quot;:&quot;text&quot;}"/>
          <p:cNvSpPr txBox="1"/>
          <p:nvPr/>
        </p:nvSpPr>
        <p:spPr>
          <a:xfrm rot="0" flipH="0" flipV="0">
            <a:off x="11096625" y="6477000"/>
            <a:ext cx="4857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F8FAFC">
                    <a:alpha val="40000"/>
                  </a:srgbClr>
                </a:solidFill>
                <a:latin typeface="Consolas"/>
                <a:ea typeface="Consolas"/>
              </a:rPr>
              <a:t>06 / 13</a:t>
            </a:r>
            <a:endParaRPr/>
          </a:p>
        </p:txBody>
      </p:sp>
    </p:spTree>
  </p:cSld>
</p:sld>
</file>

<file path=ppt/slides/slide7.xml><?xml version="1.0" encoding="utf-8"?>
<p:sld xmlns:p="http://schemas.openxmlformats.org/presentationml/2006/main" xmlns:a="http://schemas.openxmlformats.org/drawingml/2006/main">
  <p:cSld>
    <p:spTree>
      <p:nvGrpSpPr>
        <p:cNvPr id="265" name="" descr="&lt;Slide style={{ width: 1280, height: 720, position: 'relative', overflow: 'hidden', background: '#0B1120', fontFamily: '微软雅黑' }}&gt;&#10;    &lt;Box style={{ height: 110, paddingLeft: 64, paddingRight: 64, paddingTop: 34, flexDirection: 'row', alignItems: 'center', gap: 18 }}&gt;&#10;        &lt;Box style={{ width: 4, height: 34, background: '#38BDF8' }} /&gt;&#10;        &lt;Text style={{ fontSize: 36, fontWeight: 700, color: '#F8FAFC', letterSpacing: 0.5 }}&gt;它会记得你说过 26 度&lt;/Text&gt;&#10;    &lt;/Box&gt;&#10;&#10;    &lt;Box style={{ height: 546, paddingLeft: 64, paddingRight: 64, flexDirection: 'column', gap: 24 }}&gt;&#10;        &lt;Box style={{ height: 300, flexDirection: 'column', gap: 12 }}&gt;&#10;            &lt;Box style={{ height: 84, flexDirection: 'row', alignItems: 'center', gap: 22, background: 'rgba(56,189,248,0.10)', border: '1px solid rgba(56,189,248,0.45)', borderRadius: 8, paddingLeft: 26, paddingRight: 26 }}&gt;&#10;                &lt;Text style={{ fontSize: 18, fontWeight: 700, color: '#38BDF8', width: 110 }}&gt;短期记忆&lt;/Text&gt;&#10;                &lt;Box style={{ width: 900 }}&gt;&#10;                    &lt;Text style={{ fontSize: 19, fontWeight: 700, color: '#F8FAFC' }}&gt;Redis 滑动窗口 · 带 TTL&lt;/Text&gt;&#10;                    &lt;Text style={{ fontSize: 15, color: 'rgba(248,250,252,0.55)', marginTop: 6 }}&gt;当前这轮对话的上下文。本机没起 Redis，实际跑进程内存（降级）&lt;/Text&gt;&#10;                &lt;/Box&gt;&#10;            &lt;/Box&gt;&#10;&#10;            &lt;Box style={{ height: 84, flexDirection: 'row', alignItems: 'center', gap: 22, background: '#16223A', border: '1px solid rgba(248,250,252,0.10)', borderRadius: 8, paddingLeft: 26, paddingRight: 26, marginLeft: 60 }}&gt;&#10;                &lt;Text style={{ fontSize: 18, fontWeight: 700, color: '#F8FAFC', width: 110 }}&gt;长期记忆&lt;/Text&gt;&#10;                &lt;Box style={{ width: 800 }}&gt;&#10;                    &lt;Text style={{ fontSize: 19, fontWeight: 700, color: '#F8FAFC' }}&gt;SQLite · 版本留痕&lt;/Text&gt;&#10;                    &lt;Text style={{ fontSize: 15, color: 'rgba(248,250,252,0.55)', marginTop: 6 }}&gt;跨会话的习惯。改口不覆盖旧记录，version +1 并进 history&lt;/Text&gt;&#10;                &lt;/Box&gt;&#10;            &lt;/Box&gt;&#10;&#10;            &lt;Box style={{ height: 84, flexDirection: 'row', alignItems: 'center', gap: 22, background: '#16223A', border: '1px solid rgba(248,250,252,0.10)', borderRadius: 8, paddingLeft: 26, paddingRight: 26, marginLeft: 120 }}&gt;&#10;                &lt;Text style={{ fontSize: 18, fontWeight: 700, color: '#F8FAFC', width: 110 }}&gt;语义记忆&lt;/Text&gt;&#10;                &lt;Box style={{ width: 700 }}&gt;&#10;                    &lt;Text style={{ fontSize: 19, fontWeight: 700, color: '#F8FAFC' }}&gt;字符 bigram Jaccard&lt;/Text&gt;&#10;                    &lt;Text style={{ fontSize: 15, color: 'rgba(248,250,252,0.55)', marginTop: 6 }}&gt;写入时查重，相似度 ≥ 0.85 判为同一条。Milvus 真向量未接&lt;/Text&gt;&#10;                &lt;/Box&gt;&#10;            &lt;/Box&gt;&#10;        &lt;/Box&gt;&#10;&#10;        &lt;Box style={{ height: 222, flexDirection: 'row', gap: 24 }}&gt;&#10;            &lt;Box style={{ width: 690, background: '#16223A', border: '1px solid rgba(248,250,252,0.10)', borderRadius: 10, padding: '24px 28px' }}&gt;&#10;                &lt;Text style={{ fontSize: 13, color: '#38BDF8', letterSpacing: 2, fontWeight: 700 }}&gt;召回不是简单 Top-K&lt;/Text&gt;&#10;                &lt;Box style={{ flexDirection: 'row', alignItems: 'baseline', gap: 10, marginTop: 14 }}&gt;&#10;                    &lt;Text style={{ fontSize: 40, fontWeight: 700, color: '#38BDF8', fontFamily: 'Consolas' }}&gt;0.6&lt;/Text&gt;&#10;                    &lt;Text style={{ fontSize: 17, color: 'rgba(248,250,252,0.62)' }}&gt;语义相似&lt;/Text&gt;&#10;                    &lt;Text style={{ fontSize: 22, color: 'rgba(248,250,252,0.35)', marginLeft: 6 }}&gt;+&lt;/Text&gt;&#10;                    &lt;Text style={{ fontSize: 40, fontWeight: 700, color: '#F8FAFC', fontFamily: 'Consolas', marginLeft: 6 }}&gt;0.2&lt;/Text&gt;&#10;                    &lt;Text style={{ fontSize: 17, color: 'rgba(248,250,252,0.62)' }}&gt;时效&lt;/Text&gt;&#10;                    &lt;Text style={{ fontSize: 22, color: 'rgba(248,250,252,0.35)', marginLeft: 6 }}&gt;+&lt;/Text&gt;&#10;                    &lt;Text style={{ fontSize: 40, fontWeight: 700, color: '#F8FAFC', fontFamily: 'Consolas', marginLeft: 6 }}&gt;0.2&lt;/Text&gt;&#10;                    &lt;Text style={{ fontSize: 17, color: 'rgba(248,250,252,0.62)' }}&gt;重要度&lt;/Text&gt;&#10;                &lt;/Box&gt;&#10;                &lt;Text style={{ fontSize: 17, color: 'rgba(248,250,252,0.58)', lineHeight: 1.75, marginTop: 14 }}&gt;&#10;                    权重可解释、可调——答辩时能当场改配置看结果变化。&#10;                &lt;/Text&gt;&#10;            &lt;/Box&gt;&#10;&#10;            &lt;Box style={{ width: 438, background: 'rgba(56,189,248,0.06)', border: '1px solid rgba(56,189,248,0.28)', borderRadius: 10, padding: '24px 28px' }}&gt;&#10;                &lt;Text style={{ fontSize: 13, color: '#38BDF8', letterSpacing: 2, fontWeight: 700 }}&gt;记忆最有价值的标志&lt;/Text&gt;&#10;                &lt;Text style={{ fontSize: 21, fontWeight: 700, color: '#F8FAFC', lineHeight: 1.6, marginTop: 12 }}&gt;&#10;                    它能反向改变行为&#10;                &lt;/Text&gt;&#10;                &lt;Text style={{ fontSize: 17, color: 'rgba(248,250,252,0.60)', lineHeight: 1.75, marginTop: 10 }}&gt;&#10;                    说&quot;把空调打开&quot;，它会按你记下的偏好设成 26 度——而不是等你再说一遍。&#10;                &lt;/Text&gt;&#10;            &lt;/Box&gt;&#10;        &lt;/Box&gt;&#10;    &lt;/Box&gt;&#10;&#10;    &lt;Box style={{ height: 64, paddingLeft: 64, paddingRight: 64, flexDirection: 'row', justifyContent: 'space-between', alignItems: 'center' }}&gt;&#10;        &lt;Text style={{ fontSize: 13, color: 'rgba(248,250,252,0.40)' }}&gt;HomeMind · 智能家居多智能体中枢&lt;/Text&gt;&#10;        &lt;Text style={{ fontSize: 13, color: 'rgba(248,250,252,0.40)', fontFamily: 'Consolas' }}&gt;07 / 13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120"/>
          </a:solidFill>
          <a:ln/>
        </p:spPr>
        <p:txBody>
          <a:bodyPr/>
          <a:p/>
        </p:txBody>
      </p:sp>
      <p:sp>
        <p:nvSpPr>
          <p:cNvPr id="267" name=""/>
          <p:cNvSpPr/>
          <p:nvPr/>
        </p:nvSpPr>
        <p:spPr>
          <a:xfrm rot="0" flipH="0" flipV="0">
            <a:off x="609600" y="523875"/>
            <a:ext cx="38100" cy="323850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p/>
        </p:txBody>
      </p:sp>
      <p:sp>
        <p:nvSpPr>
          <p:cNvPr id="268" name="" descr="{&quot;isTemplate&quot;:true,&quot;type&quot;:&quot;text&quot;}"/>
          <p:cNvSpPr txBox="1"/>
          <p:nvPr/>
        </p:nvSpPr>
        <p:spPr>
          <a:xfrm rot="0" flipH="0" flipV="0">
            <a:off x="819150" y="476250"/>
            <a:ext cx="3438525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700" b="1" spc="38">
                <a:solidFill>
                  <a:srgbClr val="F8FAFC"/>
                </a:solidFill>
                <a:latin typeface="微软雅黑"/>
                <a:ea typeface="微软雅黑"/>
              </a:rPr>
              <a:t>它会记得你说过</a:t>
            </a:r>
            <a:r>
              <a:rPr lang="en-US" sz="2700" b="1" spc="38">
                <a:solidFill>
                  <a:srgbClr val="F8FAFC"/>
                </a:solidFill>
                <a:latin typeface="微软雅黑"/>
                <a:ea typeface="微软雅黑"/>
              </a:rPr>
              <a:t xml:space="preserve"> 26 </a:t>
            </a:r>
            <a:r>
              <a:rPr lang="zh-CN" sz="2700" b="1" spc="38">
                <a:solidFill>
                  <a:srgbClr val="F8FAFC"/>
                </a:solidFill>
                <a:latin typeface="微软雅黑"/>
                <a:ea typeface="微软雅黑"/>
              </a:rPr>
              <a:t>度</a:t>
            </a:r>
            <a:endParaRPr/>
          </a:p>
        </p:txBody>
      </p:sp>
      <p:sp>
        <p:nvSpPr>
          <p:cNvPr id="269" name=""/>
          <p:cNvSpPr/>
          <p:nvPr/>
        </p:nvSpPr>
        <p:spPr>
          <a:xfrm rot="0" flipH="0" flipV="0">
            <a:off x="609600" y="1047750"/>
            <a:ext cx="10972800" cy="800100"/>
          </a:xfrm>
          <a:prstGeom prst="roundRect">
            <a:avLst>
              <a:gd name="adj" fmla="val 9524"/>
            </a:avLst>
          </a:prstGeom>
          <a:solidFill>
            <a:srgbClr val="38BDF8">
              <a:alpha val="10000"/>
            </a:srgbClr>
          </a:solidFill>
          <a:ln w="12700">
            <a:solidFill>
              <a:srgbClr val="38BDF8">
                <a:alpha val="4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70" name="" descr="{&quot;isTemplate&quot;:true,&quot;type&quot;:&quot;text&quot;}"/>
          <p:cNvSpPr txBox="1"/>
          <p:nvPr/>
        </p:nvSpPr>
        <p:spPr>
          <a:xfrm rot="0" flipH="0" flipV="0">
            <a:off x="857250" y="1343025"/>
            <a:ext cx="10477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38BDF8"/>
                </a:solidFill>
                <a:latin typeface="微软雅黑"/>
                <a:ea typeface="微软雅黑"/>
              </a:rPr>
              <a:t>短期记忆</a:t>
            </a:r>
            <a:endParaRPr/>
          </a:p>
        </p:txBody>
      </p:sp>
      <p:sp>
        <p:nvSpPr>
          <p:cNvPr id="271" name="" descr="{&quot;isTemplate&quot;:true,&quot;type&quot;:&quot;text&quot;}"/>
          <p:cNvSpPr txBox="1"/>
          <p:nvPr/>
        </p:nvSpPr>
        <p:spPr>
          <a:xfrm rot="0" flipH="0" flipV="0">
            <a:off x="2114550" y="1228725"/>
            <a:ext cx="85725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F8FAFC"/>
                </a:solidFill>
                <a:latin typeface="微软雅黑"/>
                <a:ea typeface="微软雅黑"/>
              </a:rPr>
              <a:t xml:space="preserve">Redis </a:t>
            </a:r>
            <a:r>
              <a:rPr lang="zh-CN" sz="1425" b="1">
                <a:solidFill>
                  <a:srgbClr val="F8FAFC"/>
                </a:solidFill>
                <a:latin typeface="微软雅黑"/>
                <a:ea typeface="微软雅黑"/>
              </a:rPr>
              <a:t>滑动窗口</a:t>
            </a:r>
            <a:r>
              <a:rPr lang="en-US" sz="1425" b="1">
                <a:solidFill>
                  <a:srgbClr val="F8FAFC"/>
                </a:solidFill>
                <a:latin typeface="微软雅黑"/>
                <a:ea typeface="微软雅黑"/>
              </a:rPr>
              <a:t xml:space="preserve"> · </a:t>
            </a:r>
            <a:r>
              <a:rPr lang="zh-CN" sz="1425" b="1">
                <a:solidFill>
                  <a:srgbClr val="F8FAFC"/>
                </a:solidFill>
                <a:latin typeface="微软雅黑"/>
                <a:ea typeface="微软雅黑"/>
              </a:rPr>
              <a:t>带</a:t>
            </a:r>
            <a:r>
              <a:rPr lang="en-US" sz="1425" b="1">
                <a:solidFill>
                  <a:srgbClr val="F8FAFC"/>
                </a:solidFill>
                <a:latin typeface="微软雅黑"/>
                <a:ea typeface="微软雅黑"/>
              </a:rPr>
              <a:t xml:space="preserve"> TTL</a:t>
            </a:r>
            <a:endParaRPr/>
          </a:p>
        </p:txBody>
      </p:sp>
      <p:sp>
        <p:nvSpPr>
          <p:cNvPr id="272" name="" descr="{&quot;isTemplate&quot;:true,&quot;type&quot;:&quot;text&quot;}"/>
          <p:cNvSpPr txBox="1"/>
          <p:nvPr/>
        </p:nvSpPr>
        <p:spPr>
          <a:xfrm rot="0" flipH="0" flipV="0">
            <a:off x="2114550" y="1504950"/>
            <a:ext cx="85725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F8FAFC">
                    <a:alpha val="55000"/>
                  </a:srgbClr>
                </a:solidFill>
                <a:latin typeface="微软雅黑"/>
                <a:ea typeface="微软雅黑"/>
              </a:rPr>
              <a:t>当前这轮对话的上下文。本机没起</a:t>
            </a:r>
            <a:r>
              <a:rPr lang="en-US" sz="1125">
                <a:solidFill>
                  <a:srgbClr val="F8FAFC">
                    <a:alpha val="55000"/>
                  </a:srgbClr>
                </a:solidFill>
                <a:latin typeface="微软雅黑"/>
                <a:ea typeface="微软雅黑"/>
              </a:rPr>
              <a:t xml:space="preserve"> Redis</a:t>
            </a:r>
            <a:r>
              <a:rPr lang="zh-CN" sz="1125">
                <a:solidFill>
                  <a:srgbClr val="F8FAFC">
                    <a:alpha val="55000"/>
                  </a:srgbClr>
                </a:solidFill>
                <a:latin typeface="微软雅黑"/>
                <a:ea typeface="微软雅黑"/>
              </a:rPr>
              <a:t>，实际跑进程内存（降级）</a:t>
            </a:r>
            <a:endParaRPr/>
          </a:p>
        </p:txBody>
      </p:sp>
      <p:sp>
        <p:nvSpPr>
          <p:cNvPr id="273" name=""/>
          <p:cNvSpPr/>
          <p:nvPr/>
        </p:nvSpPr>
        <p:spPr>
          <a:xfrm rot="0" flipH="0" flipV="0">
            <a:off x="1181100" y="1962150"/>
            <a:ext cx="10401300" cy="800100"/>
          </a:xfrm>
          <a:prstGeom prst="roundRect">
            <a:avLst>
              <a:gd name="adj" fmla="val 9524"/>
            </a:avLst>
          </a:prstGeom>
          <a:solidFill>
            <a:srgbClr val="16223A"/>
          </a:solidFill>
          <a:ln w="12700">
            <a:solidFill>
              <a:srgbClr val="F8FAFC">
                <a:alpha val="1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74" name="" descr="{&quot;isTemplate&quot;:true,&quot;type&quot;:&quot;text&quot;}"/>
          <p:cNvSpPr txBox="1"/>
          <p:nvPr/>
        </p:nvSpPr>
        <p:spPr>
          <a:xfrm rot="0" flipH="0" flipV="0">
            <a:off x="1428750" y="2257425"/>
            <a:ext cx="10477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F8FAFC"/>
                </a:solidFill>
                <a:latin typeface="微软雅黑"/>
                <a:ea typeface="微软雅黑"/>
              </a:rPr>
              <a:t>长期记忆</a:t>
            </a:r>
            <a:endParaRPr/>
          </a:p>
        </p:txBody>
      </p:sp>
      <p:sp>
        <p:nvSpPr>
          <p:cNvPr id="275" name="" descr="{&quot;isTemplate&quot;:true,&quot;type&quot;:&quot;text&quot;}"/>
          <p:cNvSpPr txBox="1"/>
          <p:nvPr/>
        </p:nvSpPr>
        <p:spPr>
          <a:xfrm rot="0" flipH="0" flipV="0">
            <a:off x="2686050" y="2143125"/>
            <a:ext cx="76200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F8FAFC"/>
                </a:solidFill>
                <a:latin typeface="微软雅黑"/>
                <a:ea typeface="微软雅黑"/>
              </a:rPr>
              <a:t xml:space="preserve">SQLite · </a:t>
            </a:r>
            <a:r>
              <a:rPr lang="zh-CN" sz="1425" b="1">
                <a:solidFill>
                  <a:srgbClr val="F8FAFC"/>
                </a:solidFill>
                <a:latin typeface="微软雅黑"/>
                <a:ea typeface="微软雅黑"/>
              </a:rPr>
              <a:t>版本留痕</a:t>
            </a:r>
            <a:endParaRPr/>
          </a:p>
        </p:txBody>
      </p:sp>
      <p:sp>
        <p:nvSpPr>
          <p:cNvPr id="276" name="" descr="{&quot;isTemplate&quot;:true,&quot;type&quot;:&quot;text&quot;}"/>
          <p:cNvSpPr txBox="1"/>
          <p:nvPr/>
        </p:nvSpPr>
        <p:spPr>
          <a:xfrm rot="0" flipH="0" flipV="0">
            <a:off x="2686050" y="2419350"/>
            <a:ext cx="7620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F8FAFC">
                    <a:alpha val="55000"/>
                  </a:srgbClr>
                </a:solidFill>
                <a:latin typeface="微软雅黑"/>
                <a:ea typeface="微软雅黑"/>
              </a:rPr>
              <a:t>跨会话的习惯。改口不覆盖旧记录，</a:t>
            </a:r>
            <a:r>
              <a:rPr lang="en-US" sz="1125">
                <a:solidFill>
                  <a:srgbClr val="F8FAFC">
                    <a:alpha val="55000"/>
                  </a:srgbClr>
                </a:solidFill>
                <a:latin typeface="微软雅黑"/>
                <a:ea typeface="微软雅黑"/>
              </a:rPr>
              <a:t xml:space="preserve">version +1 </a:t>
            </a:r>
            <a:r>
              <a:rPr lang="zh-CN" sz="1125">
                <a:solidFill>
                  <a:srgbClr val="F8FAFC">
                    <a:alpha val="55000"/>
                  </a:srgbClr>
                </a:solidFill>
                <a:latin typeface="微软雅黑"/>
                <a:ea typeface="微软雅黑"/>
              </a:rPr>
              <a:t>并进</a:t>
            </a:r>
            <a:r>
              <a:rPr lang="en-US" sz="1125">
                <a:solidFill>
                  <a:srgbClr val="F8FAFC">
                    <a:alpha val="55000"/>
                  </a:srgbClr>
                </a:solidFill>
                <a:latin typeface="微软雅黑"/>
                <a:ea typeface="微软雅黑"/>
              </a:rPr>
              <a:t xml:space="preserve"> history</a:t>
            </a:r>
            <a:endParaRPr/>
          </a:p>
        </p:txBody>
      </p:sp>
      <p:sp>
        <p:nvSpPr>
          <p:cNvPr id="277" name=""/>
          <p:cNvSpPr/>
          <p:nvPr/>
        </p:nvSpPr>
        <p:spPr>
          <a:xfrm rot="0" flipH="0" flipV="0">
            <a:off x="1752600" y="2876550"/>
            <a:ext cx="9829800" cy="800100"/>
          </a:xfrm>
          <a:prstGeom prst="roundRect">
            <a:avLst>
              <a:gd name="adj" fmla="val 9524"/>
            </a:avLst>
          </a:prstGeom>
          <a:solidFill>
            <a:srgbClr val="16223A"/>
          </a:solidFill>
          <a:ln w="12700">
            <a:solidFill>
              <a:srgbClr val="F8FAFC">
                <a:alpha val="1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78" name="" descr="{&quot;isTemplate&quot;:true,&quot;type&quot;:&quot;text&quot;}"/>
          <p:cNvSpPr txBox="1"/>
          <p:nvPr/>
        </p:nvSpPr>
        <p:spPr>
          <a:xfrm rot="0" flipH="0" flipV="0">
            <a:off x="2000250" y="3171825"/>
            <a:ext cx="10477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F8FAFC"/>
                </a:solidFill>
                <a:latin typeface="微软雅黑"/>
                <a:ea typeface="微软雅黑"/>
              </a:rPr>
              <a:t>语义记忆</a:t>
            </a:r>
            <a:endParaRPr/>
          </a:p>
        </p:txBody>
      </p:sp>
      <p:sp>
        <p:nvSpPr>
          <p:cNvPr id="279" name="" descr="{&quot;isTemplate&quot;:true,&quot;type&quot;:&quot;text&quot;}"/>
          <p:cNvSpPr txBox="1"/>
          <p:nvPr/>
        </p:nvSpPr>
        <p:spPr>
          <a:xfrm rot="0" flipH="0" flipV="0">
            <a:off x="3257550" y="3057525"/>
            <a:ext cx="66675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F8FAFC"/>
                </a:solidFill>
                <a:latin typeface="微软雅黑"/>
                <a:ea typeface="微软雅黑"/>
              </a:rPr>
              <a:t>字符</a:t>
            </a:r>
            <a:r>
              <a:rPr lang="en-US" sz="1425" b="1">
                <a:solidFill>
                  <a:srgbClr val="F8FAFC"/>
                </a:solidFill>
                <a:latin typeface="微软雅黑"/>
                <a:ea typeface="微软雅黑"/>
              </a:rPr>
              <a:t xml:space="preserve"> bigram Jaccard</a:t>
            </a:r>
            <a:endParaRPr/>
          </a:p>
        </p:txBody>
      </p:sp>
      <p:sp>
        <p:nvSpPr>
          <p:cNvPr id="280" name="" descr="{&quot;isTemplate&quot;:true,&quot;type&quot;:&quot;text&quot;}"/>
          <p:cNvSpPr txBox="1"/>
          <p:nvPr/>
        </p:nvSpPr>
        <p:spPr>
          <a:xfrm rot="0" flipH="0" flipV="0">
            <a:off x="3257550" y="3333750"/>
            <a:ext cx="66675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F8FAFC">
                    <a:alpha val="55000"/>
                  </a:srgbClr>
                </a:solidFill>
                <a:latin typeface="微软雅黑"/>
                <a:ea typeface="微软雅黑"/>
              </a:rPr>
              <a:t>写入时查重，相似度</a:t>
            </a:r>
            <a:r>
              <a:rPr lang="en-US" sz="1125">
                <a:solidFill>
                  <a:srgbClr val="F8FAFC">
                    <a:alpha val="55000"/>
                  </a:srgbClr>
                </a:solidFill>
                <a:latin typeface="微软雅黑"/>
                <a:ea typeface="微软雅黑"/>
              </a:rPr>
              <a:t xml:space="preserve"> ≥ 0.85 </a:t>
            </a:r>
            <a:r>
              <a:rPr lang="zh-CN" sz="1125">
                <a:solidFill>
                  <a:srgbClr val="F8FAFC">
                    <a:alpha val="55000"/>
                  </a:srgbClr>
                </a:solidFill>
                <a:latin typeface="微软雅黑"/>
                <a:ea typeface="微软雅黑"/>
              </a:rPr>
              <a:t>判为同一条。</a:t>
            </a:r>
            <a:r>
              <a:rPr lang="en-US" sz="1125">
                <a:solidFill>
                  <a:srgbClr val="F8FAFC">
                    <a:alpha val="55000"/>
                  </a:srgbClr>
                </a:solidFill>
                <a:latin typeface="微软雅黑"/>
                <a:ea typeface="微软雅黑"/>
              </a:rPr>
              <a:t xml:space="preserve">Milvus </a:t>
            </a:r>
            <a:r>
              <a:rPr lang="zh-CN" sz="1125">
                <a:solidFill>
                  <a:srgbClr val="F8FAFC">
                    <a:alpha val="55000"/>
                  </a:srgbClr>
                </a:solidFill>
                <a:latin typeface="微软雅黑"/>
                <a:ea typeface="微软雅黑"/>
              </a:rPr>
              <a:t>真向量未接</a:t>
            </a:r>
            <a:endParaRPr/>
          </a:p>
        </p:txBody>
      </p:sp>
      <p:sp>
        <p:nvSpPr>
          <p:cNvPr id="281" name=""/>
          <p:cNvSpPr/>
          <p:nvPr/>
        </p:nvSpPr>
        <p:spPr>
          <a:xfrm rot="0" flipH="0" flipV="0">
            <a:off x="609600" y="4133850"/>
            <a:ext cx="6572250" cy="2114550"/>
          </a:xfrm>
          <a:prstGeom prst="roundRect">
            <a:avLst>
              <a:gd name="adj" fmla="val 4505"/>
            </a:avLst>
          </a:prstGeom>
          <a:solidFill>
            <a:srgbClr val="16223A"/>
          </a:solidFill>
          <a:ln w="12700">
            <a:solidFill>
              <a:srgbClr val="F8FAFC">
                <a:alpha val="1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82" name="" descr="{&quot;isTemplate&quot;:true,&quot;type&quot;:&quot;text&quot;}"/>
          <p:cNvSpPr txBox="1"/>
          <p:nvPr/>
        </p:nvSpPr>
        <p:spPr>
          <a:xfrm rot="0" flipH="0" flipV="0">
            <a:off x="876300" y="4362450"/>
            <a:ext cx="60388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b="1" spc="150">
                <a:solidFill>
                  <a:srgbClr val="38BDF8"/>
                </a:solidFill>
                <a:latin typeface="微软雅黑"/>
                <a:ea typeface="微软雅黑"/>
              </a:rPr>
              <a:t>召回不是简单</a:t>
            </a:r>
            <a:r>
              <a:rPr lang="en-US" sz="975" b="1" spc="150">
                <a:solidFill>
                  <a:srgbClr val="38BDF8"/>
                </a:solidFill>
                <a:latin typeface="微软雅黑"/>
                <a:ea typeface="微软雅黑"/>
              </a:rPr>
              <a:t xml:space="preserve"> Top-K</a:t>
            </a:r>
            <a:endParaRPr/>
          </a:p>
        </p:txBody>
      </p:sp>
      <p:sp>
        <p:nvSpPr>
          <p:cNvPr id="283" name="" descr="{&quot;isTemplate&quot;:true,&quot;type&quot;:&quot;text&quot;}"/>
          <p:cNvSpPr txBox="1"/>
          <p:nvPr/>
        </p:nvSpPr>
        <p:spPr>
          <a:xfrm rot="0" flipH="0" flipV="0">
            <a:off x="876300" y="4648200"/>
            <a:ext cx="628650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000" b="1">
                <a:solidFill>
                  <a:srgbClr val="38BDF8"/>
                </a:solidFill>
                <a:latin typeface="Consolas"/>
                <a:ea typeface="Consolas"/>
              </a:rPr>
              <a:t>0.6</a:t>
            </a:r>
            <a:endParaRPr/>
          </a:p>
        </p:txBody>
      </p:sp>
      <p:sp>
        <p:nvSpPr>
          <p:cNvPr id="284" name="" descr="{&quot;isTemplate&quot;:true,&quot;type&quot;:&quot;text&quot;}"/>
          <p:cNvSpPr txBox="1"/>
          <p:nvPr/>
        </p:nvSpPr>
        <p:spPr>
          <a:xfrm rot="0" flipH="0" flipV="0">
            <a:off x="1600200" y="4648200"/>
            <a:ext cx="647700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F8FAFC">
                    <a:alpha val="62000"/>
                  </a:srgbClr>
                </a:solidFill>
                <a:latin typeface="微软雅黑"/>
                <a:ea typeface="微软雅黑"/>
              </a:rPr>
              <a:t>语义相似</a:t>
            </a:r>
            <a:endParaRPr/>
          </a:p>
        </p:txBody>
      </p:sp>
      <p:sp>
        <p:nvSpPr>
          <p:cNvPr id="285" name="" descr="{&quot;isTemplate&quot;:true,&quot;type&quot;:&quot;text&quot;}"/>
          <p:cNvSpPr txBox="1"/>
          <p:nvPr/>
        </p:nvSpPr>
        <p:spPr>
          <a:xfrm rot="0" flipH="0" flipV="0">
            <a:off x="2400300" y="4648200"/>
            <a:ext cx="161925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>
                <a:solidFill>
                  <a:srgbClr val="F8FAFC">
                    <a:alpha val="35000"/>
                  </a:srgbClr>
                </a:solidFill>
                <a:latin typeface="微软雅黑"/>
                <a:ea typeface="微软雅黑"/>
              </a:rPr>
              <a:t>+</a:t>
            </a:r>
            <a:endParaRPr/>
          </a:p>
        </p:txBody>
      </p:sp>
      <p:sp>
        <p:nvSpPr>
          <p:cNvPr id="286" name="" descr="{&quot;isTemplate&quot;:true,&quot;type&quot;:&quot;text&quot;}"/>
          <p:cNvSpPr txBox="1"/>
          <p:nvPr/>
        </p:nvSpPr>
        <p:spPr>
          <a:xfrm rot="0" flipH="0" flipV="0">
            <a:off x="2714625" y="4648200"/>
            <a:ext cx="628650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000" b="1">
                <a:solidFill>
                  <a:srgbClr val="F8FAFC"/>
                </a:solidFill>
                <a:latin typeface="Consolas"/>
                <a:ea typeface="Consolas"/>
              </a:rPr>
              <a:t>0.2</a:t>
            </a:r>
            <a:endParaRPr/>
          </a:p>
        </p:txBody>
      </p:sp>
      <p:sp>
        <p:nvSpPr>
          <p:cNvPr id="287" name="" descr="{&quot;isTemplate&quot;:true,&quot;type&quot;:&quot;text&quot;}"/>
          <p:cNvSpPr txBox="1"/>
          <p:nvPr/>
        </p:nvSpPr>
        <p:spPr>
          <a:xfrm rot="0" flipH="0" flipV="0">
            <a:off x="3438525" y="4648200"/>
            <a:ext cx="323850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F8FAFC">
                    <a:alpha val="62000"/>
                  </a:srgbClr>
                </a:solidFill>
                <a:latin typeface="微软雅黑"/>
                <a:ea typeface="微软雅黑"/>
              </a:rPr>
              <a:t>时效</a:t>
            </a:r>
            <a:endParaRPr/>
          </a:p>
        </p:txBody>
      </p:sp>
      <p:sp>
        <p:nvSpPr>
          <p:cNvPr id="288" name="" descr="{&quot;isTemplate&quot;:true,&quot;type&quot;:&quot;text&quot;}"/>
          <p:cNvSpPr txBox="1"/>
          <p:nvPr/>
        </p:nvSpPr>
        <p:spPr>
          <a:xfrm rot="0" flipH="0" flipV="0">
            <a:off x="3914775" y="4648200"/>
            <a:ext cx="161925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>
                <a:solidFill>
                  <a:srgbClr val="F8FAFC">
                    <a:alpha val="35000"/>
                  </a:srgbClr>
                </a:solidFill>
                <a:latin typeface="微软雅黑"/>
                <a:ea typeface="微软雅黑"/>
              </a:rPr>
              <a:t>+</a:t>
            </a:r>
            <a:endParaRPr/>
          </a:p>
        </p:txBody>
      </p:sp>
      <p:sp>
        <p:nvSpPr>
          <p:cNvPr id="289" name="" descr="{&quot;isTemplate&quot;:true,&quot;type&quot;:&quot;text&quot;}"/>
          <p:cNvSpPr txBox="1"/>
          <p:nvPr/>
        </p:nvSpPr>
        <p:spPr>
          <a:xfrm rot="0" flipH="0" flipV="0">
            <a:off x="4229100" y="4648200"/>
            <a:ext cx="628650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000" b="1">
                <a:solidFill>
                  <a:srgbClr val="F8FAFC"/>
                </a:solidFill>
                <a:latin typeface="Consolas"/>
                <a:ea typeface="Consolas"/>
              </a:rPr>
              <a:t>0.2</a:t>
            </a:r>
            <a:endParaRPr/>
          </a:p>
        </p:txBody>
      </p:sp>
      <p:sp>
        <p:nvSpPr>
          <p:cNvPr id="290" name="" descr="{&quot;isTemplate&quot;:true,&quot;type&quot;:&quot;text&quot;}"/>
          <p:cNvSpPr txBox="1"/>
          <p:nvPr/>
        </p:nvSpPr>
        <p:spPr>
          <a:xfrm rot="0" flipH="0" flipV="0">
            <a:off x="4953000" y="4648200"/>
            <a:ext cx="485775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F8FAFC">
                    <a:alpha val="62000"/>
                  </a:srgbClr>
                </a:solidFill>
                <a:latin typeface="微软雅黑"/>
                <a:ea typeface="微软雅黑"/>
              </a:rPr>
              <a:t>重要度</a:t>
            </a:r>
            <a:endParaRPr/>
          </a:p>
        </p:txBody>
      </p:sp>
      <p:sp>
        <p:nvSpPr>
          <p:cNvPr id="291" name="" descr="{&quot;isTemplate&quot;:true,&quot;type&quot;:&quot;text&quot;}"/>
          <p:cNvSpPr txBox="1"/>
          <p:nvPr/>
        </p:nvSpPr>
        <p:spPr>
          <a:xfrm rot="0" flipH="0" flipV="0">
            <a:off x="876300" y="5238750"/>
            <a:ext cx="6038850" cy="342900"/>
          </a:xfrm>
          <a:prstGeom prst="rect"/>
        </p:spPr>
        <p:txBody>
          <a:bodyPr wrap="none" lIns="0" tIns="0" rIns="0" bIns="0"/>
          <a:p>
            <a:pPr>
              <a:lnSpc>
                <a:spcPct val="175000"/>
              </a:lnSpc>
            </a:pPr>
            <a:r>
              <a:rPr lang="zh-CN" sz="1275">
                <a:solidFill>
                  <a:srgbClr val="F8FAFC">
                    <a:alpha val="58000"/>
                  </a:srgbClr>
                </a:solidFill>
                <a:latin typeface="微软雅黑"/>
                <a:ea typeface="微软雅黑"/>
              </a:rPr>
              <a:t>权重可解释、可调——答辩时能当场改配置看结果变化。</a:t>
            </a:r>
            <a:endParaRPr/>
          </a:p>
        </p:txBody>
      </p:sp>
      <p:sp>
        <p:nvSpPr>
          <p:cNvPr id="292" name=""/>
          <p:cNvSpPr/>
          <p:nvPr/>
        </p:nvSpPr>
        <p:spPr>
          <a:xfrm rot="0" flipH="0" flipV="0">
            <a:off x="7410450" y="4133850"/>
            <a:ext cx="4171950" cy="2114550"/>
          </a:xfrm>
          <a:prstGeom prst="roundRect">
            <a:avLst>
              <a:gd name="adj" fmla="val 4505"/>
            </a:avLst>
          </a:prstGeom>
          <a:solidFill>
            <a:srgbClr val="38BDF8">
              <a:alpha val="6000"/>
            </a:srgbClr>
          </a:solidFill>
          <a:ln w="12700">
            <a:solidFill>
              <a:srgbClr val="38BDF8">
                <a:alpha val="28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93" name="" descr="{&quot;isTemplate&quot;:true,&quot;type&quot;:&quot;text&quot;}"/>
          <p:cNvSpPr txBox="1"/>
          <p:nvPr/>
        </p:nvSpPr>
        <p:spPr>
          <a:xfrm rot="0" flipH="0" flipV="0">
            <a:off x="7677150" y="4362450"/>
            <a:ext cx="36385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b="1" spc="150">
                <a:solidFill>
                  <a:srgbClr val="38BDF8"/>
                </a:solidFill>
                <a:latin typeface="微软雅黑"/>
                <a:ea typeface="微软雅黑"/>
              </a:rPr>
              <a:t>记忆最有价值的标志</a:t>
            </a:r>
            <a:endParaRPr/>
          </a:p>
        </p:txBody>
      </p:sp>
      <p:sp>
        <p:nvSpPr>
          <p:cNvPr id="294" name="" descr="{&quot;isTemplate&quot;:true,&quot;type&quot;:&quot;text&quot;}"/>
          <p:cNvSpPr txBox="1"/>
          <p:nvPr/>
        </p:nvSpPr>
        <p:spPr>
          <a:xfrm rot="0" flipH="0" flipV="0">
            <a:off x="7677150" y="4629150"/>
            <a:ext cx="3638550" cy="39052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575" b="1">
                <a:solidFill>
                  <a:srgbClr val="F8FAFC"/>
                </a:solidFill>
                <a:latin typeface="微软雅黑"/>
                <a:ea typeface="微软雅黑"/>
              </a:rPr>
              <a:t>它能反向改变行为</a:t>
            </a:r>
            <a:endParaRPr/>
          </a:p>
        </p:txBody>
      </p:sp>
      <p:sp>
        <p:nvSpPr>
          <p:cNvPr id="295" name="" descr="{&quot;isTemplate&quot;:true,&quot;type&quot;:&quot;text&quot;}"/>
          <p:cNvSpPr txBox="1"/>
          <p:nvPr/>
        </p:nvSpPr>
        <p:spPr>
          <a:xfrm rot="0" flipH="0" flipV="0">
            <a:off x="7677150" y="5114925"/>
            <a:ext cx="3638550" cy="6858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5000"/>
              </a:lnSpc>
            </a:pPr>
            <a:r>
              <a:rPr lang="zh-CN" sz="1275">
                <a:solidFill>
                  <a:srgbClr val="F8FAFC">
                    <a:alpha val="60000"/>
                  </a:srgbClr>
                </a:solidFill>
                <a:latin typeface="微软雅黑"/>
                <a:ea typeface="微软雅黑"/>
              </a:rPr>
              <a:t>说</a:t>
            </a:r>
            <a:r>
              <a:rPr lang="en-US" sz="1275">
                <a:solidFill>
                  <a:srgbClr val="F8FAFC">
                    <a:alpha val="60000"/>
                  </a:srgbClr>
                </a:solidFill>
                <a:latin typeface="微软雅黑"/>
                <a:ea typeface="微软雅黑"/>
              </a:rPr>
              <a:t>"</a:t>
            </a:r>
            <a:r>
              <a:rPr lang="zh-CN" sz="1275">
                <a:solidFill>
                  <a:srgbClr val="F8FAFC">
                    <a:alpha val="60000"/>
                  </a:srgbClr>
                </a:solidFill>
                <a:latin typeface="微软雅黑"/>
                <a:ea typeface="微软雅黑"/>
              </a:rPr>
              <a:t>把空调打开</a:t>
            </a:r>
            <a:r>
              <a:rPr lang="en-US" sz="1275">
                <a:solidFill>
                  <a:srgbClr val="F8FAFC">
                    <a:alpha val="60000"/>
                  </a:srgbClr>
                </a:solidFill>
                <a:latin typeface="微软雅黑"/>
                <a:ea typeface="微软雅黑"/>
              </a:rPr>
              <a:t>"</a:t>
            </a:r>
            <a:r>
              <a:rPr lang="zh-CN" sz="1275">
                <a:solidFill>
                  <a:srgbClr val="F8FAFC">
                    <a:alpha val="60000"/>
                  </a:srgbClr>
                </a:solidFill>
                <a:latin typeface="微软雅黑"/>
                <a:ea typeface="微软雅黑"/>
              </a:rPr>
              <a:t>，它会按你记下的偏好设成</a:t>
            </a:r>
            <a:r>
              <a:rPr lang="en-US" sz="1275">
                <a:solidFill>
                  <a:srgbClr val="F8FAFC">
                    <a:alpha val="60000"/>
                  </a:srgbClr>
                </a:solidFill>
                <a:latin typeface="微软雅黑"/>
                <a:ea typeface="微软雅黑"/>
              </a:rPr>
              <a:t xml:space="preserve"> 26 </a:t>
            </a:r>
            <a:r>
              <a:rPr lang="zh-CN" sz="1275">
                <a:solidFill>
                  <a:srgbClr val="F8FAFC">
                    <a:alpha val="60000"/>
                  </a:srgbClr>
                </a:solidFill>
                <a:latin typeface="微软雅黑"/>
                <a:ea typeface="微软雅黑"/>
              </a:rPr>
              <a:t>度——而不是等你再说一遍。</a:t>
            </a:r>
            <a:endParaRPr/>
          </a:p>
        </p:txBody>
      </p:sp>
      <p:sp>
        <p:nvSpPr>
          <p:cNvPr id="296" name="" descr="{&quot;isTemplate&quot;:true,&quot;type&quot;:&quot;text&quot;}"/>
          <p:cNvSpPr txBox="1"/>
          <p:nvPr/>
        </p:nvSpPr>
        <p:spPr>
          <a:xfrm rot="0" flipH="0" flipV="0">
            <a:off x="609600" y="6477000"/>
            <a:ext cx="19431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F8FAFC">
                    <a:alpha val="40000"/>
                  </a:srgbClr>
                </a:solidFill>
                <a:latin typeface="微软雅黑"/>
                <a:ea typeface="微软雅黑"/>
              </a:rPr>
              <a:t xml:space="preserve">HomeMind · </a:t>
            </a:r>
            <a:r>
              <a:rPr lang="zh-CN" sz="975">
                <a:solidFill>
                  <a:srgbClr val="F8FAFC">
                    <a:alpha val="40000"/>
                  </a:srgbClr>
                </a:solidFill>
                <a:latin typeface="微软雅黑"/>
                <a:ea typeface="微软雅黑"/>
              </a:rPr>
              <a:t>智能家居多智能体中枢</a:t>
            </a:r>
            <a:endParaRPr/>
          </a:p>
        </p:txBody>
      </p:sp>
      <p:sp>
        <p:nvSpPr>
          <p:cNvPr id="297" name="" descr="{&quot;isTemplate&quot;:true,&quot;type&quot;:&quot;text&quot;}"/>
          <p:cNvSpPr txBox="1"/>
          <p:nvPr/>
        </p:nvSpPr>
        <p:spPr>
          <a:xfrm rot="0" flipH="0" flipV="0">
            <a:off x="11096625" y="6477000"/>
            <a:ext cx="4857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F8FAFC">
                    <a:alpha val="40000"/>
                  </a:srgbClr>
                </a:solidFill>
                <a:latin typeface="Consolas"/>
                <a:ea typeface="Consolas"/>
              </a:rPr>
              <a:t>07 / 13</a:t>
            </a:r>
            <a:endParaRPr/>
          </a:p>
        </p:txBody>
      </p:sp>
    </p:spTree>
  </p:cSld>
</p:sld>
</file>

<file path=ppt/slides/slide8.xml><?xml version="1.0" encoding="utf-8"?>
<p:sld xmlns:p="http://schemas.openxmlformats.org/presentationml/2006/main" xmlns:a="http://schemas.openxmlformats.org/drawingml/2006/main">
  <p:cSld>
    <p:spTree>
      <p:nvGrpSpPr>
        <p:cNvPr id="298" name="" descr="&lt;Slide style={{ width: 1280, height: 720, position: 'relative', overflow: 'hidden', background: '#0B1120', fontFamily: '微软雅黑' }}&gt;&#10;    &lt;Box style={{ height: 110, paddingLeft: 64, paddingRight: 64, paddingTop: 34, flexDirection: 'row', alignItems: 'center', gap: 18 }}&gt;&#10;        &lt;Box style={{ width: 4, height: 34, background: '#FB7185' }} /&gt;&#10;        &lt;Text style={{ fontSize: 36, fontWeight: 700, color: '#F8FAFC', letterSpacing: 0.5 }}&gt;最贵的一页：护栏是独立节点&lt;/Text&gt;&#10;    &lt;/Box&gt;&#10;&#10;    &lt;Box style={{ height: 546, paddingLeft: 64, paddingRight: 64, flexDirection: 'row', gap: 48 }}&gt;&#10;        &lt;Box style={{ width: 340, justifyContent: 'space-between', background: 'rgba(251,113,133,0.06)', border: '1px solid rgba(251,113,133,0.22)', borderRadius: 10, padding: '30px 28px' }}&gt;&#10;            &lt;Box&gt;&#10;                &lt;Text style={{ fontSize: 100, fontWeight: 700, color: 'rgba(251,113,133,0.20)', fontFamily: 'Consolas', lineHeight: 1 }}&gt;04&lt;/Text&gt;&#10;                &lt;Text style={{ fontSize: 30, fontWeight: 700, color: '#F8FAFC', lineHeight: 1.5, marginTop: 14 }}&gt;&#10;                    四条机制&lt;br /&gt;挡在工具&lt;br /&gt;前面&#10;                &lt;/Text&gt;&#10;                &lt;Box style={{ width: 56, height: 3, background: '#FB7185', marginTop: 24 }} /&gt;&#10;            &lt;/Box&gt;&#10;            &lt;Text style={{ fontSize: 17, color: 'rgba(248,250,252,0.55)', lineHeight: 1.85 }}&gt;&#10;                它们全部写在同一个图节点里，&lt;br /&gt;不是散落在各个 handler 的 if。&#10;            &lt;/Text&gt;&#10;        &lt;/Box&gt;&#10;&#10;        &lt;Box style={{ width: 716, flexDirection: 'column', gap: 14 }}&gt;&#10;            &lt;Box style={{ flex: 1, flexDirection: 'row', alignItems: 'center', gap: 20, background: 'rgba(251,113,133,0.08)', border: '1px solid rgba(251,113,133,0.42)', borderRadius: 10, paddingLeft: 24, paddingRight: 24 }}&gt;&#10;                &lt;Text style={{ fontSize: 14, color: '#FB7185', fontFamily: 'Consolas', fontWeight: 700, width: 30 }}&gt;01&lt;/Text&gt;&#10;                &lt;Box style={{ width: 610 }}&gt;&#10;                    &lt;Text style={{ fontSize: 21, fontWeight: 700, color: '#F8FAFC' }}&gt;高危工具强制二次确认&lt;/Text&gt;&#10;                    &lt;Text style={{ fontSize: 16, color: 'rgba(248,250,252,0.58)', lineHeight: 1.7, marginTop: 7 }}&gt;&#10;                        门锁这类设备，没点过确认就不放行——接口层和 Agent 层用的是同一套规则&#10;                    &lt;/Text&gt;&#10;                &lt;/Box&gt;&#10;            &lt;/Box&gt;&#10;&#10;            &lt;Box style={{ flex: 1, flexDirection: 'row', alignItems: 'center', gap: 20, background: '#16223A', border: '1px solid rgba(248,250,252,0.10)', borderRadius: 10, paddingLeft: 24, paddingRight: 24 }}&gt;&#10;                &lt;Text style={{ fontSize: 14, color: 'rgba(251,113,133,0.70)', fontFamily: 'Consolas', fontWeight: 700, width: 30 }}&gt;02&lt;/Text&gt;&#10;                &lt;Box style={{ width: 610 }}&gt;&#10;                    &lt;Text style={{ fontSize: 21, fontWeight: 700, color: '#F8FAFC' }}&gt;创建类一律回显确认&lt;/Text&gt;&#10;                    &lt;Text style={{ fontSize: 16, color: 'rgba(248,250,252,0.58)', lineHeight: 1.7, marginTop: 7 }}&gt;&#10;                        建提醒先把&quot;即将创建：关灯（21:00）&quot;念一遍，你点头才落地&#10;                    &lt;/Text&gt;&#10;                &lt;/Box&gt;&#10;            &lt;/Box&gt;&#10;&#10;            &lt;Box style={{ flex: 1, flexDirection: 'row', alignItems: 'center', gap: 20, background: '#16223A', border: '1px solid rgba(248,250,252,0.10)', borderRadius: 10, paddingLeft: 24, paddingRight: 24 }}&gt;&#10;                &lt;Text style={{ fontSize: 14, color: 'rgba(251,113,133,0.70)', fontFamily: 'Consolas', fontWeight: 700, width: 30 }}&gt;03&lt;/Text&gt;&#10;                &lt;Box style={{ width: 610 }}&gt;&#10;                    &lt;Text style={{ fontSize: 21, fontWeight: 700, color: '#F8FAFC' }}&gt;说不清是哪台，就反问&lt;/Text&gt;&#10;                    &lt;Text style={{ fontSize: 16, color: 'rgba(248,250,252,0.58)', lineHeight: 1.7, marginTop: 7 }}&gt;&#10;                        &quot;打开灯&quot;而家里有两盏，它回&quot;客厅灯、主卧灯都对得上，你指哪一台&quot;——不替你猜&#10;                    &lt;/Text&gt;&#10;                &lt;/Box&gt;&#10;            &lt;/Box&gt;&#10;&#10;            &lt;Box style={{ flex: 1, flexDirection: 'row', alignItems: 'center', gap: 20, background: '#16223A', border: '1px solid rgba(248,250,252,0.10)', borderRadius: 10, paddingLeft: 24, paddingRight: 24 }}&gt;&#10;                &lt;Text style={{ fontSize: 14, color: 'rgba(251,113,133,0.70)', fontFamily: 'Consolas', fontWeight: 700, width: 30 }}&gt;04&lt;/Text&gt;&#10;                &lt;Box style={{ width: 610 }}&gt;&#10;                    &lt;Text style={{ fontSize: 21, fontWeight: 700, color: '#F8FAFC' }}&gt;跨家庭访问 403，且零副作用&lt;/Text&gt;&#10;                    &lt;Text style={{ fontSize: 16, color: 'rgba(248,250,252,0.58)', lineHeight: 1.7, marginTop: 7 }}&gt;&#10;                        不是&quot;先执行了再道歉&quot;——在动设备之前就拦下，状态一点不动&#10;                    &lt;/Text&gt;&#10;                &lt;/Box&gt;&#10;            &lt;/Box&gt;&#10;        &lt;/Box&gt;&#10;    &lt;/Box&gt;&#10;&#10;    &lt;Box style={{ height: 64, paddingLeft: 64, paddingRight: 64, flexDirection: 'row', justifyContent: 'space-between', alignItems: 'center' }}&gt;&#10;        &lt;Text style={{ fontSize: 13, color: 'rgba(248,250,252,0.40)' }}&gt;HomeMind · 智能家居多智能体中枢&lt;/Text&gt;&#10;        &lt;Text style={{ fontSize: 13, color: 'rgba(248,250,252,0.40)', fontFamily: 'Consolas' }}&gt;08 / 13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120"/>
          </a:solidFill>
          <a:ln/>
        </p:spPr>
        <p:txBody>
          <a:bodyPr/>
          <a:p/>
        </p:txBody>
      </p:sp>
      <p:sp>
        <p:nvSpPr>
          <p:cNvPr id="300" name=""/>
          <p:cNvSpPr/>
          <p:nvPr/>
        </p:nvSpPr>
        <p:spPr>
          <a:xfrm rot="0" flipH="0" flipV="0">
            <a:off x="609600" y="523875"/>
            <a:ext cx="38100" cy="323850"/>
          </a:xfrm>
          <a:prstGeom prst="rect">
            <a:avLst/>
          </a:prstGeom>
          <a:solidFill>
            <a:srgbClr val="FB7185"/>
          </a:solidFill>
          <a:ln/>
        </p:spPr>
        <p:txBody>
          <a:bodyPr/>
          <a:p/>
        </p:txBody>
      </p:sp>
      <p:sp>
        <p:nvSpPr>
          <p:cNvPr id="301" name="" descr="{&quot;isTemplate&quot;:true,&quot;type&quot;:&quot;text&quot;}"/>
          <p:cNvSpPr txBox="1"/>
          <p:nvPr/>
        </p:nvSpPr>
        <p:spPr>
          <a:xfrm rot="0" flipH="0" flipV="0">
            <a:off x="819150" y="476250"/>
            <a:ext cx="4524375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700" b="1" spc="38">
                <a:solidFill>
                  <a:srgbClr val="F8FAFC"/>
                </a:solidFill>
                <a:latin typeface="微软雅黑"/>
                <a:ea typeface="微软雅黑"/>
              </a:rPr>
              <a:t>最贵的一页：护栏是独立节点</a:t>
            </a:r>
            <a:endParaRPr/>
          </a:p>
        </p:txBody>
      </p:sp>
      <p:sp>
        <p:nvSpPr>
          <p:cNvPr id="302" name=""/>
          <p:cNvSpPr/>
          <p:nvPr/>
        </p:nvSpPr>
        <p:spPr>
          <a:xfrm rot="0" flipH="0" flipV="0">
            <a:off x="609600" y="1047750"/>
            <a:ext cx="3238500" cy="5200650"/>
          </a:xfrm>
          <a:prstGeom prst="roundRect">
            <a:avLst>
              <a:gd name="adj" fmla="val 2941"/>
            </a:avLst>
          </a:prstGeom>
          <a:solidFill>
            <a:srgbClr val="FB7185">
              <a:alpha val="6000"/>
            </a:srgbClr>
          </a:solidFill>
          <a:ln w="12700">
            <a:solidFill>
              <a:srgbClr val="FB7185">
                <a:alpha val="22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03" name="" descr="{&quot;isTemplate&quot;:true,&quot;type&quot;:&quot;text&quot;}"/>
          <p:cNvSpPr txBox="1"/>
          <p:nvPr/>
        </p:nvSpPr>
        <p:spPr>
          <a:xfrm rot="0" flipH="0" flipV="0">
            <a:off x="876300" y="1333500"/>
            <a:ext cx="2705100" cy="11430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7500" b="1">
                <a:solidFill>
                  <a:srgbClr val="FB7185">
                    <a:alpha val="20000"/>
                  </a:srgbClr>
                </a:solidFill>
                <a:latin typeface="Consolas"/>
                <a:ea typeface="Consolas"/>
              </a:rPr>
              <a:t>04</a:t>
            </a:r>
            <a:endParaRPr/>
          </a:p>
        </p:txBody>
      </p:sp>
      <p:sp>
        <p:nvSpPr>
          <p:cNvPr id="304" name="" descr="{&quot;isTemplate&quot;:true,&quot;type&quot;:&quot;text&quot;}"/>
          <p:cNvSpPr txBox="1"/>
          <p:nvPr/>
        </p:nvSpPr>
        <p:spPr>
          <a:xfrm rot="0" flipH="0" flipV="0">
            <a:off x="876300" y="2609850"/>
            <a:ext cx="2705100" cy="15430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2250" b="1">
                <a:solidFill>
                  <a:srgbClr val="F8FAFC"/>
                </a:solidFill>
                <a:latin typeface="微软雅黑"/>
                <a:ea typeface="微软雅黑"/>
              </a:rPr>
              <a:t>四条机制</a:t>
            </a:r>
            <a:endParaRPr/>
          </a:p>
          <a:p>
            <a:pPr>
              <a:lnSpc>
                <a:spcPct val="150000"/>
              </a:lnSpc>
            </a:pPr>
            <a:r>
              <a:rPr lang="zh-CN" sz="2250" b="1">
                <a:solidFill>
                  <a:srgbClr val="F8FAFC"/>
                </a:solidFill>
                <a:latin typeface="微软雅黑"/>
                <a:ea typeface="微软雅黑"/>
              </a:rPr>
              <a:t>挡在工具</a:t>
            </a:r>
            <a:endParaRPr/>
          </a:p>
          <a:p>
            <a:pPr>
              <a:lnSpc>
                <a:spcPct val="150000"/>
              </a:lnSpc>
            </a:pPr>
            <a:r>
              <a:rPr lang="zh-CN" sz="2250" b="1">
                <a:solidFill>
                  <a:srgbClr val="F8FAFC"/>
                </a:solidFill>
                <a:latin typeface="微软雅黑"/>
                <a:ea typeface="微软雅黑"/>
              </a:rPr>
              <a:t>前面</a:t>
            </a:r>
            <a:endParaRPr/>
          </a:p>
        </p:txBody>
      </p:sp>
      <p:sp>
        <p:nvSpPr>
          <p:cNvPr id="305" name=""/>
          <p:cNvSpPr/>
          <p:nvPr/>
        </p:nvSpPr>
        <p:spPr>
          <a:xfrm rot="0" flipH="0" flipV="0">
            <a:off x="876300" y="4381500"/>
            <a:ext cx="533400" cy="28575"/>
          </a:xfrm>
          <a:prstGeom prst="rect">
            <a:avLst/>
          </a:prstGeom>
          <a:solidFill>
            <a:srgbClr val="FB7185"/>
          </a:solidFill>
          <a:ln/>
        </p:spPr>
        <p:txBody>
          <a:bodyPr/>
          <a:p/>
        </p:txBody>
      </p:sp>
      <p:sp>
        <p:nvSpPr>
          <p:cNvPr id="306" name="" descr="{&quot;isTemplate&quot;:true,&quot;type&quot;:&quot;text&quot;}"/>
          <p:cNvSpPr txBox="1"/>
          <p:nvPr/>
        </p:nvSpPr>
        <p:spPr>
          <a:xfrm rot="0" flipH="0" flipV="0">
            <a:off x="876300" y="5238750"/>
            <a:ext cx="2705100" cy="723900"/>
          </a:xfrm>
          <a:prstGeom prst="rect"/>
        </p:spPr>
        <p:txBody>
          <a:bodyPr wrap="none" lIns="0" tIns="0" rIns="0" bIns="0"/>
          <a:p>
            <a:pPr>
              <a:lnSpc>
                <a:spcPct val="185000"/>
              </a:lnSpc>
            </a:pPr>
            <a:r>
              <a:rPr lang="zh-CN" sz="1275">
                <a:solidFill>
                  <a:srgbClr val="F8FAFC">
                    <a:alpha val="55000"/>
                  </a:srgbClr>
                </a:solidFill>
                <a:latin typeface="微软雅黑"/>
                <a:ea typeface="微软雅黑"/>
              </a:rPr>
              <a:t>它们全部写在同一个图节点里，</a:t>
            </a:r>
            <a:endParaRPr/>
          </a:p>
          <a:p>
            <a:pPr>
              <a:lnSpc>
                <a:spcPct val="185000"/>
              </a:lnSpc>
            </a:pPr>
            <a:r>
              <a:rPr lang="zh-CN" sz="1275">
                <a:solidFill>
                  <a:srgbClr val="F8FAFC">
                    <a:alpha val="55000"/>
                  </a:srgbClr>
                </a:solidFill>
                <a:latin typeface="微软雅黑"/>
                <a:ea typeface="微软雅黑"/>
              </a:rPr>
              <a:t>不是散落在各个</a:t>
            </a:r>
            <a:r>
              <a:rPr lang="en-US" sz="1275">
                <a:solidFill>
                  <a:srgbClr val="F8FAFC">
                    <a:alpha val="55000"/>
                  </a:srgbClr>
                </a:solidFill>
                <a:latin typeface="微软雅黑"/>
                <a:ea typeface="微软雅黑"/>
              </a:rPr>
              <a:t xml:space="preserve"> handler </a:t>
            </a:r>
            <a:r>
              <a:rPr lang="zh-CN" sz="1275">
                <a:solidFill>
                  <a:srgbClr val="F8FAFC">
                    <a:alpha val="55000"/>
                  </a:srgbClr>
                </a:solidFill>
                <a:latin typeface="微软雅黑"/>
                <a:ea typeface="微软雅黑"/>
              </a:rPr>
              <a:t>的</a:t>
            </a:r>
            <a:r>
              <a:rPr lang="en-US" sz="1275">
                <a:solidFill>
                  <a:srgbClr val="F8FAFC">
                    <a:alpha val="55000"/>
                  </a:srgbClr>
                </a:solidFill>
                <a:latin typeface="微软雅黑"/>
                <a:ea typeface="微软雅黑"/>
              </a:rPr>
              <a:t xml:space="preserve"> if</a:t>
            </a:r>
            <a:r>
              <a:rPr lang="zh-CN" sz="1275">
                <a:solidFill>
                  <a:srgbClr val="F8FAFC">
                    <a:alpha val="55000"/>
                  </a:srgbClr>
                </a:solidFill>
                <a:latin typeface="微软雅黑"/>
                <a:ea typeface="微软雅黑"/>
              </a:rPr>
              <a:t>。</a:t>
            </a:r>
            <a:endParaRPr/>
          </a:p>
        </p:txBody>
      </p:sp>
      <p:sp>
        <p:nvSpPr>
          <p:cNvPr id="307" name=""/>
          <p:cNvSpPr/>
          <p:nvPr/>
        </p:nvSpPr>
        <p:spPr>
          <a:xfrm rot="0" flipH="0" flipV="0">
            <a:off x="4305300" y="1047750"/>
            <a:ext cx="6819900" cy="1200150"/>
          </a:xfrm>
          <a:prstGeom prst="roundRect">
            <a:avLst>
              <a:gd name="adj" fmla="val 7937"/>
            </a:avLst>
          </a:prstGeom>
          <a:solidFill>
            <a:srgbClr val="FB7185">
              <a:alpha val="8000"/>
            </a:srgbClr>
          </a:solidFill>
          <a:ln w="12700">
            <a:solidFill>
              <a:srgbClr val="FB7185">
                <a:alpha val="42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08" name="" descr="{&quot;isTemplate&quot;:true,&quot;type&quot;:&quot;text&quot;}"/>
          <p:cNvSpPr txBox="1"/>
          <p:nvPr/>
        </p:nvSpPr>
        <p:spPr>
          <a:xfrm rot="0" flipH="0" flipV="0">
            <a:off x="4533900" y="1571625"/>
            <a:ext cx="2857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FB7185"/>
                </a:solidFill>
                <a:latin typeface="Consolas"/>
                <a:ea typeface="Consolas"/>
              </a:rPr>
              <a:t>01</a:t>
            </a:r>
            <a:endParaRPr/>
          </a:p>
        </p:txBody>
      </p:sp>
      <p:sp>
        <p:nvSpPr>
          <p:cNvPr id="309" name="" descr="{&quot;isTemplate&quot;:true,&quot;type&quot;:&quot;text&quot;}"/>
          <p:cNvSpPr txBox="1"/>
          <p:nvPr/>
        </p:nvSpPr>
        <p:spPr>
          <a:xfrm rot="0" flipH="0" flipV="0">
            <a:off x="5010150" y="1333500"/>
            <a:ext cx="58102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F8FAFC"/>
                </a:solidFill>
                <a:latin typeface="微软雅黑"/>
                <a:ea typeface="微软雅黑"/>
              </a:rPr>
              <a:t>高危工具强制二次确认</a:t>
            </a:r>
            <a:endParaRPr/>
          </a:p>
        </p:txBody>
      </p:sp>
      <p:sp>
        <p:nvSpPr>
          <p:cNvPr id="310" name="" descr="{&quot;isTemplate&quot;:true,&quot;type&quot;:&quot;text&quot;}"/>
          <p:cNvSpPr txBox="1"/>
          <p:nvPr/>
        </p:nvSpPr>
        <p:spPr>
          <a:xfrm rot="0" flipH="0" flipV="0">
            <a:off x="5010150" y="1647825"/>
            <a:ext cx="5810250" cy="31432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1200">
                <a:solidFill>
                  <a:srgbClr val="F8FAFC">
                    <a:alpha val="58000"/>
                  </a:srgbClr>
                </a:solidFill>
                <a:latin typeface="微软雅黑"/>
                <a:ea typeface="微软雅黑"/>
              </a:rPr>
              <a:t>门锁这类设备，没点过确认就不放行——接口层和</a:t>
            </a:r>
            <a:r>
              <a:rPr lang="en-US" sz="1200">
                <a:solidFill>
                  <a:srgbClr val="F8FAFC">
                    <a:alpha val="58000"/>
                  </a:srgbClr>
                </a:solidFill>
                <a:latin typeface="微软雅黑"/>
                <a:ea typeface="微软雅黑"/>
              </a:rPr>
              <a:t xml:space="preserve"> Agent </a:t>
            </a:r>
            <a:r>
              <a:rPr lang="zh-CN" sz="1200">
                <a:solidFill>
                  <a:srgbClr val="F8FAFC">
                    <a:alpha val="58000"/>
                  </a:srgbClr>
                </a:solidFill>
                <a:latin typeface="微软雅黑"/>
                <a:ea typeface="微软雅黑"/>
              </a:rPr>
              <a:t>层用的是同一套规则</a:t>
            </a:r>
            <a:endParaRPr/>
          </a:p>
        </p:txBody>
      </p:sp>
      <p:sp>
        <p:nvSpPr>
          <p:cNvPr id="311" name=""/>
          <p:cNvSpPr/>
          <p:nvPr/>
        </p:nvSpPr>
        <p:spPr>
          <a:xfrm rot="0" flipH="0" flipV="0">
            <a:off x="4305300" y="2381250"/>
            <a:ext cx="6819900" cy="1200150"/>
          </a:xfrm>
          <a:prstGeom prst="roundRect">
            <a:avLst>
              <a:gd name="adj" fmla="val 7937"/>
            </a:avLst>
          </a:prstGeom>
          <a:solidFill>
            <a:srgbClr val="16223A"/>
          </a:solidFill>
          <a:ln w="12700">
            <a:solidFill>
              <a:srgbClr val="F8FAFC">
                <a:alpha val="1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12" name="" descr="{&quot;isTemplate&quot;:true,&quot;type&quot;:&quot;text&quot;}"/>
          <p:cNvSpPr txBox="1"/>
          <p:nvPr/>
        </p:nvSpPr>
        <p:spPr>
          <a:xfrm rot="0" flipH="0" flipV="0">
            <a:off x="4533900" y="2905125"/>
            <a:ext cx="2857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FB7185">
                    <a:alpha val="70000"/>
                  </a:srgbClr>
                </a:solidFill>
                <a:latin typeface="Consolas"/>
                <a:ea typeface="Consolas"/>
              </a:rPr>
              <a:t>02</a:t>
            </a:r>
            <a:endParaRPr/>
          </a:p>
        </p:txBody>
      </p:sp>
      <p:sp>
        <p:nvSpPr>
          <p:cNvPr id="313" name="" descr="{&quot;isTemplate&quot;:true,&quot;type&quot;:&quot;text&quot;}"/>
          <p:cNvSpPr txBox="1"/>
          <p:nvPr/>
        </p:nvSpPr>
        <p:spPr>
          <a:xfrm rot="0" flipH="0" flipV="0">
            <a:off x="5010150" y="2667000"/>
            <a:ext cx="58102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F8FAFC"/>
                </a:solidFill>
                <a:latin typeface="微软雅黑"/>
                <a:ea typeface="微软雅黑"/>
              </a:rPr>
              <a:t>创建类一律回显确认</a:t>
            </a:r>
            <a:endParaRPr/>
          </a:p>
        </p:txBody>
      </p:sp>
      <p:sp>
        <p:nvSpPr>
          <p:cNvPr id="314" name="" descr="{&quot;isTemplate&quot;:true,&quot;type&quot;:&quot;text&quot;}"/>
          <p:cNvSpPr txBox="1"/>
          <p:nvPr/>
        </p:nvSpPr>
        <p:spPr>
          <a:xfrm rot="0" flipH="0" flipV="0">
            <a:off x="5010150" y="2981325"/>
            <a:ext cx="5810250" cy="31432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1200">
                <a:solidFill>
                  <a:srgbClr val="F8FAFC">
                    <a:alpha val="58000"/>
                  </a:srgbClr>
                </a:solidFill>
                <a:latin typeface="微软雅黑"/>
                <a:ea typeface="微软雅黑"/>
              </a:rPr>
              <a:t>建提醒先把</a:t>
            </a:r>
            <a:r>
              <a:rPr lang="en-US" sz="1200">
                <a:solidFill>
                  <a:srgbClr val="F8FAFC">
                    <a:alpha val="58000"/>
                  </a:srgbClr>
                </a:solidFill>
                <a:latin typeface="微软雅黑"/>
                <a:ea typeface="微软雅黑"/>
              </a:rPr>
              <a:t>"</a:t>
            </a:r>
            <a:r>
              <a:rPr lang="zh-CN" sz="1200">
                <a:solidFill>
                  <a:srgbClr val="F8FAFC">
                    <a:alpha val="58000"/>
                  </a:srgbClr>
                </a:solidFill>
                <a:latin typeface="微软雅黑"/>
                <a:ea typeface="微软雅黑"/>
              </a:rPr>
              <a:t>即将创建：关灯（</a:t>
            </a:r>
            <a:r>
              <a:rPr lang="en-US" sz="1200">
                <a:solidFill>
                  <a:srgbClr val="F8FAFC">
                    <a:alpha val="58000"/>
                  </a:srgbClr>
                </a:solidFill>
                <a:latin typeface="微软雅黑"/>
                <a:ea typeface="微软雅黑"/>
              </a:rPr>
              <a:t>21:00</a:t>
            </a:r>
            <a:r>
              <a:rPr lang="zh-CN" sz="1200">
                <a:solidFill>
                  <a:srgbClr val="F8FAFC">
                    <a:alpha val="58000"/>
                  </a:srgbClr>
                </a:solidFill>
                <a:latin typeface="微软雅黑"/>
                <a:ea typeface="微软雅黑"/>
              </a:rPr>
              <a:t>）</a:t>
            </a:r>
            <a:r>
              <a:rPr lang="en-US" sz="1200">
                <a:solidFill>
                  <a:srgbClr val="F8FAFC">
                    <a:alpha val="58000"/>
                  </a:srgbClr>
                </a:solidFill>
                <a:latin typeface="微软雅黑"/>
                <a:ea typeface="微软雅黑"/>
              </a:rPr>
              <a:t>"</a:t>
            </a:r>
            <a:r>
              <a:rPr lang="zh-CN" sz="1200">
                <a:solidFill>
                  <a:srgbClr val="F8FAFC">
                    <a:alpha val="58000"/>
                  </a:srgbClr>
                </a:solidFill>
                <a:latin typeface="微软雅黑"/>
                <a:ea typeface="微软雅黑"/>
              </a:rPr>
              <a:t>念一遍，你点头才落地</a:t>
            </a:r>
            <a:endParaRPr/>
          </a:p>
        </p:txBody>
      </p:sp>
      <p:sp>
        <p:nvSpPr>
          <p:cNvPr id="315" name=""/>
          <p:cNvSpPr/>
          <p:nvPr/>
        </p:nvSpPr>
        <p:spPr>
          <a:xfrm rot="0" flipH="0" flipV="0">
            <a:off x="4305300" y="3714750"/>
            <a:ext cx="6819900" cy="1200150"/>
          </a:xfrm>
          <a:prstGeom prst="roundRect">
            <a:avLst>
              <a:gd name="adj" fmla="val 7937"/>
            </a:avLst>
          </a:prstGeom>
          <a:solidFill>
            <a:srgbClr val="16223A"/>
          </a:solidFill>
          <a:ln w="12700">
            <a:solidFill>
              <a:srgbClr val="F8FAFC">
                <a:alpha val="1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16" name="" descr="{&quot;isTemplate&quot;:true,&quot;type&quot;:&quot;text&quot;}"/>
          <p:cNvSpPr txBox="1"/>
          <p:nvPr/>
        </p:nvSpPr>
        <p:spPr>
          <a:xfrm rot="0" flipH="0" flipV="0">
            <a:off x="4533900" y="4238625"/>
            <a:ext cx="2857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FB7185">
                    <a:alpha val="70000"/>
                  </a:srgbClr>
                </a:solidFill>
                <a:latin typeface="Consolas"/>
                <a:ea typeface="Consolas"/>
              </a:rPr>
              <a:t>03</a:t>
            </a:r>
            <a:endParaRPr/>
          </a:p>
        </p:txBody>
      </p:sp>
      <p:sp>
        <p:nvSpPr>
          <p:cNvPr id="317" name="" descr="{&quot;isTemplate&quot;:true,&quot;type&quot;:&quot;text&quot;}"/>
          <p:cNvSpPr txBox="1"/>
          <p:nvPr/>
        </p:nvSpPr>
        <p:spPr>
          <a:xfrm rot="0" flipH="0" flipV="0">
            <a:off x="5010150" y="4000500"/>
            <a:ext cx="58102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F8FAFC"/>
                </a:solidFill>
                <a:latin typeface="微软雅黑"/>
                <a:ea typeface="微软雅黑"/>
              </a:rPr>
              <a:t>说不清是哪台，就反问</a:t>
            </a:r>
            <a:endParaRPr/>
          </a:p>
        </p:txBody>
      </p:sp>
      <p:sp>
        <p:nvSpPr>
          <p:cNvPr id="318" name="" descr="{&quot;isTemplate&quot;:true,&quot;type&quot;:&quot;text&quot;}"/>
          <p:cNvSpPr txBox="1"/>
          <p:nvPr/>
        </p:nvSpPr>
        <p:spPr>
          <a:xfrm rot="0" flipH="0" flipV="0">
            <a:off x="5010150" y="4314825"/>
            <a:ext cx="5810250" cy="31432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en-US" sz="1200">
                <a:solidFill>
                  <a:srgbClr val="F8FAFC">
                    <a:alpha val="58000"/>
                  </a:srgbClr>
                </a:solidFill>
                <a:latin typeface="微软雅黑"/>
                <a:ea typeface="微软雅黑"/>
              </a:rPr>
              <a:t>"</a:t>
            </a:r>
            <a:r>
              <a:rPr lang="zh-CN" sz="1200">
                <a:solidFill>
                  <a:srgbClr val="F8FAFC">
                    <a:alpha val="58000"/>
                  </a:srgbClr>
                </a:solidFill>
                <a:latin typeface="微软雅黑"/>
                <a:ea typeface="微软雅黑"/>
              </a:rPr>
              <a:t>打开灯</a:t>
            </a:r>
            <a:r>
              <a:rPr lang="en-US" sz="1200">
                <a:solidFill>
                  <a:srgbClr val="F8FAFC">
                    <a:alpha val="58000"/>
                  </a:srgbClr>
                </a:solidFill>
                <a:latin typeface="微软雅黑"/>
                <a:ea typeface="微软雅黑"/>
              </a:rPr>
              <a:t>"</a:t>
            </a:r>
            <a:r>
              <a:rPr lang="zh-CN" sz="1200">
                <a:solidFill>
                  <a:srgbClr val="F8FAFC">
                    <a:alpha val="58000"/>
                  </a:srgbClr>
                </a:solidFill>
                <a:latin typeface="微软雅黑"/>
                <a:ea typeface="微软雅黑"/>
              </a:rPr>
              <a:t>而家里有两盏，它回</a:t>
            </a:r>
            <a:r>
              <a:rPr lang="en-US" sz="1200">
                <a:solidFill>
                  <a:srgbClr val="F8FAFC">
                    <a:alpha val="58000"/>
                  </a:srgbClr>
                </a:solidFill>
                <a:latin typeface="微软雅黑"/>
                <a:ea typeface="微软雅黑"/>
              </a:rPr>
              <a:t>"</a:t>
            </a:r>
            <a:r>
              <a:rPr lang="zh-CN" sz="1200">
                <a:solidFill>
                  <a:srgbClr val="F8FAFC">
                    <a:alpha val="58000"/>
                  </a:srgbClr>
                </a:solidFill>
                <a:latin typeface="微软雅黑"/>
                <a:ea typeface="微软雅黑"/>
              </a:rPr>
              <a:t>客厅灯、主卧灯都对得上，你指哪一台</a:t>
            </a:r>
            <a:r>
              <a:rPr lang="en-US" sz="1200">
                <a:solidFill>
                  <a:srgbClr val="F8FAFC">
                    <a:alpha val="58000"/>
                  </a:srgbClr>
                </a:solidFill>
                <a:latin typeface="微软雅黑"/>
                <a:ea typeface="微软雅黑"/>
              </a:rPr>
              <a:t>"——</a:t>
            </a:r>
            <a:r>
              <a:rPr lang="zh-CN" sz="1200">
                <a:solidFill>
                  <a:srgbClr val="F8FAFC">
                    <a:alpha val="58000"/>
                  </a:srgbClr>
                </a:solidFill>
                <a:latin typeface="微软雅黑"/>
                <a:ea typeface="微软雅黑"/>
              </a:rPr>
              <a:t>不替你猜</a:t>
            </a:r>
            <a:endParaRPr/>
          </a:p>
        </p:txBody>
      </p:sp>
      <p:sp>
        <p:nvSpPr>
          <p:cNvPr id="319" name=""/>
          <p:cNvSpPr/>
          <p:nvPr/>
        </p:nvSpPr>
        <p:spPr>
          <a:xfrm rot="0" flipH="0" flipV="0">
            <a:off x="4305300" y="5048250"/>
            <a:ext cx="6819900" cy="1200150"/>
          </a:xfrm>
          <a:prstGeom prst="roundRect">
            <a:avLst>
              <a:gd name="adj" fmla="val 7937"/>
            </a:avLst>
          </a:prstGeom>
          <a:solidFill>
            <a:srgbClr val="16223A"/>
          </a:solidFill>
          <a:ln w="12700">
            <a:solidFill>
              <a:srgbClr val="F8FAFC">
                <a:alpha val="1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20" name="" descr="{&quot;isTemplate&quot;:true,&quot;type&quot;:&quot;text&quot;}"/>
          <p:cNvSpPr txBox="1"/>
          <p:nvPr/>
        </p:nvSpPr>
        <p:spPr>
          <a:xfrm rot="0" flipH="0" flipV="0">
            <a:off x="4533900" y="5572125"/>
            <a:ext cx="2857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FB7185">
                    <a:alpha val="70000"/>
                  </a:srgbClr>
                </a:solidFill>
                <a:latin typeface="Consolas"/>
                <a:ea typeface="Consolas"/>
              </a:rPr>
              <a:t>04</a:t>
            </a:r>
            <a:endParaRPr/>
          </a:p>
        </p:txBody>
      </p:sp>
      <p:sp>
        <p:nvSpPr>
          <p:cNvPr id="321" name="" descr="{&quot;isTemplate&quot;:true,&quot;type&quot;:&quot;text&quot;}"/>
          <p:cNvSpPr txBox="1"/>
          <p:nvPr/>
        </p:nvSpPr>
        <p:spPr>
          <a:xfrm rot="0" flipH="0" flipV="0">
            <a:off x="5010150" y="5334000"/>
            <a:ext cx="58102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F8FAFC"/>
                </a:solidFill>
                <a:latin typeface="微软雅黑"/>
                <a:ea typeface="微软雅黑"/>
              </a:rPr>
              <a:t>跨家庭访问</a:t>
            </a:r>
            <a:r>
              <a:rPr lang="en-US" sz="1575" b="1">
                <a:solidFill>
                  <a:srgbClr val="F8FAFC"/>
                </a:solidFill>
                <a:latin typeface="微软雅黑"/>
                <a:ea typeface="微软雅黑"/>
              </a:rPr>
              <a:t xml:space="preserve"> 403</a:t>
            </a:r>
            <a:r>
              <a:rPr lang="zh-CN" sz="1575" b="1">
                <a:solidFill>
                  <a:srgbClr val="F8FAFC"/>
                </a:solidFill>
                <a:latin typeface="微软雅黑"/>
                <a:ea typeface="微软雅黑"/>
              </a:rPr>
              <a:t>，且零副作用</a:t>
            </a:r>
            <a:endParaRPr/>
          </a:p>
        </p:txBody>
      </p:sp>
      <p:sp>
        <p:nvSpPr>
          <p:cNvPr id="322" name="" descr="{&quot;isTemplate&quot;:true,&quot;type&quot;:&quot;text&quot;}"/>
          <p:cNvSpPr txBox="1"/>
          <p:nvPr/>
        </p:nvSpPr>
        <p:spPr>
          <a:xfrm rot="0" flipH="0" flipV="0">
            <a:off x="5010150" y="5648325"/>
            <a:ext cx="5810250" cy="31432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1200">
                <a:solidFill>
                  <a:srgbClr val="F8FAFC">
                    <a:alpha val="58000"/>
                  </a:srgbClr>
                </a:solidFill>
                <a:latin typeface="微软雅黑"/>
                <a:ea typeface="微软雅黑"/>
              </a:rPr>
              <a:t>不是</a:t>
            </a:r>
            <a:r>
              <a:rPr lang="en-US" sz="1200">
                <a:solidFill>
                  <a:srgbClr val="F8FAFC">
                    <a:alpha val="58000"/>
                  </a:srgbClr>
                </a:solidFill>
                <a:latin typeface="微软雅黑"/>
                <a:ea typeface="微软雅黑"/>
              </a:rPr>
              <a:t>"</a:t>
            </a:r>
            <a:r>
              <a:rPr lang="zh-CN" sz="1200">
                <a:solidFill>
                  <a:srgbClr val="F8FAFC">
                    <a:alpha val="58000"/>
                  </a:srgbClr>
                </a:solidFill>
                <a:latin typeface="微软雅黑"/>
                <a:ea typeface="微软雅黑"/>
              </a:rPr>
              <a:t>先执行了再道歉</a:t>
            </a:r>
            <a:r>
              <a:rPr lang="en-US" sz="1200">
                <a:solidFill>
                  <a:srgbClr val="F8FAFC">
                    <a:alpha val="58000"/>
                  </a:srgbClr>
                </a:solidFill>
                <a:latin typeface="微软雅黑"/>
                <a:ea typeface="微软雅黑"/>
              </a:rPr>
              <a:t>"——</a:t>
            </a:r>
            <a:r>
              <a:rPr lang="zh-CN" sz="1200">
                <a:solidFill>
                  <a:srgbClr val="F8FAFC">
                    <a:alpha val="58000"/>
                  </a:srgbClr>
                </a:solidFill>
                <a:latin typeface="微软雅黑"/>
                <a:ea typeface="微软雅黑"/>
              </a:rPr>
              <a:t>在动设备之前就拦下，状态一点不动</a:t>
            </a:r>
            <a:endParaRPr/>
          </a:p>
        </p:txBody>
      </p:sp>
      <p:sp>
        <p:nvSpPr>
          <p:cNvPr id="323" name="" descr="{&quot;isTemplate&quot;:true,&quot;type&quot;:&quot;text&quot;}"/>
          <p:cNvSpPr txBox="1"/>
          <p:nvPr/>
        </p:nvSpPr>
        <p:spPr>
          <a:xfrm rot="0" flipH="0" flipV="0">
            <a:off x="609600" y="6477000"/>
            <a:ext cx="19431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F8FAFC">
                    <a:alpha val="40000"/>
                  </a:srgbClr>
                </a:solidFill>
                <a:latin typeface="微软雅黑"/>
                <a:ea typeface="微软雅黑"/>
              </a:rPr>
              <a:t xml:space="preserve">HomeMind · </a:t>
            </a:r>
            <a:r>
              <a:rPr lang="zh-CN" sz="975">
                <a:solidFill>
                  <a:srgbClr val="F8FAFC">
                    <a:alpha val="40000"/>
                  </a:srgbClr>
                </a:solidFill>
                <a:latin typeface="微软雅黑"/>
                <a:ea typeface="微软雅黑"/>
              </a:rPr>
              <a:t>智能家居多智能体中枢</a:t>
            </a:r>
            <a:endParaRPr/>
          </a:p>
        </p:txBody>
      </p:sp>
      <p:sp>
        <p:nvSpPr>
          <p:cNvPr id="324" name="" descr="{&quot;isTemplate&quot;:true,&quot;type&quot;:&quot;text&quot;}"/>
          <p:cNvSpPr txBox="1"/>
          <p:nvPr/>
        </p:nvSpPr>
        <p:spPr>
          <a:xfrm rot="0" flipH="0" flipV="0">
            <a:off x="11096625" y="6477000"/>
            <a:ext cx="4857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F8FAFC">
                    <a:alpha val="40000"/>
                  </a:srgbClr>
                </a:solidFill>
                <a:latin typeface="Consolas"/>
                <a:ea typeface="Consolas"/>
              </a:rPr>
              <a:t>08 / 13</a:t>
            </a:r>
            <a:endParaRPr/>
          </a:p>
        </p:txBody>
      </p:sp>
    </p:spTree>
  </p:cSld>
</p:sld>
</file>

<file path=ppt/slides/slide9.xml><?xml version="1.0" encoding="utf-8"?>
<p:sld xmlns:p="http://schemas.openxmlformats.org/presentationml/2006/main" xmlns:a="http://schemas.openxmlformats.org/drawingml/2006/main">
  <p:cSld>
    <p:spTree>
      <p:nvGrpSpPr>
        <p:cNvPr id="325" name="" descr="&lt;Slide style={{ width: 1280, height: 720, position: 'relative', overflow: 'hidden', background: '#0B1120', fontFamily: '微软雅黑' }}&gt;&#10;    &lt;Box style={{ height: 110, paddingLeft: 64, paddingRight: 64, paddingTop: 34, flexDirection: 'row', alignItems: 'center', gap: 18 }}&gt;&#10;        &lt;Box style={{ width: 4, height: 34, background: '#38BDF8' }} /&gt;&#10;        &lt;Text style={{ fontSize: 36, fontWeight: 700, color: '#F8FAFC', letterSpacing: 0.5 }}&gt;一个账号，一个家&lt;/Text&gt;&#10;    &lt;/Box&gt;&#10;&#10;    &lt;Box style={{ height: 546, paddingLeft: 64, paddingRight: 64, flexDirection: 'row', gap: 52 }}&gt;&#10;        &lt;Box style={{ width: 660, flexDirection: 'column', gap: 10 }}&gt;&#10;            &lt;Box style={{ height: 54, flexDirection: 'row', alignItems: 'center', gap: 14, background: 'rgba(56,189,248,0.12)', border: '1px solid rgba(56,189,248,0.55)', borderRadius: 8, paddingLeft: 22, paddingRight: 22 }}&gt;&#10;                &lt;Text style={{ fontSize: 15, color: '#38BDF8', fontFamily: 'Consolas', fontWeight: 700 }}&gt;JWT&lt;/Text&gt;&#10;                &lt;Text style={{ fontSize: 16, color: 'rgba(248,250,252,0.78)' }}&gt;登录签发 token，里面带着 family_id&lt;/Text&gt;&#10;            &lt;/Box&gt;&#10;&#10;            &lt;Text style={{ fontSize: 16, color: 'rgba(56,189,248,0.50)', textAlign: 'center' }}&gt;↓&lt;/Text&gt;&#10;&#10;            &lt;Box style={{ flex: 1, flexDirection: 'column', gap: 8 }}&gt;&#10;                &lt;Box style={{ flex: 1, flexDirection: 'row', alignItems: 'center', gap: 16, background: '#16223A', border: '1px solid rgba(248,250,252,0.10)', borderRadius: 6, paddingLeft: 22, paddingRight: 22 }}&gt;&#10;                    &lt;Text style={{ fontSize: 15, color: '#38BDF8', fontFamily: 'Consolas', width: 88 }}&gt;设备&lt;/Text&gt;&#10;                    &lt;Text style={{ fontSize: 15, color: 'rgba(248,250,252,0.55)' }}&gt;列表 / 控制 / 增删改，一律按家庭过滤&lt;/Text&gt;&#10;                &lt;/Box&gt;&#10;                &lt;Box style={{ flex: 1, flexDirection: 'row', alignItems: 'center', gap: 16, background: '#16223A', border: '1px solid rgba(248,250,252,0.10)', borderRadius: 6, paddingLeft: 22, paddingRight: 22 }}&gt;&#10;                    &lt;Text style={{ fontSize: 15, color: '#38BDF8', fontFamily: 'Consolas', width: 88 }}&gt;记忆&lt;/Text&gt;&#10;                    &lt;Text style={{ fontSize: 15, color: 'rgba(248,250,252,0.55)' }}&gt;唯一键含 family_id，同 key 不会互相覆盖&lt;/Text&gt;&#10;                &lt;/Box&gt;&#10;                &lt;Box style={{ flex: 1, flexDirection: 'row', alignItems: 'center', gap: 16, background: '#16223A', border: '1px solid rgba(248,250,252,0.10)', borderRadius: 6, paddingLeft: 22, paddingRight: 22 }}&gt;&#10;                    &lt;Text style={{ fontSize: 15, color: '#38BDF8', fontFamily: 'Consolas', width: 88 }}&gt;会话&lt;/Text&gt;&#10;                    &lt;Text style={{ fontSize: 15, color: 'rgba(248,250,252,0.55)' }}&gt;短期记忆按家庭 + 成员分桶&lt;/Text&gt;&#10;                &lt;/Box&gt;&#10;                &lt;Box style={{ flex: 1, flexDirection: 'row', alignItems: 'center', gap: 16, background: '#16223A', border: '1px solid rgba(248,250,252,0.10)', borderRadius: 6, paddingLeft: 22, paddingRight: 22 }}&gt;&#10;                    &lt;Text style={{ fontSize: 15, color: '#38BDF8', fontFamily: 'Consolas', width: 88 }}&gt;任务&lt;/Text&gt;&#10;                    &lt;Text style={{ fontSize: 15, color: 'rgba(248,250,252,0.55)' }}&gt;提醒与家务任务，别家查不到也删不掉&lt;/Text&gt;&#10;                &lt;/Box&gt;&#10;                &lt;Box style={{ flex: 1, flexDirection: 'row', alignItems: 'center', gap: 16, background: '#16223A', border: '1px solid rgba(248,250,252,0.10)', borderRadius: 6, paddingLeft: 22, paddingRight: 22 }}&gt;&#10;                    &lt;Text style={{ fontSize: 15, color: '#38BDF8', fontFamily: 'Consolas', width: 88 }}&gt;场景&lt;/Text&gt;&#10;                    &lt;Text style={{ fontSize: 15, color: 'rgba(248,250,252,0.55)' }}&gt;批量动作逐台校验，越权设备直接 400&lt;/Text&gt;&#10;                &lt;/Box&gt;&#10;            &lt;/Box&gt;&#10;        &lt;/Box&gt;&#10;&#10;        &lt;Box style={{ width: 440, flexDirection: 'column', gap: 18, justifyContent: 'space-between' }}&gt;&#10;            &lt;Box&gt;&#10;                &lt;Text style={{ fontSize: 25, fontWeight: 700, color: '#F8FAFC', lineHeight: 1.55 }}&gt;&#10;                    隔离做得早，&lt;br /&gt;多用户功能才加得动&#10;                &lt;/Text&gt;&#10;                &lt;Text style={{ fontSize: 17, color: 'rgba(248,250,252,0.60)', lineHeight: 1.8, marginTop: 14 }}&gt;&#10;                    V1.0 先把 family_id 铺进每一层，后来的注册、邀请码、自建场景才不用返工。&#10;                &lt;/Text&gt;&#10;            &lt;/Box&gt;&#10;&#10;            &lt;Box style={{ background: 'rgba(56,189,248,0.06)', border: '1px solid rgba(56,189,248,0.28)', borderRadius: 10, padding: '24px 26px' }}&gt;&#10;                &lt;Text style={{ fontSize: 13, color: '#38BDF8', letterSpacing: 2, fontWeight: 700 }}&gt;一个刻意的取舍&lt;/Text&gt;&#10;                &lt;Text style={{ fontSize: 19, fontWeight: 700, color: '#F8FAFC', lineHeight: 1.6, marginTop: 12 }}&gt;&#10;                    越权返回 403，不是 404&#10;                &lt;/Text&gt;&#10;                &lt;Text style={{ fontSize: 16, color: 'rgba(248,250,252,0.58)', lineHeight: 1.75, marginTop: 10 }}&gt;&#10;                    404 等于告诉对方&quot;这个 id 存在，只是不属于你&quot;——那是免费的资源枚举线索。宁可说&quot;无权&quot;，也不给探测机会。&#10;                &lt;/Text&gt;&#10;            &lt;/Box&gt;&#10;        &lt;/Box&gt;&#10;    &lt;/Box&gt;&#10;&#10;    &lt;Box style={{ height: 64, paddingLeft: 64, paddingRight: 64, flexDirection: 'row', justifyContent: 'space-between', alignItems: 'center' }}&gt;&#10;        &lt;Text style={{ fontSize: 13, color: 'rgba(248,250,252,0.40)' }}&gt;HomeMind · 智能家居多智能体中枢&lt;/Text&gt;&#10;        &lt;Text style={{ fontSize: 13, color: 'rgba(248,250,252,0.40)', fontFamily: 'Consolas' }}&gt;09 / 13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120"/>
          </a:solidFill>
          <a:ln/>
        </p:spPr>
        <p:txBody>
          <a:bodyPr/>
          <a:p/>
        </p:txBody>
      </p:sp>
      <p:sp>
        <p:nvSpPr>
          <p:cNvPr id="327" name=""/>
          <p:cNvSpPr/>
          <p:nvPr/>
        </p:nvSpPr>
        <p:spPr>
          <a:xfrm rot="0" flipH="0" flipV="0">
            <a:off x="609600" y="523875"/>
            <a:ext cx="38100" cy="323850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p/>
        </p:txBody>
      </p:sp>
      <p:sp>
        <p:nvSpPr>
          <p:cNvPr id="328" name="" descr="{&quot;isTemplate&quot;:true,&quot;type&quot;:&quot;text&quot;}"/>
          <p:cNvSpPr txBox="1"/>
          <p:nvPr/>
        </p:nvSpPr>
        <p:spPr>
          <a:xfrm rot="0" flipH="0" flipV="0">
            <a:off x="819150" y="476250"/>
            <a:ext cx="2781300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700" b="1" spc="38">
                <a:solidFill>
                  <a:srgbClr val="F8FAFC"/>
                </a:solidFill>
                <a:latin typeface="微软雅黑"/>
                <a:ea typeface="微软雅黑"/>
              </a:rPr>
              <a:t>一个账号，一个家</a:t>
            </a:r>
            <a:endParaRPr/>
          </a:p>
        </p:txBody>
      </p:sp>
      <p:sp>
        <p:nvSpPr>
          <p:cNvPr id="329" name=""/>
          <p:cNvSpPr/>
          <p:nvPr/>
        </p:nvSpPr>
        <p:spPr>
          <a:xfrm rot="0" flipH="0" flipV="0">
            <a:off x="609600" y="1047750"/>
            <a:ext cx="6286500" cy="514350"/>
          </a:xfrm>
          <a:prstGeom prst="roundRect">
            <a:avLst>
              <a:gd name="adj" fmla="val 14815"/>
            </a:avLst>
          </a:prstGeom>
          <a:solidFill>
            <a:srgbClr val="38BDF8">
              <a:alpha val="12000"/>
            </a:srgbClr>
          </a:solidFill>
          <a:ln w="12700">
            <a:solidFill>
              <a:srgbClr val="38BDF8">
                <a:alpha val="5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30" name="" descr="{&quot;isTemplate&quot;:true,&quot;type&quot;:&quot;text&quot;}"/>
          <p:cNvSpPr txBox="1"/>
          <p:nvPr/>
        </p:nvSpPr>
        <p:spPr>
          <a:xfrm rot="0" flipH="0" flipV="0">
            <a:off x="819150" y="1219200"/>
            <a:ext cx="2381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38BDF8"/>
                </a:solidFill>
                <a:latin typeface="Consolas"/>
                <a:ea typeface="Consolas"/>
              </a:rPr>
              <a:t>JWT</a:t>
            </a:r>
            <a:endParaRPr/>
          </a:p>
        </p:txBody>
      </p:sp>
      <p:sp>
        <p:nvSpPr>
          <p:cNvPr id="331" name="" descr="{&quot;isTemplate&quot;:true,&quot;type&quot;:&quot;text&quot;}"/>
          <p:cNvSpPr txBox="1"/>
          <p:nvPr/>
        </p:nvSpPr>
        <p:spPr>
          <a:xfrm rot="0" flipH="0" flipV="0">
            <a:off x="1190625" y="1209675"/>
            <a:ext cx="24479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F8FAFC">
                    <a:alpha val="78000"/>
                  </a:srgbClr>
                </a:solidFill>
                <a:latin typeface="微软雅黑"/>
                <a:ea typeface="微软雅黑"/>
              </a:rPr>
              <a:t>登录签发</a:t>
            </a:r>
            <a:r>
              <a:rPr lang="en-US" sz="1200">
                <a:solidFill>
                  <a:srgbClr val="F8FAFC">
                    <a:alpha val="78000"/>
                  </a:srgbClr>
                </a:solidFill>
                <a:latin typeface="微软雅黑"/>
                <a:ea typeface="微软雅黑"/>
              </a:rPr>
              <a:t xml:space="preserve"> token</a:t>
            </a:r>
            <a:r>
              <a:rPr lang="zh-CN" sz="1200">
                <a:solidFill>
                  <a:srgbClr val="F8FAFC">
                    <a:alpha val="78000"/>
                  </a:srgbClr>
                </a:solidFill>
                <a:latin typeface="微软雅黑"/>
                <a:ea typeface="微软雅黑"/>
              </a:rPr>
              <a:t>，里面带着</a:t>
            </a:r>
            <a:r>
              <a:rPr lang="en-US" sz="1200">
                <a:solidFill>
                  <a:srgbClr val="F8FAFC">
                    <a:alpha val="78000"/>
                  </a:srgbClr>
                </a:solidFill>
                <a:latin typeface="微软雅黑"/>
                <a:ea typeface="微软雅黑"/>
              </a:rPr>
              <a:t xml:space="preserve"> family_id</a:t>
            </a:r>
            <a:endParaRPr/>
          </a:p>
        </p:txBody>
      </p:sp>
      <p:sp>
        <p:nvSpPr>
          <p:cNvPr id="332" name="" descr="{&quot;isTemplate&quot;:true,&quot;type&quot;:&quot;text&quot;}"/>
          <p:cNvSpPr txBox="1"/>
          <p:nvPr/>
        </p:nvSpPr>
        <p:spPr>
          <a:xfrm rot="0" flipH="0" flipV="0">
            <a:off x="609600" y="1657350"/>
            <a:ext cx="6286500" cy="19050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sz="1200">
                <a:solidFill>
                  <a:srgbClr val="38BDF8">
                    <a:alpha val="50000"/>
                  </a:srgbClr>
                </a:solidFill>
                <a:latin typeface="微软雅黑"/>
                <a:ea typeface="微软雅黑"/>
              </a:rPr>
              <a:t>↓</a:t>
            </a:r>
            <a:endParaRPr/>
          </a:p>
        </p:txBody>
      </p:sp>
      <p:sp>
        <p:nvSpPr>
          <p:cNvPr id="333" name=""/>
          <p:cNvSpPr/>
          <p:nvPr/>
        </p:nvSpPr>
        <p:spPr>
          <a:xfrm rot="0" flipH="0" flipV="0">
            <a:off x="609600" y="1943100"/>
            <a:ext cx="6286500" cy="800100"/>
          </a:xfrm>
          <a:prstGeom prst="roundRect">
            <a:avLst>
              <a:gd name="adj" fmla="val 7143"/>
            </a:avLst>
          </a:prstGeom>
          <a:solidFill>
            <a:srgbClr val="16223A"/>
          </a:solidFill>
          <a:ln w="12700">
            <a:solidFill>
              <a:srgbClr val="F8FAFC">
                <a:alpha val="1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34" name="" descr="{&quot;isTemplate&quot;:true,&quot;type&quot;:&quot;text&quot;}"/>
          <p:cNvSpPr txBox="1"/>
          <p:nvPr/>
        </p:nvSpPr>
        <p:spPr>
          <a:xfrm rot="0" flipH="0" flipV="0">
            <a:off x="819150" y="2257425"/>
            <a:ext cx="8382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38BDF8"/>
                </a:solidFill>
                <a:latin typeface="Consolas"/>
                <a:ea typeface="Consolas"/>
              </a:rPr>
              <a:t>设备</a:t>
            </a:r>
            <a:endParaRPr/>
          </a:p>
        </p:txBody>
      </p:sp>
      <p:sp>
        <p:nvSpPr>
          <p:cNvPr id="335" name="" descr="{&quot;isTemplate&quot;:true,&quot;type&quot;:&quot;text&quot;}"/>
          <p:cNvSpPr txBox="1"/>
          <p:nvPr/>
        </p:nvSpPr>
        <p:spPr>
          <a:xfrm rot="0" flipH="0" flipV="0">
            <a:off x="1809750" y="2257425"/>
            <a:ext cx="24384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F8FAFC">
                    <a:alpha val="55000"/>
                  </a:srgbClr>
                </a:solidFill>
                <a:latin typeface="微软雅黑"/>
                <a:ea typeface="微软雅黑"/>
              </a:rPr>
              <a:t>列表</a:t>
            </a:r>
            <a:r>
              <a:rPr lang="en-US" sz="1125">
                <a:solidFill>
                  <a:srgbClr val="F8FAFC">
                    <a:alpha val="55000"/>
                  </a:srgbClr>
                </a:solidFill>
                <a:latin typeface="微软雅黑"/>
                <a:ea typeface="微软雅黑"/>
              </a:rPr>
              <a:t xml:space="preserve"> / </a:t>
            </a:r>
            <a:r>
              <a:rPr lang="zh-CN" sz="1125">
                <a:solidFill>
                  <a:srgbClr val="F8FAFC">
                    <a:alpha val="55000"/>
                  </a:srgbClr>
                </a:solidFill>
                <a:latin typeface="微软雅黑"/>
                <a:ea typeface="微软雅黑"/>
              </a:rPr>
              <a:t>控制</a:t>
            </a:r>
            <a:r>
              <a:rPr lang="en-US" sz="1125">
                <a:solidFill>
                  <a:srgbClr val="F8FAFC">
                    <a:alpha val="55000"/>
                  </a:srgbClr>
                </a:solidFill>
                <a:latin typeface="微软雅黑"/>
                <a:ea typeface="微软雅黑"/>
              </a:rPr>
              <a:t xml:space="preserve"> / </a:t>
            </a:r>
            <a:r>
              <a:rPr lang="zh-CN" sz="1125">
                <a:solidFill>
                  <a:srgbClr val="F8FAFC">
                    <a:alpha val="55000"/>
                  </a:srgbClr>
                </a:solidFill>
                <a:latin typeface="微软雅黑"/>
                <a:ea typeface="微软雅黑"/>
              </a:rPr>
              <a:t>增删改，一律按家庭过滤</a:t>
            </a:r>
            <a:endParaRPr/>
          </a:p>
        </p:txBody>
      </p:sp>
      <p:sp>
        <p:nvSpPr>
          <p:cNvPr id="336" name=""/>
          <p:cNvSpPr/>
          <p:nvPr/>
        </p:nvSpPr>
        <p:spPr>
          <a:xfrm rot="0" flipH="0" flipV="0">
            <a:off x="609600" y="2819400"/>
            <a:ext cx="6286500" cy="800100"/>
          </a:xfrm>
          <a:prstGeom prst="roundRect">
            <a:avLst>
              <a:gd name="adj" fmla="val 7143"/>
            </a:avLst>
          </a:prstGeom>
          <a:solidFill>
            <a:srgbClr val="16223A"/>
          </a:solidFill>
          <a:ln w="12700">
            <a:solidFill>
              <a:srgbClr val="F8FAFC">
                <a:alpha val="1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37" name="" descr="{&quot;isTemplate&quot;:true,&quot;type&quot;:&quot;text&quot;}"/>
          <p:cNvSpPr txBox="1"/>
          <p:nvPr/>
        </p:nvSpPr>
        <p:spPr>
          <a:xfrm rot="0" flipH="0" flipV="0">
            <a:off x="819150" y="3133725"/>
            <a:ext cx="8382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38BDF8"/>
                </a:solidFill>
                <a:latin typeface="Consolas"/>
                <a:ea typeface="Consolas"/>
              </a:rPr>
              <a:t>记忆</a:t>
            </a:r>
            <a:endParaRPr/>
          </a:p>
        </p:txBody>
      </p:sp>
      <p:sp>
        <p:nvSpPr>
          <p:cNvPr id="338" name="" descr="{&quot;isTemplate&quot;:true,&quot;type&quot;:&quot;text&quot;}"/>
          <p:cNvSpPr txBox="1"/>
          <p:nvPr/>
        </p:nvSpPr>
        <p:spPr>
          <a:xfrm rot="0" flipH="0" flipV="0">
            <a:off x="1809750" y="3133725"/>
            <a:ext cx="26384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F8FAFC">
                    <a:alpha val="55000"/>
                  </a:srgbClr>
                </a:solidFill>
                <a:latin typeface="微软雅黑"/>
                <a:ea typeface="微软雅黑"/>
              </a:rPr>
              <a:t>唯一键含</a:t>
            </a:r>
            <a:r>
              <a:rPr lang="en-US" sz="1125">
                <a:solidFill>
                  <a:srgbClr val="F8FAFC">
                    <a:alpha val="55000"/>
                  </a:srgbClr>
                </a:solidFill>
                <a:latin typeface="微软雅黑"/>
                <a:ea typeface="微软雅黑"/>
              </a:rPr>
              <a:t xml:space="preserve"> family_id</a:t>
            </a:r>
            <a:r>
              <a:rPr lang="zh-CN" sz="1125">
                <a:solidFill>
                  <a:srgbClr val="F8FAFC">
                    <a:alpha val="55000"/>
                  </a:srgbClr>
                </a:solidFill>
                <a:latin typeface="微软雅黑"/>
                <a:ea typeface="微软雅黑"/>
              </a:rPr>
              <a:t>，同</a:t>
            </a:r>
            <a:r>
              <a:rPr lang="en-US" sz="1125">
                <a:solidFill>
                  <a:srgbClr val="F8FAFC">
                    <a:alpha val="55000"/>
                  </a:srgbClr>
                </a:solidFill>
                <a:latin typeface="微软雅黑"/>
                <a:ea typeface="微软雅黑"/>
              </a:rPr>
              <a:t xml:space="preserve"> key </a:t>
            </a:r>
            <a:r>
              <a:rPr lang="zh-CN" sz="1125">
                <a:solidFill>
                  <a:srgbClr val="F8FAFC">
                    <a:alpha val="55000"/>
                  </a:srgbClr>
                </a:solidFill>
                <a:latin typeface="微软雅黑"/>
                <a:ea typeface="微软雅黑"/>
              </a:rPr>
              <a:t>不会互相覆盖</a:t>
            </a:r>
            <a:endParaRPr/>
          </a:p>
        </p:txBody>
      </p:sp>
      <p:sp>
        <p:nvSpPr>
          <p:cNvPr id="339" name=""/>
          <p:cNvSpPr/>
          <p:nvPr/>
        </p:nvSpPr>
        <p:spPr>
          <a:xfrm rot="0" flipH="0" flipV="0">
            <a:off x="609600" y="3695700"/>
            <a:ext cx="6286500" cy="800100"/>
          </a:xfrm>
          <a:prstGeom prst="roundRect">
            <a:avLst>
              <a:gd name="adj" fmla="val 7143"/>
            </a:avLst>
          </a:prstGeom>
          <a:solidFill>
            <a:srgbClr val="16223A"/>
          </a:solidFill>
          <a:ln w="12700">
            <a:solidFill>
              <a:srgbClr val="F8FAFC">
                <a:alpha val="1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40" name="" descr="{&quot;isTemplate&quot;:true,&quot;type&quot;:&quot;text&quot;}"/>
          <p:cNvSpPr txBox="1"/>
          <p:nvPr/>
        </p:nvSpPr>
        <p:spPr>
          <a:xfrm rot="0" flipH="0" flipV="0">
            <a:off x="819150" y="4010025"/>
            <a:ext cx="8382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38BDF8"/>
                </a:solidFill>
                <a:latin typeface="Consolas"/>
                <a:ea typeface="Consolas"/>
              </a:rPr>
              <a:t>会话</a:t>
            </a:r>
            <a:endParaRPr/>
          </a:p>
        </p:txBody>
      </p:sp>
      <p:sp>
        <p:nvSpPr>
          <p:cNvPr id="341" name="" descr="{&quot;isTemplate&quot;:true,&quot;type&quot;:&quot;text&quot;}"/>
          <p:cNvSpPr txBox="1"/>
          <p:nvPr/>
        </p:nvSpPr>
        <p:spPr>
          <a:xfrm rot="0" flipH="0" flipV="0">
            <a:off x="1809750" y="4010025"/>
            <a:ext cx="17716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F8FAFC">
                    <a:alpha val="55000"/>
                  </a:srgbClr>
                </a:solidFill>
                <a:latin typeface="微软雅黑"/>
                <a:ea typeface="微软雅黑"/>
              </a:rPr>
              <a:t>短期记忆按家庭</a:t>
            </a:r>
            <a:r>
              <a:rPr lang="en-US" sz="1125">
                <a:solidFill>
                  <a:srgbClr val="F8FAFC">
                    <a:alpha val="55000"/>
                  </a:srgbClr>
                </a:solidFill>
                <a:latin typeface="微软雅黑"/>
                <a:ea typeface="微软雅黑"/>
              </a:rPr>
              <a:t xml:space="preserve"> + </a:t>
            </a:r>
            <a:r>
              <a:rPr lang="zh-CN" sz="1125">
                <a:solidFill>
                  <a:srgbClr val="F8FAFC">
                    <a:alpha val="55000"/>
                  </a:srgbClr>
                </a:solidFill>
                <a:latin typeface="微软雅黑"/>
                <a:ea typeface="微软雅黑"/>
              </a:rPr>
              <a:t>成员分桶</a:t>
            </a:r>
            <a:endParaRPr/>
          </a:p>
        </p:txBody>
      </p:sp>
      <p:sp>
        <p:nvSpPr>
          <p:cNvPr id="342" name=""/>
          <p:cNvSpPr/>
          <p:nvPr/>
        </p:nvSpPr>
        <p:spPr>
          <a:xfrm rot="0" flipH="0" flipV="0">
            <a:off x="609600" y="4572000"/>
            <a:ext cx="6286500" cy="800100"/>
          </a:xfrm>
          <a:prstGeom prst="roundRect">
            <a:avLst>
              <a:gd name="adj" fmla="val 7143"/>
            </a:avLst>
          </a:prstGeom>
          <a:solidFill>
            <a:srgbClr val="16223A"/>
          </a:solidFill>
          <a:ln w="12700">
            <a:solidFill>
              <a:srgbClr val="F8FAFC">
                <a:alpha val="1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43" name="" descr="{&quot;isTemplate&quot;:true,&quot;type&quot;:&quot;text&quot;}"/>
          <p:cNvSpPr txBox="1"/>
          <p:nvPr/>
        </p:nvSpPr>
        <p:spPr>
          <a:xfrm rot="0" flipH="0" flipV="0">
            <a:off x="819150" y="4886325"/>
            <a:ext cx="8382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38BDF8"/>
                </a:solidFill>
                <a:latin typeface="Consolas"/>
                <a:ea typeface="Consolas"/>
              </a:rPr>
              <a:t>任务</a:t>
            </a:r>
            <a:endParaRPr/>
          </a:p>
        </p:txBody>
      </p:sp>
      <p:sp>
        <p:nvSpPr>
          <p:cNvPr id="344" name="" descr="{&quot;isTemplate&quot;:true,&quot;type&quot;:&quot;text&quot;}"/>
          <p:cNvSpPr txBox="1"/>
          <p:nvPr/>
        </p:nvSpPr>
        <p:spPr>
          <a:xfrm rot="0" flipH="0" flipV="0">
            <a:off x="1809750" y="4886325"/>
            <a:ext cx="24288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F8FAFC">
                    <a:alpha val="55000"/>
                  </a:srgbClr>
                </a:solidFill>
                <a:latin typeface="微软雅黑"/>
                <a:ea typeface="微软雅黑"/>
              </a:rPr>
              <a:t>提醒与家务任务，别家查不到也删不掉</a:t>
            </a:r>
            <a:endParaRPr/>
          </a:p>
        </p:txBody>
      </p:sp>
      <p:sp>
        <p:nvSpPr>
          <p:cNvPr id="345" name=""/>
          <p:cNvSpPr/>
          <p:nvPr/>
        </p:nvSpPr>
        <p:spPr>
          <a:xfrm rot="0" flipH="0" flipV="0">
            <a:off x="609600" y="5448300"/>
            <a:ext cx="6286500" cy="800100"/>
          </a:xfrm>
          <a:prstGeom prst="roundRect">
            <a:avLst>
              <a:gd name="adj" fmla="val 7143"/>
            </a:avLst>
          </a:prstGeom>
          <a:solidFill>
            <a:srgbClr val="16223A"/>
          </a:solidFill>
          <a:ln w="12700">
            <a:solidFill>
              <a:srgbClr val="F8FAFC">
                <a:alpha val="1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46" name="" descr="{&quot;isTemplate&quot;:true,&quot;type&quot;:&quot;text&quot;}"/>
          <p:cNvSpPr txBox="1"/>
          <p:nvPr/>
        </p:nvSpPr>
        <p:spPr>
          <a:xfrm rot="0" flipH="0" flipV="0">
            <a:off x="819150" y="5762625"/>
            <a:ext cx="8382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38BDF8"/>
                </a:solidFill>
                <a:latin typeface="Consolas"/>
                <a:ea typeface="Consolas"/>
              </a:rPr>
              <a:t>场景</a:t>
            </a:r>
            <a:endParaRPr/>
          </a:p>
        </p:txBody>
      </p:sp>
      <p:sp>
        <p:nvSpPr>
          <p:cNvPr id="347" name="" descr="{&quot;isTemplate&quot;:true,&quot;type&quot;:&quot;text&quot;}"/>
          <p:cNvSpPr txBox="1"/>
          <p:nvPr/>
        </p:nvSpPr>
        <p:spPr>
          <a:xfrm rot="0" flipH="0" flipV="0">
            <a:off x="1809750" y="5762625"/>
            <a:ext cx="24288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F8FAFC">
                    <a:alpha val="55000"/>
                  </a:srgbClr>
                </a:solidFill>
                <a:latin typeface="微软雅黑"/>
                <a:ea typeface="微软雅黑"/>
              </a:rPr>
              <a:t>批量动作逐台校验，越权设备直接</a:t>
            </a:r>
            <a:r>
              <a:rPr lang="en-US" sz="1125">
                <a:solidFill>
                  <a:srgbClr val="F8FAFC">
                    <a:alpha val="55000"/>
                  </a:srgbClr>
                </a:solidFill>
                <a:latin typeface="微软雅黑"/>
                <a:ea typeface="微软雅黑"/>
              </a:rPr>
              <a:t xml:space="preserve"> 400</a:t>
            </a:r>
            <a:endParaRPr/>
          </a:p>
        </p:txBody>
      </p:sp>
      <p:sp>
        <p:nvSpPr>
          <p:cNvPr id="348" name="" descr="{&quot;isTemplate&quot;:true,&quot;type&quot;:&quot;text&quot;}"/>
          <p:cNvSpPr txBox="1"/>
          <p:nvPr/>
        </p:nvSpPr>
        <p:spPr>
          <a:xfrm rot="0" flipH="0" flipV="0">
            <a:off x="7391400" y="1047750"/>
            <a:ext cx="4191000" cy="88582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zh-CN" sz="1875" b="1">
                <a:solidFill>
                  <a:srgbClr val="F8FAFC"/>
                </a:solidFill>
                <a:latin typeface="微软雅黑"/>
                <a:ea typeface="微软雅黑"/>
              </a:rPr>
              <a:t>隔离做得早，</a:t>
            </a:r>
            <a:endParaRPr/>
          </a:p>
          <a:p>
            <a:pPr>
              <a:lnSpc>
                <a:spcPct val="155000"/>
              </a:lnSpc>
            </a:pPr>
            <a:r>
              <a:rPr lang="zh-CN" sz="1875" b="1">
                <a:solidFill>
                  <a:srgbClr val="F8FAFC"/>
                </a:solidFill>
                <a:latin typeface="微软雅黑"/>
                <a:ea typeface="微软雅黑"/>
              </a:rPr>
              <a:t>多用户功能才加得动</a:t>
            </a:r>
            <a:endParaRPr/>
          </a:p>
        </p:txBody>
      </p:sp>
      <p:sp>
        <p:nvSpPr>
          <p:cNvPr id="349" name="" descr="{&quot;isTemplate&quot;:true,&quot;type&quot;:&quot;text&quot;}"/>
          <p:cNvSpPr txBox="1"/>
          <p:nvPr/>
        </p:nvSpPr>
        <p:spPr>
          <a:xfrm rot="0" flipH="0" flipV="0">
            <a:off x="7391400" y="2066925"/>
            <a:ext cx="4191000" cy="7048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80000"/>
              </a:lnSpc>
            </a:pPr>
            <a:r>
              <a:rPr lang="en-US" sz="1275">
                <a:solidFill>
                  <a:srgbClr val="F8FAFC">
                    <a:alpha val="60000"/>
                  </a:srgbClr>
                </a:solidFill>
                <a:latin typeface="微软雅黑"/>
                <a:ea typeface="微软雅黑"/>
              </a:rPr>
              <a:t xml:space="preserve">V1.0 </a:t>
            </a:r>
            <a:r>
              <a:rPr lang="zh-CN" sz="1275">
                <a:solidFill>
                  <a:srgbClr val="F8FAFC">
                    <a:alpha val="60000"/>
                  </a:srgbClr>
                </a:solidFill>
                <a:latin typeface="微软雅黑"/>
                <a:ea typeface="微软雅黑"/>
              </a:rPr>
              <a:t>先把</a:t>
            </a:r>
            <a:r>
              <a:rPr lang="en-US" sz="1275">
                <a:solidFill>
                  <a:srgbClr val="F8FAFC">
                    <a:alpha val="60000"/>
                  </a:srgbClr>
                </a:solidFill>
                <a:latin typeface="微软雅黑"/>
                <a:ea typeface="微软雅黑"/>
              </a:rPr>
              <a:t xml:space="preserve"> family_id </a:t>
            </a:r>
            <a:r>
              <a:rPr lang="zh-CN" sz="1275">
                <a:solidFill>
                  <a:srgbClr val="F8FAFC">
                    <a:alpha val="60000"/>
                  </a:srgbClr>
                </a:solidFill>
                <a:latin typeface="微软雅黑"/>
                <a:ea typeface="微软雅黑"/>
              </a:rPr>
              <a:t>铺进每一层，后来的注册、邀请码、自建场景才不用返工。</a:t>
            </a:r>
            <a:endParaRPr/>
          </a:p>
        </p:txBody>
      </p:sp>
      <p:sp>
        <p:nvSpPr>
          <p:cNvPr id="350" name=""/>
          <p:cNvSpPr/>
          <p:nvPr/>
        </p:nvSpPr>
        <p:spPr>
          <a:xfrm rot="0" flipH="0" flipV="0">
            <a:off x="7391400" y="4114800"/>
            <a:ext cx="4191000" cy="2133600"/>
          </a:xfrm>
          <a:prstGeom prst="roundRect">
            <a:avLst>
              <a:gd name="adj" fmla="val 4464"/>
            </a:avLst>
          </a:prstGeom>
          <a:solidFill>
            <a:srgbClr val="38BDF8">
              <a:alpha val="6000"/>
            </a:srgbClr>
          </a:solidFill>
          <a:ln w="12700">
            <a:solidFill>
              <a:srgbClr val="38BDF8">
                <a:alpha val="28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51" name="" descr="{&quot;isTemplate&quot;:true,&quot;type&quot;:&quot;text&quot;}"/>
          <p:cNvSpPr txBox="1"/>
          <p:nvPr/>
        </p:nvSpPr>
        <p:spPr>
          <a:xfrm rot="0" flipH="0" flipV="0">
            <a:off x="7639050" y="4343400"/>
            <a:ext cx="36957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b="1" spc="150">
                <a:solidFill>
                  <a:srgbClr val="38BDF8"/>
                </a:solidFill>
                <a:latin typeface="微软雅黑"/>
                <a:ea typeface="微软雅黑"/>
              </a:rPr>
              <a:t>一个刻意的取舍</a:t>
            </a:r>
            <a:endParaRPr/>
          </a:p>
        </p:txBody>
      </p:sp>
      <p:sp>
        <p:nvSpPr>
          <p:cNvPr id="352" name="" descr="{&quot;isTemplate&quot;:true,&quot;type&quot;:&quot;text&quot;}"/>
          <p:cNvSpPr txBox="1"/>
          <p:nvPr/>
        </p:nvSpPr>
        <p:spPr>
          <a:xfrm rot="0" flipH="0" flipV="0">
            <a:off x="7639050" y="4610100"/>
            <a:ext cx="3695700" cy="35242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425" b="1">
                <a:solidFill>
                  <a:srgbClr val="F8FAFC"/>
                </a:solidFill>
                <a:latin typeface="微软雅黑"/>
                <a:ea typeface="微软雅黑"/>
              </a:rPr>
              <a:t>越权返回</a:t>
            </a:r>
            <a:r>
              <a:rPr lang="en-US" sz="1425" b="1">
                <a:solidFill>
                  <a:srgbClr val="F8FAFC"/>
                </a:solidFill>
                <a:latin typeface="微软雅黑"/>
                <a:ea typeface="微软雅黑"/>
              </a:rPr>
              <a:t xml:space="preserve"> 403</a:t>
            </a:r>
            <a:r>
              <a:rPr lang="zh-CN" sz="1425" b="1">
                <a:solidFill>
                  <a:srgbClr val="F8FAFC"/>
                </a:solidFill>
                <a:latin typeface="微软雅黑"/>
                <a:ea typeface="微软雅黑"/>
              </a:rPr>
              <a:t>，不是</a:t>
            </a:r>
            <a:r>
              <a:rPr lang="en-US" sz="1425" b="1">
                <a:solidFill>
                  <a:srgbClr val="F8FAFC"/>
                </a:solidFill>
                <a:latin typeface="微软雅黑"/>
                <a:ea typeface="微软雅黑"/>
              </a:rPr>
              <a:t xml:space="preserve"> 404</a:t>
            </a:r>
            <a:endParaRPr/>
          </a:p>
        </p:txBody>
      </p:sp>
      <p:sp>
        <p:nvSpPr>
          <p:cNvPr id="353" name="" descr="{&quot;isTemplate&quot;:true,&quot;type&quot;:&quot;text&quot;}"/>
          <p:cNvSpPr txBox="1"/>
          <p:nvPr/>
        </p:nvSpPr>
        <p:spPr>
          <a:xfrm rot="0" flipH="0" flipV="0">
            <a:off x="7639050" y="5057775"/>
            <a:ext cx="3695700" cy="9620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5000"/>
              </a:lnSpc>
            </a:pPr>
            <a:r>
              <a:rPr lang="en-US" sz="1200">
                <a:solidFill>
                  <a:srgbClr val="F8FAFC">
                    <a:alpha val="58000"/>
                  </a:srgbClr>
                </a:solidFill>
                <a:latin typeface="微软雅黑"/>
                <a:ea typeface="微软雅黑"/>
              </a:rPr>
              <a:t xml:space="preserve">404 </a:t>
            </a:r>
            <a:r>
              <a:rPr lang="zh-CN" sz="1200">
                <a:solidFill>
                  <a:srgbClr val="F8FAFC">
                    <a:alpha val="58000"/>
                  </a:srgbClr>
                </a:solidFill>
                <a:latin typeface="微软雅黑"/>
                <a:ea typeface="微软雅黑"/>
              </a:rPr>
              <a:t>等于告诉对方</a:t>
            </a:r>
            <a:r>
              <a:rPr lang="en-US" sz="1200">
                <a:solidFill>
                  <a:srgbClr val="F8FAFC">
                    <a:alpha val="58000"/>
                  </a:srgbClr>
                </a:solidFill>
                <a:latin typeface="微软雅黑"/>
                <a:ea typeface="微软雅黑"/>
              </a:rPr>
              <a:t>"</a:t>
            </a:r>
            <a:r>
              <a:rPr lang="zh-CN" sz="1200">
                <a:solidFill>
                  <a:srgbClr val="F8FAFC">
                    <a:alpha val="58000"/>
                  </a:srgbClr>
                </a:solidFill>
                <a:latin typeface="微软雅黑"/>
                <a:ea typeface="微软雅黑"/>
              </a:rPr>
              <a:t>这个</a:t>
            </a:r>
            <a:r>
              <a:rPr lang="en-US" sz="1200">
                <a:solidFill>
                  <a:srgbClr val="F8FAFC">
                    <a:alpha val="58000"/>
                  </a:srgbClr>
                </a:solidFill>
                <a:latin typeface="微软雅黑"/>
                <a:ea typeface="微软雅黑"/>
              </a:rPr>
              <a:t xml:space="preserve"> id </a:t>
            </a:r>
            <a:r>
              <a:rPr lang="zh-CN" sz="1200">
                <a:solidFill>
                  <a:srgbClr val="F8FAFC">
                    <a:alpha val="58000"/>
                  </a:srgbClr>
                </a:solidFill>
                <a:latin typeface="微软雅黑"/>
                <a:ea typeface="微软雅黑"/>
              </a:rPr>
              <a:t>存在，只是不属于你</a:t>
            </a:r>
            <a:r>
              <a:rPr lang="en-US" sz="1200">
                <a:solidFill>
                  <a:srgbClr val="F8FAFC">
                    <a:alpha val="58000"/>
                  </a:srgbClr>
                </a:solidFill>
                <a:latin typeface="微软雅黑"/>
                <a:ea typeface="微软雅黑"/>
              </a:rPr>
              <a:t>"——</a:t>
            </a:r>
            <a:r>
              <a:rPr lang="zh-CN" sz="1200">
                <a:solidFill>
                  <a:srgbClr val="F8FAFC">
                    <a:alpha val="58000"/>
                  </a:srgbClr>
                </a:solidFill>
                <a:latin typeface="微软雅黑"/>
                <a:ea typeface="微软雅黑"/>
              </a:rPr>
              <a:t>那是免费的资源枚举线索。宁可说</a:t>
            </a:r>
            <a:r>
              <a:rPr lang="en-US" sz="1200">
                <a:solidFill>
                  <a:srgbClr val="F8FAFC">
                    <a:alpha val="58000"/>
                  </a:srgbClr>
                </a:solidFill>
                <a:latin typeface="微软雅黑"/>
                <a:ea typeface="微软雅黑"/>
              </a:rPr>
              <a:t>"</a:t>
            </a:r>
            <a:r>
              <a:rPr lang="zh-CN" sz="1200">
                <a:solidFill>
                  <a:srgbClr val="F8FAFC">
                    <a:alpha val="58000"/>
                  </a:srgbClr>
                </a:solidFill>
                <a:latin typeface="微软雅黑"/>
                <a:ea typeface="微软雅黑"/>
              </a:rPr>
              <a:t>无权</a:t>
            </a:r>
            <a:r>
              <a:rPr lang="en-US" sz="1200">
                <a:solidFill>
                  <a:srgbClr val="F8FAFC">
                    <a:alpha val="58000"/>
                  </a:srgbClr>
                </a:solidFill>
                <a:latin typeface="微软雅黑"/>
                <a:ea typeface="微软雅黑"/>
              </a:rPr>
              <a:t>"</a:t>
            </a:r>
            <a:r>
              <a:rPr lang="zh-CN" sz="1200">
                <a:solidFill>
                  <a:srgbClr val="F8FAFC">
                    <a:alpha val="58000"/>
                  </a:srgbClr>
                </a:solidFill>
                <a:latin typeface="微软雅黑"/>
                <a:ea typeface="微软雅黑"/>
              </a:rPr>
              <a:t>，也不给探测机会。</a:t>
            </a:r>
            <a:endParaRPr/>
          </a:p>
        </p:txBody>
      </p:sp>
      <p:sp>
        <p:nvSpPr>
          <p:cNvPr id="354" name="" descr="{&quot;isTemplate&quot;:true,&quot;type&quot;:&quot;text&quot;}"/>
          <p:cNvSpPr txBox="1"/>
          <p:nvPr/>
        </p:nvSpPr>
        <p:spPr>
          <a:xfrm rot="0" flipH="0" flipV="0">
            <a:off x="609600" y="6477000"/>
            <a:ext cx="19431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F8FAFC">
                    <a:alpha val="40000"/>
                  </a:srgbClr>
                </a:solidFill>
                <a:latin typeface="微软雅黑"/>
                <a:ea typeface="微软雅黑"/>
              </a:rPr>
              <a:t xml:space="preserve">HomeMind · </a:t>
            </a:r>
            <a:r>
              <a:rPr lang="zh-CN" sz="975">
                <a:solidFill>
                  <a:srgbClr val="F8FAFC">
                    <a:alpha val="40000"/>
                  </a:srgbClr>
                </a:solidFill>
                <a:latin typeface="微软雅黑"/>
                <a:ea typeface="微软雅黑"/>
              </a:rPr>
              <a:t>智能家居多智能体中枢</a:t>
            </a:r>
            <a:endParaRPr/>
          </a:p>
        </p:txBody>
      </p:sp>
      <p:sp>
        <p:nvSpPr>
          <p:cNvPr id="355" name="" descr="{&quot;isTemplate&quot;:true,&quot;type&quot;:&quot;text&quot;}"/>
          <p:cNvSpPr txBox="1"/>
          <p:nvPr/>
        </p:nvSpPr>
        <p:spPr>
          <a:xfrm rot="0" flipH="0" flipV="0">
            <a:off x="11096625" y="6477000"/>
            <a:ext cx="4857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F8FAFC">
                    <a:alpha val="40000"/>
                  </a:srgbClr>
                </a:solidFill>
                <a:latin typeface="Consolas"/>
                <a:ea typeface="Consolas"/>
              </a:rPr>
              <a:t>09 / 13</a:t>
            </a:r>
            <a:endParaRPr/>
          </a:p>
        </p:txBody>
      </p:sp>
    </p:spTree>
  </p:cSld>
</p:sld>
</file>

<file path=ppt/slides/slide10.xml><?xml version="1.0" encoding="utf-8"?>
<p:sld xmlns:p="http://schemas.openxmlformats.org/presentationml/2006/main" xmlns:a="http://schemas.openxmlformats.org/drawingml/2006/main">
  <p:cSld>
    <p:spTree>
      <p:nvGrpSpPr>
        <p:cNvPr id="17" name="" descr="&lt;Slide style={{ width: 1280, height: 720, position: 'relative', overflow: 'hidden', background: '#0B1120', fontFamily: '微软雅黑' }}&gt;&#10;    &lt;Box style={{ height: 110, paddingLeft: 64, paddingRight: 64, paddingTop: 34, flexDirection: 'row', alignItems: 'center', gap: 18 }}&gt;&#10;        &lt;Box style={{ width: 4, height: 34, background: '#38BDF8' }} /&gt;&#10;        &lt;Text style={{ fontSize: 36, fontWeight: 700, color: '#F8FAFC', letterSpacing: 0.5 }}&gt;我怎么证明它真的能跑&lt;/Text&gt;&#10;    &lt;/Box&gt;&#10;&#10;    &lt;Box style={{ height: 546, paddingLeft: 64, paddingRight: 64, flexDirection: 'column' }}&gt;&#10;        &lt;Box style={{ flexDirection: 'row', gap: 34, justifyContent: 'space-between' }}&gt;&#10;            &lt;Box style={{ width: 250 }}&gt;&#10;                &lt;Text style={{ fontSize: 84, fontWeight: 700, color: '#38BDF8', fontFamily: 'Consolas', lineHeight: 1 }}&gt;247&lt;/Text&gt;&#10;                &lt;Text style={{ fontSize: 19, fontWeight: 700, color: '#F8FAFC', marginTop: 10 }}&gt;条单元测试&lt;/Text&gt;&#10;                &lt;Text style={{ fontSize: 15, color: 'rgba(248,250,252,0.55)', lineHeight: 1.65, marginTop: 7 }}&gt;&#10;                    快、确定性、不联网，30 秒跑完&#10;                &lt;/Text&gt;&#10;            &lt;/Box&gt;&#10;            &lt;Box style={{ width: 250 }}&gt;&#10;                &lt;Text style={{ fontSize: 84, fontWeight: 700, color: '#F8FAFC', fontFamily: 'Consolas', lineHeight: 1 }}&gt;54&lt;/Text&gt;&#10;                &lt;Text style={{ fontSize: 19, fontWeight: 700, color: '#F8FAFC', marginTop: 10 }}&gt;条端到端评测&lt;/Text&gt;&#10;                &lt;Text style={{ fontSize: 15, color: 'rgba(248,250,252,0.55)', lineHeight: 1.65, marginTop: 7 }}&gt;&#10;                    安全红线一票否决，失败即整体不合格&#10;                &lt;/Text&gt;&#10;            &lt;/Box&gt;&#10;            &lt;Box style={{ width: 250 }}&gt;&#10;                &lt;Text style={{ fontSize: 84, fontWeight: 700, color: '#F8FAFC', fontFamily: 'Consolas', lineHeight: 1 }}&gt;43&lt;/Text&gt;&#10;                &lt;Text style={{ fontSize: 19, fontWeight: 700, color: '#F8FAFC', marginTop: 10 }}&gt;项端到端验收&lt;/Text&gt;&#10;                &lt;Text style={{ fontSize: 15, color: 'rgba(248,250,252,0.55)', lineHeight: 1.65, marginTop: 7 }}&gt;&#10;                    真起服务 + 真实 JWT，走完整登录链路&#10;                &lt;/Text&gt;&#10;            &lt;/Box&gt;&#10;            &lt;Box style={{ width: 250 }}&gt;&#10;                &lt;Text style={{ fontSize: 84, fontWeight: 700, color: '#F8FAFC', fontFamily: 'Consolas', lineHeight: 1 }}&gt;32&lt;/Text&gt;&#10;                &lt;Text style={{ fontSize: 19, fontWeight: 700, color: '#F8FAFC', marginTop: 10 }}&gt;项前端冒烟&lt;/Text&gt;&#10;                &lt;Text style={{ fontSize: 15, color: 'rgba(248,250,252,0.55)', lineHeight: 1.65, marginTop: 7 }}&gt;&#10;                    无头浏览器逐个点，没发请求就算失败&#10;                &lt;/Text&gt;&#10;            &lt;/Box&gt;&#10;        &lt;/Box&gt;&#10;&#10;        &lt;Box style={{ height: 1, background: 'rgba(248,250,252,0.12)', marginTop: 26, marginBottom: 26 }} /&gt;&#10;&#10;        &lt;Box style={{ flex: 1, flexDirection: 'row', gap: 40 }}&gt;&#10;            &lt;Box style={{ width: 700, background: '#16223A', border: '1px solid rgba(248,250,252,0.10)', borderRadius: 10, padding: '24px 28px' }}&gt;&#10;                &lt;Text style={{ fontSize: 13, color: '#38BDF8', letterSpacing: 2, fontWeight: 700 }}&gt;这四层不是重复劳动&lt;/Text&gt;&#10;                &lt;Text style={{ fontSize: 19, fontWeight: 700, color: '#F8FAFC', lineHeight: 1.7, marginTop: 14 }}&gt;&#10;                    单测用依赖注入&lt;span style={{ color: '#38BDF8' }}&gt;旁路掉了认证&lt;/span&gt;，所以 JWT 中间件、静态站点托管、跨账号切换它一次都没跑过——只能靠端到端验收兜。&#10;                &lt;/Text&gt;&#10;                &lt;Text style={{ fontSize: 17, color: 'rgba(248,250,252,0.58)', lineHeight: 1.75, marginTop: 12 }}&gt;&#10;                    反之端到端只覆盖主路径，边界还得靠单测。各抓不同的东西，缺一层就有盲区。&#10;                &lt;/Text&gt;&#10;            &lt;/Box&gt;&#10;&#10;            &lt;Box style={{ width: 376, background: 'rgba(251,113,133,0.08)', border: '1px solid rgba(251,113,133,0.38)', borderRadius: 10, padding: '24px 26px' }}&gt;&#10;                &lt;Text style={{ fontSize: 13, color: '#FB7185', letterSpacing: 2, fontWeight: 700 }}&gt;一个真实教训&lt;/Text&gt;&#10;                &lt;Text style={{ fontSize: 17, color: 'rgba(248,250,252,0.72)', lineHeight: 1.8, marginTop: 14 }}&gt;&#10;                    给解析器加参数时改了 &lt;span style={{ fontFamily: 'Consolas', color: '#FB7185' }}&gt;src/&lt;/span&gt; 和 &lt;span style={{ fontFamily: 'Consolas', color: '#FB7185' }}&gt;tests/&lt;/span&gt;，漏了脚本里的桩实现——&#10;                &lt;/Text&gt;&#10;                &lt;Text style={{ fontSize: 17, fontWeight: 700, color: '#F8FAFC', lineHeight: 1.8, marginTop: 10 }}&gt;&#10;                    单测全绿、评测全绿，只有自检里&quot;跑真脚本&quot;那一项红着。&#10;                &lt;/Text&gt;&#10;            &lt;/Box&gt;&#10;        &lt;/Box&gt;&#10;    &lt;/Box&gt;&#10;&#10;    &lt;Box style={{ height: 64, paddingLeft: 64, paddingRight: 64, flexDirection: 'row', justifyContent: 'space-between', alignItems: 'center' }}&gt;&#10;        &lt;Text style={{ fontSize: 13, color: 'rgba(248,250,252,0.40)' }}&gt;HomeMind · 智能家居多智能体中枢&lt;/Text&gt;&#10;        &lt;Text style={{ fontSize: 13, color: 'rgba(248,250,252,0.40)', fontFamily: 'Consolas' }}&gt;10 / 13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120"/>
          </a:solidFill>
          <a:ln/>
        </p:spPr>
        <p:txBody>
          <a:bodyPr/>
          <a:p/>
        </p:txBody>
      </p:sp>
      <p:sp>
        <p:nvSpPr>
          <p:cNvPr id="19" name=""/>
          <p:cNvSpPr/>
          <p:nvPr/>
        </p:nvSpPr>
        <p:spPr>
          <a:xfrm rot="0" flipH="0" flipV="0">
            <a:off x="609600" y="523875"/>
            <a:ext cx="38100" cy="323850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p/>
        </p:txBody>
      </p:sp>
      <p:sp>
        <p:nvSpPr>
          <p:cNvPr id="20" name="" descr="{&quot;isTemplate&quot;:true,&quot;type&quot;:&quot;text&quot;}"/>
          <p:cNvSpPr txBox="1"/>
          <p:nvPr/>
        </p:nvSpPr>
        <p:spPr>
          <a:xfrm rot="0" flipH="0" flipV="0">
            <a:off x="819150" y="476250"/>
            <a:ext cx="3476625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700" b="1" spc="38">
                <a:solidFill>
                  <a:srgbClr val="F8FAFC"/>
                </a:solidFill>
                <a:latin typeface="微软雅黑"/>
                <a:ea typeface="微软雅黑"/>
              </a:rPr>
              <a:t>我怎么证明它真的能跑</a:t>
            </a:r>
            <a:endParaRPr/>
          </a:p>
        </p:txBody>
      </p:sp>
      <p:sp>
        <p:nvSpPr>
          <p:cNvPr id="21" name="" descr="{&quot;isTemplate&quot;:true,&quot;type&quot;:&quot;text&quot;}"/>
          <p:cNvSpPr txBox="1"/>
          <p:nvPr/>
        </p:nvSpPr>
        <p:spPr>
          <a:xfrm rot="0" flipH="0" flipV="0">
            <a:off x="609600" y="1047750"/>
            <a:ext cx="2381250" cy="962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6300" b="1">
                <a:solidFill>
                  <a:srgbClr val="38BDF8"/>
                </a:solidFill>
                <a:latin typeface="Consolas"/>
                <a:ea typeface="Consolas"/>
              </a:rPr>
              <a:t>247</a:t>
            </a:r>
            <a:endParaRPr/>
          </a:p>
        </p:txBody>
      </p:sp>
      <p:sp>
        <p:nvSpPr>
          <p:cNvPr id="22" name="" descr="{&quot;isTemplate&quot;:true,&quot;type&quot;:&quot;text&quot;}"/>
          <p:cNvSpPr txBox="1"/>
          <p:nvPr/>
        </p:nvSpPr>
        <p:spPr>
          <a:xfrm rot="0" flipH="0" flipV="0">
            <a:off x="609600" y="2105025"/>
            <a:ext cx="23812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F8FAFC"/>
                </a:solidFill>
                <a:latin typeface="微软雅黑"/>
                <a:ea typeface="微软雅黑"/>
              </a:rPr>
              <a:t>条单元测试</a:t>
            </a:r>
            <a:endParaRPr/>
          </a:p>
        </p:txBody>
      </p:sp>
      <p:sp>
        <p:nvSpPr>
          <p:cNvPr id="23" name="" descr="{&quot;isTemplate&quot;:true,&quot;type&quot;:&quot;text&quot;}"/>
          <p:cNvSpPr txBox="1"/>
          <p:nvPr/>
        </p:nvSpPr>
        <p:spPr>
          <a:xfrm rot="0" flipH="0" flipV="0">
            <a:off x="609600" y="2390775"/>
            <a:ext cx="2381250" cy="285750"/>
          </a:xfrm>
          <a:prstGeom prst="rect"/>
        </p:spPr>
        <p:txBody>
          <a:bodyPr wrap="none" lIns="0" tIns="0" rIns="0" bIns="0"/>
          <a:p>
            <a:pPr>
              <a:lnSpc>
                <a:spcPct val="165000"/>
              </a:lnSpc>
            </a:pPr>
            <a:r>
              <a:rPr lang="zh-CN" sz="1125">
                <a:solidFill>
                  <a:srgbClr val="F8FAFC">
                    <a:alpha val="55000"/>
                  </a:srgbClr>
                </a:solidFill>
                <a:latin typeface="微软雅黑"/>
                <a:ea typeface="微软雅黑"/>
              </a:rPr>
              <a:t>快、确定性、不联网，</a:t>
            </a:r>
            <a:r>
              <a:rPr lang="en-US" sz="1125">
                <a:solidFill>
                  <a:srgbClr val="F8FAFC">
                    <a:alpha val="55000"/>
                  </a:srgbClr>
                </a:solidFill>
                <a:latin typeface="微软雅黑"/>
                <a:ea typeface="微软雅黑"/>
              </a:rPr>
              <a:t xml:space="preserve">30 </a:t>
            </a:r>
            <a:r>
              <a:rPr lang="zh-CN" sz="1125">
                <a:solidFill>
                  <a:srgbClr val="F8FAFC">
                    <a:alpha val="55000"/>
                  </a:srgbClr>
                </a:solidFill>
                <a:latin typeface="微软雅黑"/>
                <a:ea typeface="微软雅黑"/>
              </a:rPr>
              <a:t>秒跑完</a:t>
            </a:r>
            <a:endParaRPr/>
          </a:p>
        </p:txBody>
      </p:sp>
      <p:sp>
        <p:nvSpPr>
          <p:cNvPr id="24" name="" descr="{&quot;isTemplate&quot;:true,&quot;type&quot;:&quot;text&quot;}"/>
          <p:cNvSpPr txBox="1"/>
          <p:nvPr/>
        </p:nvSpPr>
        <p:spPr>
          <a:xfrm rot="0" flipH="0" flipV="0">
            <a:off x="3476625" y="1047750"/>
            <a:ext cx="2381250" cy="962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6300" b="1">
                <a:solidFill>
                  <a:srgbClr val="F8FAFC"/>
                </a:solidFill>
                <a:latin typeface="Consolas"/>
                <a:ea typeface="Consolas"/>
              </a:rPr>
              <a:t>54</a:t>
            </a:r>
            <a:endParaRPr/>
          </a:p>
        </p:txBody>
      </p:sp>
      <p:sp>
        <p:nvSpPr>
          <p:cNvPr id="25" name="" descr="{&quot;isTemplate&quot;:true,&quot;type&quot;:&quot;text&quot;}"/>
          <p:cNvSpPr txBox="1"/>
          <p:nvPr/>
        </p:nvSpPr>
        <p:spPr>
          <a:xfrm rot="0" flipH="0" flipV="0">
            <a:off x="3476625" y="2105025"/>
            <a:ext cx="23812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F8FAFC"/>
                </a:solidFill>
                <a:latin typeface="微软雅黑"/>
                <a:ea typeface="微软雅黑"/>
              </a:rPr>
              <a:t>条端到端评测</a:t>
            </a:r>
            <a:endParaRPr/>
          </a:p>
        </p:txBody>
      </p:sp>
      <p:sp>
        <p:nvSpPr>
          <p:cNvPr id="26" name="" descr="{&quot;isTemplate&quot;:true,&quot;type&quot;:&quot;text&quot;}"/>
          <p:cNvSpPr txBox="1"/>
          <p:nvPr/>
        </p:nvSpPr>
        <p:spPr>
          <a:xfrm rot="0" flipH="0" flipV="0">
            <a:off x="3476625" y="2390775"/>
            <a:ext cx="2381250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125">
                <a:solidFill>
                  <a:srgbClr val="F8FAFC">
                    <a:alpha val="55000"/>
                  </a:srgbClr>
                </a:solidFill>
                <a:latin typeface="微软雅黑"/>
                <a:ea typeface="微软雅黑"/>
              </a:rPr>
              <a:t>安全红线一票否决，失败即整体不合格</a:t>
            </a:r>
            <a:endParaRPr/>
          </a:p>
        </p:txBody>
      </p:sp>
      <p:sp>
        <p:nvSpPr>
          <p:cNvPr id="27" name="" descr="{&quot;isTemplate&quot;:true,&quot;type&quot;:&quot;text&quot;}"/>
          <p:cNvSpPr txBox="1"/>
          <p:nvPr/>
        </p:nvSpPr>
        <p:spPr>
          <a:xfrm rot="0" flipH="0" flipV="0">
            <a:off x="6334125" y="1047750"/>
            <a:ext cx="2381250" cy="962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6300" b="1">
                <a:solidFill>
                  <a:srgbClr val="F8FAFC"/>
                </a:solidFill>
                <a:latin typeface="Consolas"/>
                <a:ea typeface="Consolas"/>
              </a:rPr>
              <a:t>43</a:t>
            </a:r>
            <a:endParaRPr/>
          </a:p>
        </p:txBody>
      </p:sp>
      <p:sp>
        <p:nvSpPr>
          <p:cNvPr id="28" name="" descr="{&quot;isTemplate&quot;:true,&quot;type&quot;:&quot;text&quot;}"/>
          <p:cNvSpPr txBox="1"/>
          <p:nvPr/>
        </p:nvSpPr>
        <p:spPr>
          <a:xfrm rot="0" flipH="0" flipV="0">
            <a:off x="6334125" y="2105025"/>
            <a:ext cx="23812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F8FAFC"/>
                </a:solidFill>
                <a:latin typeface="微软雅黑"/>
                <a:ea typeface="微软雅黑"/>
              </a:rPr>
              <a:t>项端到端验收</a:t>
            </a:r>
            <a:endParaRPr/>
          </a:p>
        </p:txBody>
      </p:sp>
      <p:sp>
        <p:nvSpPr>
          <p:cNvPr id="29" name="" descr="{&quot;isTemplate&quot;:true,&quot;type&quot;:&quot;text&quot;}"/>
          <p:cNvSpPr txBox="1"/>
          <p:nvPr/>
        </p:nvSpPr>
        <p:spPr>
          <a:xfrm rot="0" flipH="0" flipV="0">
            <a:off x="6334125" y="2390775"/>
            <a:ext cx="2381250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125">
                <a:solidFill>
                  <a:srgbClr val="F8FAFC">
                    <a:alpha val="55000"/>
                  </a:srgbClr>
                </a:solidFill>
                <a:latin typeface="微软雅黑"/>
                <a:ea typeface="微软雅黑"/>
              </a:rPr>
              <a:t>真起服务</a:t>
            </a:r>
            <a:r>
              <a:rPr lang="en-US" sz="1125">
                <a:solidFill>
                  <a:srgbClr val="F8FAFC">
                    <a:alpha val="55000"/>
                  </a:srgbClr>
                </a:solidFill>
                <a:latin typeface="微软雅黑"/>
                <a:ea typeface="微软雅黑"/>
              </a:rPr>
              <a:t xml:space="preserve"> + </a:t>
            </a:r>
            <a:r>
              <a:rPr lang="zh-CN" sz="1125">
                <a:solidFill>
                  <a:srgbClr val="F8FAFC">
                    <a:alpha val="55000"/>
                  </a:srgbClr>
                </a:solidFill>
                <a:latin typeface="微软雅黑"/>
                <a:ea typeface="微软雅黑"/>
              </a:rPr>
              <a:t>真实</a:t>
            </a:r>
            <a:r>
              <a:rPr lang="en-US" sz="1125">
                <a:solidFill>
                  <a:srgbClr val="F8FAFC">
                    <a:alpha val="55000"/>
                  </a:srgbClr>
                </a:solidFill>
                <a:latin typeface="微软雅黑"/>
                <a:ea typeface="微软雅黑"/>
              </a:rPr>
              <a:t xml:space="preserve"> JWT</a:t>
            </a:r>
            <a:r>
              <a:rPr lang="zh-CN" sz="1125">
                <a:solidFill>
                  <a:srgbClr val="F8FAFC">
                    <a:alpha val="55000"/>
                  </a:srgbClr>
                </a:solidFill>
                <a:latin typeface="微软雅黑"/>
                <a:ea typeface="微软雅黑"/>
              </a:rPr>
              <a:t>，走完整登录链路</a:t>
            </a:r>
            <a:endParaRPr/>
          </a:p>
        </p:txBody>
      </p:sp>
      <p:sp>
        <p:nvSpPr>
          <p:cNvPr id="30" name="" descr="{&quot;isTemplate&quot;:true,&quot;type&quot;:&quot;text&quot;}"/>
          <p:cNvSpPr txBox="1"/>
          <p:nvPr/>
        </p:nvSpPr>
        <p:spPr>
          <a:xfrm rot="0" flipH="0" flipV="0">
            <a:off x="9201150" y="1047750"/>
            <a:ext cx="2381250" cy="962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6300" b="1">
                <a:solidFill>
                  <a:srgbClr val="F8FAFC"/>
                </a:solidFill>
                <a:latin typeface="Consolas"/>
                <a:ea typeface="Consolas"/>
              </a:rPr>
              <a:t>32</a:t>
            </a:r>
            <a:endParaRPr/>
          </a:p>
        </p:txBody>
      </p:sp>
      <p:sp>
        <p:nvSpPr>
          <p:cNvPr id="31" name="" descr="{&quot;isTemplate&quot;:true,&quot;type&quot;:&quot;text&quot;}"/>
          <p:cNvSpPr txBox="1"/>
          <p:nvPr/>
        </p:nvSpPr>
        <p:spPr>
          <a:xfrm rot="0" flipH="0" flipV="0">
            <a:off x="9201150" y="2105025"/>
            <a:ext cx="23812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F8FAFC"/>
                </a:solidFill>
                <a:latin typeface="微软雅黑"/>
                <a:ea typeface="微软雅黑"/>
              </a:rPr>
              <a:t>项前端冒烟</a:t>
            </a:r>
            <a:endParaRPr/>
          </a:p>
        </p:txBody>
      </p:sp>
      <p:sp>
        <p:nvSpPr>
          <p:cNvPr id="32" name="" descr="{&quot;isTemplate&quot;:true,&quot;type&quot;:&quot;text&quot;}"/>
          <p:cNvSpPr txBox="1"/>
          <p:nvPr/>
        </p:nvSpPr>
        <p:spPr>
          <a:xfrm rot="0" flipH="0" flipV="0">
            <a:off x="9201150" y="2390775"/>
            <a:ext cx="2381250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125">
                <a:solidFill>
                  <a:srgbClr val="F8FAFC">
                    <a:alpha val="55000"/>
                  </a:srgbClr>
                </a:solidFill>
                <a:latin typeface="微软雅黑"/>
                <a:ea typeface="微软雅黑"/>
              </a:rPr>
              <a:t>无头浏览器逐个点，没发请求就算失败</a:t>
            </a:r>
            <a:endParaRPr/>
          </a:p>
        </p:txBody>
      </p:sp>
      <p:sp>
        <p:nvSpPr>
          <p:cNvPr id="33" name=""/>
          <p:cNvSpPr/>
          <p:nvPr/>
        </p:nvSpPr>
        <p:spPr>
          <a:xfrm rot="0" flipH="0" flipV="0">
            <a:off x="609600" y="3209925"/>
            <a:ext cx="10972800" cy="9525"/>
          </a:xfrm>
          <a:prstGeom prst="rect">
            <a:avLst/>
          </a:prstGeom>
          <a:solidFill>
            <a:srgbClr val="F8FAFC">
              <a:alpha val="12000"/>
            </a:srgbClr>
          </a:solidFill>
          <a:ln/>
        </p:spPr>
        <p:txBody>
          <a:bodyPr/>
          <a:p/>
        </p:txBody>
      </p:sp>
      <p:sp>
        <p:nvSpPr>
          <p:cNvPr id="34" name=""/>
          <p:cNvSpPr/>
          <p:nvPr/>
        </p:nvSpPr>
        <p:spPr>
          <a:xfrm rot="0" flipH="0" flipV="0">
            <a:off x="609600" y="3467100"/>
            <a:ext cx="6667500" cy="2781300"/>
          </a:xfrm>
          <a:prstGeom prst="roundRect">
            <a:avLst>
              <a:gd name="adj" fmla="val 3425"/>
            </a:avLst>
          </a:prstGeom>
          <a:solidFill>
            <a:srgbClr val="16223A"/>
          </a:solidFill>
          <a:ln w="12700">
            <a:solidFill>
              <a:srgbClr val="F8FAFC">
                <a:alpha val="1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5" name="" descr="{&quot;isTemplate&quot;:true,&quot;type&quot;:&quot;text&quot;}"/>
          <p:cNvSpPr txBox="1"/>
          <p:nvPr/>
        </p:nvSpPr>
        <p:spPr>
          <a:xfrm rot="0" flipH="0" flipV="0">
            <a:off x="876300" y="3695700"/>
            <a:ext cx="61341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b="1" spc="150">
                <a:solidFill>
                  <a:srgbClr val="38BDF8"/>
                </a:solidFill>
                <a:latin typeface="微软雅黑"/>
                <a:ea typeface="微软雅黑"/>
              </a:rPr>
              <a:t>这四层不是重复劳动</a:t>
            </a:r>
            <a:endParaRPr/>
          </a:p>
        </p:txBody>
      </p:sp>
      <p:sp>
        <p:nvSpPr>
          <p:cNvPr id="36" name="" descr="{&quot;isTemplate&quot;:true,&quot;type&quot;:&quot;text&quot;}"/>
          <p:cNvSpPr txBox="1"/>
          <p:nvPr/>
        </p:nvSpPr>
        <p:spPr>
          <a:xfrm rot="0" flipH="0" flipV="0">
            <a:off x="876300" y="3981450"/>
            <a:ext cx="6134100" cy="7429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425" b="1">
                <a:solidFill>
                  <a:srgbClr val="F8FAFC"/>
                </a:solidFill>
                <a:latin typeface="微软雅黑"/>
                <a:ea typeface="微软雅黑"/>
              </a:rPr>
              <a:t>单测用依赖注入</a:t>
            </a:r>
            <a:r>
              <a:rPr lang="zh-CN" sz="1425" b="1">
                <a:solidFill>
                  <a:srgbClr val="38BDF8"/>
                </a:solidFill>
                <a:latin typeface="微软雅黑"/>
                <a:ea typeface="微软雅黑"/>
              </a:rPr>
              <a:t>旁路掉了认证</a:t>
            </a:r>
            <a:r>
              <a:rPr lang="zh-CN" sz="1425" b="1">
                <a:solidFill>
                  <a:srgbClr val="F8FAFC"/>
                </a:solidFill>
                <a:latin typeface="微软雅黑"/>
                <a:ea typeface="微软雅黑"/>
              </a:rPr>
              <a:t>，所以</a:t>
            </a:r>
            <a:r>
              <a:rPr lang="en-US" sz="1425" b="1">
                <a:solidFill>
                  <a:srgbClr val="F8FAFC"/>
                </a:solidFill>
                <a:latin typeface="微软雅黑"/>
                <a:ea typeface="微软雅黑"/>
              </a:rPr>
              <a:t xml:space="preserve"> JWT </a:t>
            </a:r>
            <a:r>
              <a:rPr lang="zh-CN" sz="1425" b="1">
                <a:solidFill>
                  <a:srgbClr val="F8FAFC"/>
                </a:solidFill>
                <a:latin typeface="微软雅黑"/>
                <a:ea typeface="微软雅黑"/>
              </a:rPr>
              <a:t>中间件、静态站点托管、跨账号切换它一次都没跑过——只能靠端到端验收兜。</a:t>
            </a:r>
            <a:endParaRPr/>
          </a:p>
        </p:txBody>
      </p:sp>
      <p:sp>
        <p:nvSpPr>
          <p:cNvPr id="37" name="" descr="{&quot;isTemplate&quot;:true,&quot;type&quot;:&quot;text&quot;}"/>
          <p:cNvSpPr txBox="1"/>
          <p:nvPr/>
        </p:nvSpPr>
        <p:spPr>
          <a:xfrm rot="0" flipH="0" flipV="0">
            <a:off x="876300" y="4838700"/>
            <a:ext cx="6134100" cy="342900"/>
          </a:xfrm>
          <a:prstGeom prst="rect"/>
        </p:spPr>
        <p:txBody>
          <a:bodyPr wrap="none" lIns="0" tIns="0" rIns="0" bIns="0"/>
          <a:p>
            <a:pPr>
              <a:lnSpc>
                <a:spcPct val="175000"/>
              </a:lnSpc>
            </a:pPr>
            <a:r>
              <a:rPr lang="zh-CN" sz="1275">
                <a:solidFill>
                  <a:srgbClr val="F8FAFC">
                    <a:alpha val="58000"/>
                  </a:srgbClr>
                </a:solidFill>
                <a:latin typeface="微软雅黑"/>
                <a:ea typeface="微软雅黑"/>
              </a:rPr>
              <a:t>反之端到端只覆盖主路径，边界还得靠单测。各抓不同的东西，缺一层就有盲区。</a:t>
            </a:r>
            <a:endParaRPr/>
          </a:p>
        </p:txBody>
      </p:sp>
      <p:sp>
        <p:nvSpPr>
          <p:cNvPr id="38" name=""/>
          <p:cNvSpPr/>
          <p:nvPr/>
        </p:nvSpPr>
        <p:spPr>
          <a:xfrm rot="0" flipH="0" flipV="0">
            <a:off x="7658100" y="3467100"/>
            <a:ext cx="3581400" cy="2781300"/>
          </a:xfrm>
          <a:prstGeom prst="roundRect">
            <a:avLst>
              <a:gd name="adj" fmla="val 3425"/>
            </a:avLst>
          </a:prstGeom>
          <a:solidFill>
            <a:srgbClr val="FB7185">
              <a:alpha val="8000"/>
            </a:srgbClr>
          </a:solidFill>
          <a:ln w="12700">
            <a:solidFill>
              <a:srgbClr val="FB7185">
                <a:alpha val="38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9" name="" descr="{&quot;isTemplate&quot;:true,&quot;type&quot;:&quot;text&quot;}"/>
          <p:cNvSpPr txBox="1"/>
          <p:nvPr/>
        </p:nvSpPr>
        <p:spPr>
          <a:xfrm rot="0" flipH="0" flipV="0">
            <a:off x="7905750" y="3695700"/>
            <a:ext cx="30861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b="1" spc="150">
                <a:solidFill>
                  <a:srgbClr val="FB7185"/>
                </a:solidFill>
                <a:latin typeface="微软雅黑"/>
                <a:ea typeface="微软雅黑"/>
              </a:rPr>
              <a:t>一个真实教训</a:t>
            </a:r>
            <a:endParaRPr/>
          </a:p>
        </p:txBody>
      </p:sp>
      <p:sp>
        <p:nvSpPr>
          <p:cNvPr id="40" name="" descr="{&quot;isTemplate&quot;:true,&quot;type&quot;:&quot;text&quot;}"/>
          <p:cNvSpPr txBox="1"/>
          <p:nvPr/>
        </p:nvSpPr>
        <p:spPr>
          <a:xfrm rot="0" flipH="0" flipV="0">
            <a:off x="7905750" y="3981450"/>
            <a:ext cx="3086100" cy="7048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80000"/>
              </a:lnSpc>
            </a:pPr>
            <a:r>
              <a:rPr lang="zh-CN" sz="1275">
                <a:solidFill>
                  <a:srgbClr val="F8FAFC">
                    <a:alpha val="72000"/>
                  </a:srgbClr>
                </a:solidFill>
                <a:latin typeface="微软雅黑"/>
                <a:ea typeface="微软雅黑"/>
              </a:rPr>
              <a:t>给解析器加参数时改了</a:t>
            </a:r>
            <a:r>
              <a:rPr lang="en-US" sz="1275">
                <a:solidFill>
                  <a:srgbClr val="F8FAFC">
                    <a:alpha val="72000"/>
                  </a:srgbClr>
                </a:solidFill>
                <a:latin typeface="微软雅黑"/>
                <a:ea typeface="微软雅黑"/>
              </a:rPr>
              <a:t xml:space="preserve"> </a:t>
            </a:r>
            <a:r>
              <a:rPr lang="en-US" sz="1275">
                <a:solidFill>
                  <a:srgbClr val="FB7185"/>
                </a:solidFill>
                <a:latin typeface="微软雅黑"/>
                <a:ea typeface="微软雅黑"/>
              </a:rPr>
              <a:t>src/</a:t>
            </a:r>
            <a:r>
              <a:rPr lang="en-US" sz="1275">
                <a:solidFill>
                  <a:srgbClr val="F8FAFC">
                    <a:alpha val="72000"/>
                  </a:srgbClr>
                </a:solidFill>
                <a:latin typeface="微软雅黑"/>
                <a:ea typeface="微软雅黑"/>
              </a:rPr>
              <a:t xml:space="preserve"> </a:t>
            </a:r>
            <a:r>
              <a:rPr lang="zh-CN" sz="1275">
                <a:solidFill>
                  <a:srgbClr val="F8FAFC">
                    <a:alpha val="72000"/>
                  </a:srgbClr>
                </a:solidFill>
                <a:latin typeface="微软雅黑"/>
                <a:ea typeface="微软雅黑"/>
              </a:rPr>
              <a:t>和</a:t>
            </a:r>
            <a:r>
              <a:rPr lang="en-US" sz="1275">
                <a:solidFill>
                  <a:srgbClr val="F8FAFC">
                    <a:alpha val="72000"/>
                  </a:srgbClr>
                </a:solidFill>
                <a:latin typeface="微软雅黑"/>
                <a:ea typeface="微软雅黑"/>
              </a:rPr>
              <a:t xml:space="preserve"> </a:t>
            </a:r>
            <a:r>
              <a:rPr lang="en-US" sz="1275">
                <a:solidFill>
                  <a:srgbClr val="FB7185"/>
                </a:solidFill>
                <a:latin typeface="微软雅黑"/>
                <a:ea typeface="微软雅黑"/>
              </a:rPr>
              <a:t>tests/</a:t>
            </a:r>
            <a:r>
              <a:rPr lang="zh-CN" sz="1275">
                <a:solidFill>
                  <a:srgbClr val="F8FAFC">
                    <a:alpha val="72000"/>
                  </a:srgbClr>
                </a:solidFill>
                <a:latin typeface="微软雅黑"/>
                <a:ea typeface="微软雅黑"/>
              </a:rPr>
              <a:t>，漏了脚本里的桩实现——</a:t>
            </a:r>
            <a:endParaRPr/>
          </a:p>
        </p:txBody>
      </p:sp>
      <p:sp>
        <p:nvSpPr>
          <p:cNvPr id="41" name="" descr="{&quot;isTemplate&quot;:true,&quot;type&quot;:&quot;text&quot;}"/>
          <p:cNvSpPr txBox="1"/>
          <p:nvPr/>
        </p:nvSpPr>
        <p:spPr>
          <a:xfrm rot="0" flipH="0" flipV="0">
            <a:off x="7905750" y="4781550"/>
            <a:ext cx="3086100" cy="7048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80000"/>
              </a:lnSpc>
            </a:pPr>
            <a:r>
              <a:rPr lang="zh-CN" sz="1275" b="1">
                <a:solidFill>
                  <a:srgbClr val="F8FAFC"/>
                </a:solidFill>
                <a:latin typeface="微软雅黑"/>
                <a:ea typeface="微软雅黑"/>
              </a:rPr>
              <a:t>单测全绿、评测全绿，只有自检里</a:t>
            </a:r>
            <a:r>
              <a:rPr lang="en-US" sz="1275" b="1">
                <a:solidFill>
                  <a:srgbClr val="F8FAFC"/>
                </a:solidFill>
                <a:latin typeface="微软雅黑"/>
                <a:ea typeface="微软雅黑"/>
              </a:rPr>
              <a:t>"</a:t>
            </a:r>
            <a:r>
              <a:rPr lang="zh-CN" sz="1275" b="1">
                <a:solidFill>
                  <a:srgbClr val="F8FAFC"/>
                </a:solidFill>
                <a:latin typeface="微软雅黑"/>
                <a:ea typeface="微软雅黑"/>
              </a:rPr>
              <a:t>跑真脚本</a:t>
            </a:r>
            <a:r>
              <a:rPr lang="en-US" sz="1275" b="1">
                <a:solidFill>
                  <a:srgbClr val="F8FAFC"/>
                </a:solidFill>
                <a:latin typeface="微软雅黑"/>
                <a:ea typeface="微软雅黑"/>
              </a:rPr>
              <a:t>"</a:t>
            </a:r>
            <a:r>
              <a:rPr lang="zh-CN" sz="1275" b="1">
                <a:solidFill>
                  <a:srgbClr val="F8FAFC"/>
                </a:solidFill>
                <a:latin typeface="微软雅黑"/>
                <a:ea typeface="微软雅黑"/>
              </a:rPr>
              <a:t>那一项红着。</a:t>
            </a:r>
            <a:endParaRPr/>
          </a:p>
        </p:txBody>
      </p:sp>
      <p:sp>
        <p:nvSpPr>
          <p:cNvPr id="42" name="" descr="{&quot;isTemplate&quot;:true,&quot;type&quot;:&quot;text&quot;}"/>
          <p:cNvSpPr txBox="1"/>
          <p:nvPr/>
        </p:nvSpPr>
        <p:spPr>
          <a:xfrm rot="0" flipH="0" flipV="0">
            <a:off x="609600" y="6477000"/>
            <a:ext cx="19431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F8FAFC">
                    <a:alpha val="40000"/>
                  </a:srgbClr>
                </a:solidFill>
                <a:latin typeface="微软雅黑"/>
                <a:ea typeface="微软雅黑"/>
              </a:rPr>
              <a:t xml:space="preserve">HomeMind · </a:t>
            </a:r>
            <a:r>
              <a:rPr lang="zh-CN" sz="975">
                <a:solidFill>
                  <a:srgbClr val="F8FAFC">
                    <a:alpha val="40000"/>
                  </a:srgbClr>
                </a:solidFill>
                <a:latin typeface="微软雅黑"/>
                <a:ea typeface="微软雅黑"/>
              </a:rPr>
              <a:t>智能家居多智能体中枢</a:t>
            </a:r>
            <a:endParaRPr/>
          </a:p>
        </p:txBody>
      </p:sp>
      <p:sp>
        <p:nvSpPr>
          <p:cNvPr id="43" name="" descr="{&quot;isTemplate&quot;:true,&quot;type&quot;:&quot;text&quot;}"/>
          <p:cNvSpPr txBox="1"/>
          <p:nvPr/>
        </p:nvSpPr>
        <p:spPr>
          <a:xfrm rot="0" flipH="0" flipV="0">
            <a:off x="11096625" y="6477000"/>
            <a:ext cx="4857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F8FAFC">
                    <a:alpha val="40000"/>
                  </a:srgbClr>
                </a:solidFill>
                <a:latin typeface="Consolas"/>
                <a:ea typeface="Consolas"/>
              </a:rPr>
              <a:t>10 / 13</a:t>
            </a:r>
            <a:endParaRPr/>
          </a:p>
        </p:txBody>
      </p:sp>
    </p:spTree>
  </p:cSld>
</p:sld>
</file>

<file path=ppt/slides/slide11.xml><?xml version="1.0" encoding="utf-8"?>
<p:sld xmlns:p="http://schemas.openxmlformats.org/presentationml/2006/main" xmlns:a="http://schemas.openxmlformats.org/drawingml/2006/main">
  <p:cSld>
    <p:spTree>
      <p:nvGrpSpPr>
        <p:cNvPr id="44" name="" descr="&lt;Slide style={{ width: 1280, height: 720, position: 'relative', overflow: 'hidden', background: '#0B1120', fontFamily: '微软雅黑' }}&gt;&#10;    &lt;Box style={{ height: 110, paddingLeft: 64, paddingRight: 64, paddingTop: 34, flexDirection: 'row', alignItems: 'center', gap: 18 }}&gt;&#10;        &lt;Box style={{ width: 4, height: 34, background: '#FB7185' }} /&gt;&#10;        &lt;Text style={{ fontSize: 36, fontWeight: 700, color: '#F8FAFC', letterSpacing: 0.5 }}&gt;三个坑，每个都值几百行代码&lt;/Text&gt;&#10;    &lt;/Box&gt;&#10;&#10;    &lt;Box style={{ height: 546, paddingLeft: 64, paddingRight: 64, flexDirection: 'row', gap: 34 }}&gt;&#10;        &lt;Box style={{ width: 716, flexDirection: 'column', gap: 14 }}&gt;&#10;            &lt;Box style={{ flex: 1, flexDirection: 'row', gap: 20, background: '#16223A', border: '1px solid rgba(248,250,252,0.10)', borderRadius: 10, padding: '20px 24px' }}&gt;&#10;                &lt;Text style={{ fontSize: 40, fontWeight: 700, color: 'rgba(251,113,133,0.55)', fontFamily: 'Consolas', lineHeight: 1, width: 44 }}&gt;01&lt;/Text&gt;&#10;                &lt;Box style={{ width: 604 }}&gt;&#10;                    &lt;Text style={{ fontSize: 20, fontWeight: 700, color: '#F8FAFC' }}&gt;模型不知道今天是几号&lt;/Text&gt;&#10;                    &lt;Text style={{ fontSize: 16, color: 'rgba(248,250,252,0.58)', lineHeight: 1.65, marginTop: 8 }}&gt;&#10;                        prompt 里写着&quot;示例：2026-10-14T09:00:00&quot;，模型把它当成了现在。&lt;br /&gt;&#10;                        用户建&quot;今日任务&quot;，条目一落地就显示&lt;span style={{ color: '#FB7185' }}&gt;逾期 5 天&lt;/span&gt;。&#10;                    &lt;/Text&gt;&#10;                &lt;/Box&gt;&#10;            &lt;/Box&gt;&#10;&#10;            &lt;Box style={{ flex: 1, flexDirection: 'row', gap: 20, background: '#16223A', border: '1px solid rgba(248,250,252,0.10)', borderRadius: 10, padding: '20px 24px' }}&gt;&#10;                &lt;Text style={{ fontSize: 40, fontWeight: 700, color: 'rgba(251,113,133,0.55)', fontFamily: 'Consolas', lineHeight: 1, width: 44 }}&gt;02&lt;/Text&gt;&#10;                &lt;Box style={{ width: 604 }}&gt;&#10;                    &lt;Text style={{ fontSize: 20, fontWeight: 700, color: '#F8FAFC' }}&gt;ok 配失败：报了成功，其实没动&lt;/Text&gt;&#10;                    &lt;Text style={{ fontSize: 16, color: 'rgba(248,250,252,0.58)', lineHeight: 1.65, marginTop: 8 }}&gt;&#10;                        工具返回 &lt;span style={{ fontFamily: 'Consolas' }}&gt;success:false&lt;/span&gt;，注册中心却仍是 &lt;span style={{ fontFamily: 'Consolas' }}&gt;ok:true&lt;/span&gt;。&lt;br /&gt;&#10;                        顺藤还揪出更狠的：自建门锁联动会&lt;span style={{ color: '#FB7185' }}&gt;反向把门锁上&lt;/span&gt;，零报错。&#10;                    &lt;/Text&gt;&#10;                &lt;/Box&gt;&#10;            &lt;/Box&gt;&#10;&#10;            &lt;Box style={{ flex: 1, flexDirection: 'row', gap: 20, background: '#16223A', border: '1px solid rgba(248,250,252,0.10)', borderRadius: 10, padding: '20px 24px' }}&gt;&#10;                &lt;Text style={{ fontSize: 40, fontWeight: 700, color: 'rgba(251,113,133,0.55)', fontFamily: 'Consolas', lineHeight: 1, width: 44 }}&gt;03&lt;/Text&gt;&#10;                &lt;Box style={{ width: 604 }}&gt;&#10;                    &lt;Text style={{ fontSize: 20, fontWeight: 700, color: '#F8FAFC' }}&gt;我的测试把自己的数据删了&lt;/Text&gt;&#10;                    &lt;Text style={{ fontSize: 16, color: 'rgba(248,250,252,0.58)', lineHeight: 1.65, marginTop: 8 }}&gt;&#10;                        评测每条用例都会重置设备库，而设备库没做隔离——&lt;br /&gt;&#10;                        跑一次评测，&lt;span style={{ color: '#FB7185' }}&gt;你家里的 16 台设备全没了&lt;/span&gt;。&#10;                    &lt;/Text&gt;&#10;                &lt;/Box&gt;&#10;            &lt;/Box&gt;&#10;        &lt;/Box&gt;&#10;&#10;        &lt;Box style={{ width: 402, flexDirection: 'column', justifyContent: 'space-between' }}&gt;&#10;            &lt;Box style={{ background: 'rgba(251,113,133,0.08)', border: '1px solid rgba(251,113,133,0.40)', borderRadius: 10, padding: '26px 26px' }}&gt;&#10;                &lt;Text style={{ fontSize: 13, color: '#FB7185', letterSpacing: 2, fontWeight: 700 }}&gt;共同点&lt;/Text&gt;&#10;                &lt;Text style={{ fontSize: 22, fontWeight: 700, color: '#F8FAFC', lineHeight: 1.6, marginTop: 14 }}&gt;&#10;                    都不是&quot;功能没做&quot;，&lt;br /&gt;是&quot;做了但错了，&lt;br /&gt;而且测试没抓到&quot;。&#10;                &lt;/Text&gt;&#10;            &lt;/Box&gt;&#10;&#10;            &lt;Box style={{ background: '#16223A', border: '1px solid rgba(248,250,252,0.10)', borderRadius: 10, padding: '26px 26px' }}&gt;&#10;                &lt;Text style={{ fontSize: 17, color: 'rgba(248,250,252,0.70)', lineHeight: 1.85 }}&gt;&#10;                    所以后来立了条规矩：&lt;br /&gt;&#10;                    &lt;span style={{ color: '#38BDF8' }}&gt;修完一个 bug，必须补一条能复现它的用例，并做反向验证&lt;/span&gt;——把修复改回去，确认那条用例真的会红。&#10;                &lt;/Text&gt;&#10;            &lt;/Box&gt;&#10;        &lt;/Box&gt;&#10;    &lt;/Box&gt;&#10;&#10;    &lt;Box style={{ height: 64, paddingLeft: 64, paddingRight: 64, flexDirection: 'row', justifyContent: 'space-between', alignItems: 'center' }}&gt;&#10;        &lt;Text style={{ fontSize: 13, color: 'rgba(248,250,252,0.40)' }}&gt;HomeMind · 智能家居多智能体中枢&lt;/Text&gt;&#10;        &lt;Text style={{ fontSize: 13, color: 'rgba(248,250,252,0.40)', fontFamily: 'Consolas' }}&gt;11 / 13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120"/>
          </a:solidFill>
          <a:ln/>
        </p:spPr>
        <p:txBody>
          <a:bodyPr/>
          <a:p/>
        </p:txBody>
      </p:sp>
      <p:sp>
        <p:nvSpPr>
          <p:cNvPr id="46" name=""/>
          <p:cNvSpPr/>
          <p:nvPr/>
        </p:nvSpPr>
        <p:spPr>
          <a:xfrm rot="0" flipH="0" flipV="0">
            <a:off x="609600" y="523875"/>
            <a:ext cx="38100" cy="323850"/>
          </a:xfrm>
          <a:prstGeom prst="rect">
            <a:avLst/>
          </a:prstGeom>
          <a:solidFill>
            <a:srgbClr val="FB7185"/>
          </a:solidFill>
          <a:ln/>
        </p:spPr>
        <p:txBody>
          <a:bodyPr/>
          <a:p/>
        </p:txBody>
      </p:sp>
      <p:sp>
        <p:nvSpPr>
          <p:cNvPr id="47" name="" descr="{&quot;isTemplate&quot;:true,&quot;type&quot;:&quot;text&quot;}"/>
          <p:cNvSpPr txBox="1"/>
          <p:nvPr/>
        </p:nvSpPr>
        <p:spPr>
          <a:xfrm rot="0" flipH="0" flipV="0">
            <a:off x="819150" y="476250"/>
            <a:ext cx="4524375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700" b="1" spc="38">
                <a:solidFill>
                  <a:srgbClr val="F8FAFC"/>
                </a:solidFill>
                <a:latin typeface="微软雅黑"/>
                <a:ea typeface="微软雅黑"/>
              </a:rPr>
              <a:t>三个坑，每个都值几百行代码</a:t>
            </a:r>
            <a:endParaRPr/>
          </a:p>
        </p:txBody>
      </p:sp>
      <p:sp>
        <p:nvSpPr>
          <p:cNvPr id="48" name=""/>
          <p:cNvSpPr/>
          <p:nvPr/>
        </p:nvSpPr>
        <p:spPr>
          <a:xfrm rot="0" flipH="0" flipV="0">
            <a:off x="609600" y="1047750"/>
            <a:ext cx="6819900" cy="1647825"/>
          </a:xfrm>
          <a:prstGeom prst="roundRect">
            <a:avLst>
              <a:gd name="adj" fmla="val 5780"/>
            </a:avLst>
          </a:prstGeom>
          <a:solidFill>
            <a:srgbClr val="16223A"/>
          </a:solidFill>
          <a:ln w="12700">
            <a:solidFill>
              <a:srgbClr val="F8FAFC">
                <a:alpha val="1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9" name="" descr="{&quot;isTemplate&quot;:true,&quot;type&quot;:&quot;text&quot;}"/>
          <p:cNvSpPr txBox="1"/>
          <p:nvPr/>
        </p:nvSpPr>
        <p:spPr>
          <a:xfrm rot="0" flipH="0" flipV="0">
            <a:off x="838200" y="1238250"/>
            <a:ext cx="419100" cy="12668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000" b="1">
                <a:solidFill>
                  <a:srgbClr val="FB7185">
                    <a:alpha val="55000"/>
                  </a:srgbClr>
                </a:solidFill>
                <a:latin typeface="Consolas"/>
                <a:ea typeface="Consolas"/>
              </a:rPr>
              <a:t>01</a:t>
            </a:r>
            <a:endParaRPr/>
          </a:p>
        </p:txBody>
      </p:sp>
      <p:sp>
        <p:nvSpPr>
          <p:cNvPr id="50" name="" descr="{&quot;isTemplate&quot;:true,&quot;type&quot;:&quot;text&quot;}"/>
          <p:cNvSpPr txBox="1"/>
          <p:nvPr/>
        </p:nvSpPr>
        <p:spPr>
          <a:xfrm rot="0" flipH="0" flipV="0">
            <a:off x="1447800" y="1238250"/>
            <a:ext cx="57531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F8FAFC"/>
                </a:solidFill>
                <a:latin typeface="微软雅黑"/>
                <a:ea typeface="微软雅黑"/>
              </a:rPr>
              <a:t>模型不知道今天是几号</a:t>
            </a:r>
            <a:endParaRPr/>
          </a:p>
        </p:txBody>
      </p:sp>
      <p:sp>
        <p:nvSpPr>
          <p:cNvPr id="51" name="" descr="{&quot;isTemplate&quot;:true,&quot;type&quot;:&quot;text&quot;}"/>
          <p:cNvSpPr txBox="1"/>
          <p:nvPr/>
        </p:nvSpPr>
        <p:spPr>
          <a:xfrm rot="0" flipH="0" flipV="0">
            <a:off x="1447800" y="1543050"/>
            <a:ext cx="5753100" cy="609600"/>
          </a:xfrm>
          <a:prstGeom prst="rect"/>
        </p:spPr>
        <p:txBody>
          <a:bodyPr wrap="none" lIns="0" tIns="0" rIns="0" bIns="0"/>
          <a:p>
            <a:pPr>
              <a:lnSpc>
                <a:spcPct val="165000"/>
              </a:lnSpc>
            </a:pPr>
            <a:r>
              <a:rPr lang="en-US" sz="1200">
                <a:solidFill>
                  <a:srgbClr val="F8FAFC">
                    <a:alpha val="58000"/>
                  </a:srgbClr>
                </a:solidFill>
                <a:latin typeface="微软雅黑"/>
                <a:ea typeface="微软雅黑"/>
              </a:rPr>
              <a:t xml:space="preserve">prompt </a:t>
            </a:r>
            <a:r>
              <a:rPr lang="zh-CN" sz="1200">
                <a:solidFill>
                  <a:srgbClr val="F8FAFC">
                    <a:alpha val="58000"/>
                  </a:srgbClr>
                </a:solidFill>
                <a:latin typeface="微软雅黑"/>
                <a:ea typeface="微软雅黑"/>
              </a:rPr>
              <a:t>里写着</a:t>
            </a:r>
            <a:r>
              <a:rPr lang="en-US" sz="1200">
                <a:solidFill>
                  <a:srgbClr val="F8FAFC">
                    <a:alpha val="58000"/>
                  </a:srgbClr>
                </a:solidFill>
                <a:latin typeface="微软雅黑"/>
                <a:ea typeface="微软雅黑"/>
              </a:rPr>
              <a:t>"</a:t>
            </a:r>
            <a:r>
              <a:rPr lang="zh-CN" sz="1200">
                <a:solidFill>
                  <a:srgbClr val="F8FAFC">
                    <a:alpha val="58000"/>
                  </a:srgbClr>
                </a:solidFill>
                <a:latin typeface="微软雅黑"/>
                <a:ea typeface="微软雅黑"/>
              </a:rPr>
              <a:t>示例：</a:t>
            </a:r>
            <a:r>
              <a:rPr lang="en-US" sz="1200">
                <a:solidFill>
                  <a:srgbClr val="F8FAFC">
                    <a:alpha val="58000"/>
                  </a:srgbClr>
                </a:solidFill>
                <a:latin typeface="微软雅黑"/>
                <a:ea typeface="微软雅黑"/>
              </a:rPr>
              <a:t>2026-10-14T09:00:00"</a:t>
            </a:r>
            <a:r>
              <a:rPr lang="zh-CN" sz="1200">
                <a:solidFill>
                  <a:srgbClr val="F8FAFC">
                    <a:alpha val="58000"/>
                  </a:srgbClr>
                </a:solidFill>
                <a:latin typeface="微软雅黑"/>
                <a:ea typeface="微软雅黑"/>
              </a:rPr>
              <a:t>，模型把它当成了现在。</a:t>
            </a:r>
            <a:endParaRPr/>
          </a:p>
          <a:p>
            <a:pPr>
              <a:lnSpc>
                <a:spcPct val="165000"/>
              </a:lnSpc>
            </a:pPr>
            <a:r>
              <a:rPr lang="zh-CN" sz="1200">
                <a:solidFill>
                  <a:srgbClr val="F8FAFC">
                    <a:alpha val="58000"/>
                  </a:srgbClr>
                </a:solidFill>
                <a:latin typeface="微软雅黑"/>
                <a:ea typeface="微软雅黑"/>
              </a:rPr>
              <a:t>用户建</a:t>
            </a:r>
            <a:r>
              <a:rPr lang="en-US" sz="1200">
                <a:solidFill>
                  <a:srgbClr val="F8FAFC">
                    <a:alpha val="58000"/>
                  </a:srgbClr>
                </a:solidFill>
                <a:latin typeface="微软雅黑"/>
                <a:ea typeface="微软雅黑"/>
              </a:rPr>
              <a:t>"</a:t>
            </a:r>
            <a:r>
              <a:rPr lang="zh-CN" sz="1200">
                <a:solidFill>
                  <a:srgbClr val="F8FAFC">
                    <a:alpha val="58000"/>
                  </a:srgbClr>
                </a:solidFill>
                <a:latin typeface="微软雅黑"/>
                <a:ea typeface="微软雅黑"/>
              </a:rPr>
              <a:t>今日任务</a:t>
            </a:r>
            <a:r>
              <a:rPr lang="en-US" sz="1200">
                <a:solidFill>
                  <a:srgbClr val="F8FAFC">
                    <a:alpha val="58000"/>
                  </a:srgbClr>
                </a:solidFill>
                <a:latin typeface="微软雅黑"/>
                <a:ea typeface="微软雅黑"/>
              </a:rPr>
              <a:t>"</a:t>
            </a:r>
            <a:r>
              <a:rPr lang="zh-CN" sz="1200">
                <a:solidFill>
                  <a:srgbClr val="F8FAFC">
                    <a:alpha val="58000"/>
                  </a:srgbClr>
                </a:solidFill>
                <a:latin typeface="微软雅黑"/>
                <a:ea typeface="微软雅黑"/>
              </a:rPr>
              <a:t>，条目一落地就显示</a:t>
            </a:r>
            <a:r>
              <a:rPr lang="zh-CN" sz="1200">
                <a:solidFill>
                  <a:srgbClr val="FB7185"/>
                </a:solidFill>
                <a:latin typeface="微软雅黑"/>
                <a:ea typeface="微软雅黑"/>
              </a:rPr>
              <a:t>逾期</a:t>
            </a:r>
            <a:r>
              <a:rPr lang="en-US" sz="1200">
                <a:solidFill>
                  <a:srgbClr val="FB7185"/>
                </a:solidFill>
                <a:latin typeface="微软雅黑"/>
                <a:ea typeface="微软雅黑"/>
              </a:rPr>
              <a:t xml:space="preserve"> 5 </a:t>
            </a:r>
            <a:r>
              <a:rPr lang="zh-CN" sz="1200">
                <a:solidFill>
                  <a:srgbClr val="FB7185"/>
                </a:solidFill>
                <a:latin typeface="微软雅黑"/>
                <a:ea typeface="微软雅黑"/>
              </a:rPr>
              <a:t>天</a:t>
            </a:r>
            <a:r>
              <a:rPr lang="zh-CN" sz="1200">
                <a:solidFill>
                  <a:srgbClr val="F8FAFC">
                    <a:alpha val="58000"/>
                  </a:srgbClr>
                </a:solidFill>
                <a:latin typeface="微软雅黑"/>
                <a:ea typeface="微软雅黑"/>
              </a:rPr>
              <a:t>。</a:t>
            </a:r>
            <a:endParaRPr/>
          </a:p>
        </p:txBody>
      </p:sp>
      <p:sp>
        <p:nvSpPr>
          <p:cNvPr id="52" name=""/>
          <p:cNvSpPr/>
          <p:nvPr/>
        </p:nvSpPr>
        <p:spPr>
          <a:xfrm rot="0" flipH="0" flipV="0">
            <a:off x="609600" y="2828925"/>
            <a:ext cx="6819900" cy="1638300"/>
          </a:xfrm>
          <a:prstGeom prst="roundRect">
            <a:avLst>
              <a:gd name="adj" fmla="val 5814"/>
            </a:avLst>
          </a:prstGeom>
          <a:solidFill>
            <a:srgbClr val="16223A"/>
          </a:solidFill>
          <a:ln w="12700">
            <a:solidFill>
              <a:srgbClr val="F8FAFC">
                <a:alpha val="1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3" name="" descr="{&quot;isTemplate&quot;:true,&quot;type&quot;:&quot;text&quot;}"/>
          <p:cNvSpPr txBox="1"/>
          <p:nvPr/>
        </p:nvSpPr>
        <p:spPr>
          <a:xfrm rot="0" flipH="0" flipV="0">
            <a:off x="838200" y="3019425"/>
            <a:ext cx="419100" cy="12573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000" b="1">
                <a:solidFill>
                  <a:srgbClr val="FB7185">
                    <a:alpha val="55000"/>
                  </a:srgbClr>
                </a:solidFill>
                <a:latin typeface="Consolas"/>
                <a:ea typeface="Consolas"/>
              </a:rPr>
              <a:t>02</a:t>
            </a:r>
            <a:endParaRPr/>
          </a:p>
        </p:txBody>
      </p:sp>
      <p:sp>
        <p:nvSpPr>
          <p:cNvPr id="54" name="" descr="{&quot;isTemplate&quot;:true,&quot;type&quot;:&quot;text&quot;}"/>
          <p:cNvSpPr txBox="1"/>
          <p:nvPr/>
        </p:nvSpPr>
        <p:spPr>
          <a:xfrm rot="0" flipH="0" flipV="0">
            <a:off x="1447800" y="3019425"/>
            <a:ext cx="57531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8FAFC"/>
                </a:solidFill>
                <a:latin typeface="微软雅黑"/>
                <a:ea typeface="微软雅黑"/>
              </a:rPr>
              <a:t xml:space="preserve">ok </a:t>
            </a:r>
            <a:r>
              <a:rPr lang="zh-CN" sz="1500" b="1">
                <a:solidFill>
                  <a:srgbClr val="F8FAFC"/>
                </a:solidFill>
                <a:latin typeface="微软雅黑"/>
                <a:ea typeface="微软雅黑"/>
              </a:rPr>
              <a:t>配失败：报了成功，其实没动</a:t>
            </a:r>
            <a:endParaRPr/>
          </a:p>
        </p:txBody>
      </p:sp>
      <p:sp>
        <p:nvSpPr>
          <p:cNvPr id="55" name="" descr="{&quot;isTemplate&quot;:true,&quot;type&quot;:&quot;text&quot;}"/>
          <p:cNvSpPr txBox="1"/>
          <p:nvPr/>
        </p:nvSpPr>
        <p:spPr>
          <a:xfrm rot="0" flipH="0" flipV="0">
            <a:off x="1447800" y="3324225"/>
            <a:ext cx="5753100" cy="609600"/>
          </a:xfrm>
          <a:prstGeom prst="rect"/>
        </p:spPr>
        <p:txBody>
          <a:bodyPr wrap="none" lIns="0" tIns="0" rIns="0" bIns="0"/>
          <a:p>
            <a:pPr>
              <a:lnSpc>
                <a:spcPct val="165000"/>
              </a:lnSpc>
            </a:pPr>
            <a:r>
              <a:rPr lang="zh-CN" sz="1200">
                <a:solidFill>
                  <a:srgbClr val="F8FAFC">
                    <a:alpha val="58000"/>
                  </a:srgbClr>
                </a:solidFill>
                <a:latin typeface="微软雅黑"/>
                <a:ea typeface="微软雅黑"/>
              </a:rPr>
              <a:t>工具返回</a:t>
            </a:r>
            <a:r>
              <a:rPr lang="en-US" sz="1200">
                <a:solidFill>
                  <a:srgbClr val="F8FAFC">
                    <a:alpha val="58000"/>
                  </a:srgbClr>
                </a:solidFill>
                <a:latin typeface="微软雅黑"/>
                <a:ea typeface="微软雅黑"/>
              </a:rPr>
              <a:t xml:space="preserve"> </a:t>
            </a:r>
            <a:r>
              <a:rPr lang="en-US" sz="1200">
                <a:solidFill>
                  <a:srgbClr val="F8FAFC">
                    <a:alpha val="58000"/>
                  </a:srgbClr>
                </a:solidFill>
                <a:latin typeface="微软雅黑"/>
                <a:ea typeface="微软雅黑"/>
              </a:rPr>
              <a:t>success:false</a:t>
            </a:r>
            <a:r>
              <a:rPr lang="zh-CN" sz="1200">
                <a:solidFill>
                  <a:srgbClr val="F8FAFC">
                    <a:alpha val="58000"/>
                  </a:srgbClr>
                </a:solidFill>
                <a:latin typeface="微软雅黑"/>
                <a:ea typeface="微软雅黑"/>
              </a:rPr>
              <a:t>，注册中心却仍是</a:t>
            </a:r>
            <a:r>
              <a:rPr lang="en-US" sz="1200">
                <a:solidFill>
                  <a:srgbClr val="F8FAFC">
                    <a:alpha val="58000"/>
                  </a:srgbClr>
                </a:solidFill>
                <a:latin typeface="微软雅黑"/>
                <a:ea typeface="微软雅黑"/>
              </a:rPr>
              <a:t xml:space="preserve"> </a:t>
            </a:r>
            <a:r>
              <a:rPr lang="en-US" sz="1200">
                <a:solidFill>
                  <a:srgbClr val="F8FAFC">
                    <a:alpha val="58000"/>
                  </a:srgbClr>
                </a:solidFill>
                <a:latin typeface="微软雅黑"/>
                <a:ea typeface="微软雅黑"/>
              </a:rPr>
              <a:t>ok:true</a:t>
            </a:r>
            <a:r>
              <a:rPr lang="zh-CN" sz="1200">
                <a:solidFill>
                  <a:srgbClr val="F8FAFC">
                    <a:alpha val="58000"/>
                  </a:srgbClr>
                </a:solidFill>
                <a:latin typeface="微软雅黑"/>
                <a:ea typeface="微软雅黑"/>
              </a:rPr>
              <a:t>。</a:t>
            </a:r>
            <a:endParaRPr/>
          </a:p>
          <a:p>
            <a:pPr>
              <a:lnSpc>
                <a:spcPct val="165000"/>
              </a:lnSpc>
            </a:pPr>
            <a:r>
              <a:rPr lang="zh-CN" sz="1200">
                <a:solidFill>
                  <a:srgbClr val="F8FAFC">
                    <a:alpha val="58000"/>
                  </a:srgbClr>
                </a:solidFill>
                <a:latin typeface="微软雅黑"/>
                <a:ea typeface="微软雅黑"/>
              </a:rPr>
              <a:t>顺藤还揪出更狠的：自建门锁联动会</a:t>
            </a:r>
            <a:r>
              <a:rPr lang="zh-CN" sz="1200">
                <a:solidFill>
                  <a:srgbClr val="FB7185"/>
                </a:solidFill>
                <a:latin typeface="微软雅黑"/>
                <a:ea typeface="微软雅黑"/>
              </a:rPr>
              <a:t>反向把门锁上</a:t>
            </a:r>
            <a:r>
              <a:rPr lang="zh-CN" sz="1200">
                <a:solidFill>
                  <a:srgbClr val="F8FAFC">
                    <a:alpha val="58000"/>
                  </a:srgbClr>
                </a:solidFill>
                <a:latin typeface="微软雅黑"/>
                <a:ea typeface="微软雅黑"/>
              </a:rPr>
              <a:t>，零报错。</a:t>
            </a:r>
            <a:endParaRPr/>
          </a:p>
        </p:txBody>
      </p:sp>
      <p:sp>
        <p:nvSpPr>
          <p:cNvPr id="56" name=""/>
          <p:cNvSpPr/>
          <p:nvPr/>
        </p:nvSpPr>
        <p:spPr>
          <a:xfrm rot="0" flipH="0" flipV="0">
            <a:off x="609600" y="4600575"/>
            <a:ext cx="6819900" cy="1647825"/>
          </a:xfrm>
          <a:prstGeom prst="roundRect">
            <a:avLst>
              <a:gd name="adj" fmla="val 5780"/>
            </a:avLst>
          </a:prstGeom>
          <a:solidFill>
            <a:srgbClr val="16223A"/>
          </a:solidFill>
          <a:ln w="12700">
            <a:solidFill>
              <a:srgbClr val="F8FAFC">
                <a:alpha val="1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7" name="" descr="{&quot;isTemplate&quot;:true,&quot;type&quot;:&quot;text&quot;}"/>
          <p:cNvSpPr txBox="1"/>
          <p:nvPr/>
        </p:nvSpPr>
        <p:spPr>
          <a:xfrm rot="0" flipH="0" flipV="0">
            <a:off x="838200" y="4791075"/>
            <a:ext cx="419100" cy="12668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000" b="1">
                <a:solidFill>
                  <a:srgbClr val="FB7185">
                    <a:alpha val="55000"/>
                  </a:srgbClr>
                </a:solidFill>
                <a:latin typeface="Consolas"/>
                <a:ea typeface="Consolas"/>
              </a:rPr>
              <a:t>03</a:t>
            </a:r>
            <a:endParaRPr/>
          </a:p>
        </p:txBody>
      </p:sp>
      <p:sp>
        <p:nvSpPr>
          <p:cNvPr id="58" name="" descr="{&quot;isTemplate&quot;:true,&quot;type&quot;:&quot;text&quot;}"/>
          <p:cNvSpPr txBox="1"/>
          <p:nvPr/>
        </p:nvSpPr>
        <p:spPr>
          <a:xfrm rot="0" flipH="0" flipV="0">
            <a:off x="1447800" y="4791075"/>
            <a:ext cx="57531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F8FAFC"/>
                </a:solidFill>
                <a:latin typeface="微软雅黑"/>
                <a:ea typeface="微软雅黑"/>
              </a:rPr>
              <a:t>我的测试把自己的数据删了</a:t>
            </a:r>
            <a:endParaRPr/>
          </a:p>
        </p:txBody>
      </p:sp>
      <p:sp>
        <p:nvSpPr>
          <p:cNvPr id="59" name="" descr="{&quot;isTemplate&quot;:true,&quot;type&quot;:&quot;text&quot;}"/>
          <p:cNvSpPr txBox="1"/>
          <p:nvPr/>
        </p:nvSpPr>
        <p:spPr>
          <a:xfrm rot="0" flipH="0" flipV="0">
            <a:off x="1447800" y="5095875"/>
            <a:ext cx="5753100" cy="609600"/>
          </a:xfrm>
          <a:prstGeom prst="rect"/>
        </p:spPr>
        <p:txBody>
          <a:bodyPr wrap="none" lIns="0" tIns="0" rIns="0" bIns="0"/>
          <a:p>
            <a:pPr>
              <a:lnSpc>
                <a:spcPct val="165000"/>
              </a:lnSpc>
            </a:pPr>
            <a:r>
              <a:rPr lang="zh-CN" sz="1200">
                <a:solidFill>
                  <a:srgbClr val="F8FAFC">
                    <a:alpha val="58000"/>
                  </a:srgbClr>
                </a:solidFill>
                <a:latin typeface="微软雅黑"/>
                <a:ea typeface="微软雅黑"/>
              </a:rPr>
              <a:t>评测每条用例都会重置设备库，而设备库没做隔离——</a:t>
            </a:r>
            <a:endParaRPr/>
          </a:p>
          <a:p>
            <a:pPr>
              <a:lnSpc>
                <a:spcPct val="165000"/>
              </a:lnSpc>
            </a:pPr>
            <a:r>
              <a:rPr lang="zh-CN" sz="1200">
                <a:solidFill>
                  <a:srgbClr val="F8FAFC">
                    <a:alpha val="58000"/>
                  </a:srgbClr>
                </a:solidFill>
                <a:latin typeface="微软雅黑"/>
                <a:ea typeface="微软雅黑"/>
              </a:rPr>
              <a:t>跑一次评测，</a:t>
            </a:r>
            <a:r>
              <a:rPr lang="zh-CN" sz="1200">
                <a:solidFill>
                  <a:srgbClr val="FB7185"/>
                </a:solidFill>
                <a:latin typeface="微软雅黑"/>
                <a:ea typeface="微软雅黑"/>
              </a:rPr>
              <a:t>你家里的</a:t>
            </a:r>
            <a:r>
              <a:rPr lang="en-US" sz="1200">
                <a:solidFill>
                  <a:srgbClr val="FB7185"/>
                </a:solidFill>
                <a:latin typeface="微软雅黑"/>
                <a:ea typeface="微软雅黑"/>
              </a:rPr>
              <a:t xml:space="preserve"> 16 </a:t>
            </a:r>
            <a:r>
              <a:rPr lang="zh-CN" sz="1200">
                <a:solidFill>
                  <a:srgbClr val="FB7185"/>
                </a:solidFill>
                <a:latin typeface="微软雅黑"/>
                <a:ea typeface="微软雅黑"/>
              </a:rPr>
              <a:t>台设备全没了</a:t>
            </a:r>
            <a:r>
              <a:rPr lang="zh-CN" sz="1200">
                <a:solidFill>
                  <a:srgbClr val="F8FAFC">
                    <a:alpha val="58000"/>
                  </a:srgbClr>
                </a:solidFill>
                <a:latin typeface="微软雅黑"/>
                <a:ea typeface="微软雅黑"/>
              </a:rPr>
              <a:t>。</a:t>
            </a:r>
            <a:endParaRPr/>
          </a:p>
        </p:txBody>
      </p:sp>
      <p:sp>
        <p:nvSpPr>
          <p:cNvPr id="60" name=""/>
          <p:cNvSpPr/>
          <p:nvPr/>
        </p:nvSpPr>
        <p:spPr>
          <a:xfrm rot="0" flipH="0" flipV="0">
            <a:off x="7753350" y="1047750"/>
            <a:ext cx="3829050" cy="1990725"/>
          </a:xfrm>
          <a:prstGeom prst="roundRect">
            <a:avLst>
              <a:gd name="adj" fmla="val 4785"/>
            </a:avLst>
          </a:prstGeom>
          <a:solidFill>
            <a:srgbClr val="FB7185">
              <a:alpha val="8000"/>
            </a:srgbClr>
          </a:solidFill>
          <a:ln w="12700">
            <a:solidFill>
              <a:srgbClr val="FB7185">
                <a:alpha val="4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1" name="" descr="{&quot;isTemplate&quot;:true,&quot;type&quot;:&quot;text&quot;}"/>
          <p:cNvSpPr txBox="1"/>
          <p:nvPr/>
        </p:nvSpPr>
        <p:spPr>
          <a:xfrm rot="0" flipH="0" flipV="0">
            <a:off x="8001000" y="1295400"/>
            <a:ext cx="3333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b="1" spc="150">
                <a:solidFill>
                  <a:srgbClr val="FB7185"/>
                </a:solidFill>
                <a:latin typeface="微软雅黑"/>
                <a:ea typeface="微软雅黑"/>
              </a:rPr>
              <a:t>共同点</a:t>
            </a:r>
            <a:endParaRPr/>
          </a:p>
        </p:txBody>
      </p:sp>
      <p:sp>
        <p:nvSpPr>
          <p:cNvPr id="62" name="" descr="{&quot;isTemplate&quot;:true,&quot;type&quot;:&quot;text&quot;}"/>
          <p:cNvSpPr txBox="1"/>
          <p:nvPr/>
        </p:nvSpPr>
        <p:spPr>
          <a:xfrm rot="0" flipH="0" flipV="0">
            <a:off x="8001000" y="1581150"/>
            <a:ext cx="3333750" cy="120967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650" b="1">
                <a:solidFill>
                  <a:srgbClr val="F8FAFC"/>
                </a:solidFill>
                <a:latin typeface="微软雅黑"/>
                <a:ea typeface="微软雅黑"/>
              </a:rPr>
              <a:t>都不是</a:t>
            </a:r>
            <a:r>
              <a:rPr lang="en-US" sz="1650" b="1">
                <a:solidFill>
                  <a:srgbClr val="F8FAFC"/>
                </a:solidFill>
                <a:latin typeface="微软雅黑"/>
                <a:ea typeface="微软雅黑"/>
              </a:rPr>
              <a:t>"</a:t>
            </a:r>
            <a:r>
              <a:rPr lang="zh-CN" sz="1650" b="1">
                <a:solidFill>
                  <a:srgbClr val="F8FAFC"/>
                </a:solidFill>
                <a:latin typeface="微软雅黑"/>
                <a:ea typeface="微软雅黑"/>
              </a:rPr>
              <a:t>功能没做</a:t>
            </a:r>
            <a:r>
              <a:rPr lang="en-US" sz="1650" b="1">
                <a:solidFill>
                  <a:srgbClr val="F8FAFC"/>
                </a:solidFill>
                <a:latin typeface="微软雅黑"/>
                <a:ea typeface="微软雅黑"/>
              </a:rPr>
              <a:t>"</a:t>
            </a:r>
            <a:r>
              <a:rPr lang="zh-CN" sz="1650" b="1">
                <a:solidFill>
                  <a:srgbClr val="F8FAFC"/>
                </a:solidFill>
                <a:latin typeface="微软雅黑"/>
                <a:ea typeface="微软雅黑"/>
              </a:rPr>
              <a:t>，</a:t>
            </a:r>
            <a:endParaRPr/>
          </a:p>
          <a:p>
            <a:pPr>
              <a:lnSpc>
                <a:spcPct val="160000"/>
              </a:lnSpc>
            </a:pPr>
            <a:r>
              <a:rPr lang="zh-CN" sz="1650" b="1">
                <a:solidFill>
                  <a:srgbClr val="F8FAFC"/>
                </a:solidFill>
                <a:latin typeface="微软雅黑"/>
                <a:ea typeface="微软雅黑"/>
              </a:rPr>
              <a:t>是</a:t>
            </a:r>
            <a:r>
              <a:rPr lang="en-US" sz="1650" b="1">
                <a:solidFill>
                  <a:srgbClr val="F8FAFC"/>
                </a:solidFill>
                <a:latin typeface="微软雅黑"/>
                <a:ea typeface="微软雅黑"/>
              </a:rPr>
              <a:t>"</a:t>
            </a:r>
            <a:r>
              <a:rPr lang="zh-CN" sz="1650" b="1">
                <a:solidFill>
                  <a:srgbClr val="F8FAFC"/>
                </a:solidFill>
                <a:latin typeface="微软雅黑"/>
                <a:ea typeface="微软雅黑"/>
              </a:rPr>
              <a:t>做了但错了，</a:t>
            </a:r>
            <a:endParaRPr/>
          </a:p>
          <a:p>
            <a:pPr>
              <a:lnSpc>
                <a:spcPct val="160000"/>
              </a:lnSpc>
            </a:pPr>
            <a:r>
              <a:rPr lang="zh-CN" sz="1650" b="1">
                <a:solidFill>
                  <a:srgbClr val="F8FAFC"/>
                </a:solidFill>
                <a:latin typeface="微软雅黑"/>
                <a:ea typeface="微软雅黑"/>
              </a:rPr>
              <a:t>而且测试没抓到</a:t>
            </a:r>
            <a:r>
              <a:rPr lang="en-US" sz="1650" b="1">
                <a:solidFill>
                  <a:srgbClr val="F8FAFC"/>
                </a:solidFill>
                <a:latin typeface="微软雅黑"/>
                <a:ea typeface="微软雅黑"/>
              </a:rPr>
              <a:t>"</a:t>
            </a:r>
            <a:r>
              <a:rPr lang="zh-CN" sz="1650" b="1">
                <a:solidFill>
                  <a:srgbClr val="F8FAFC"/>
                </a:solidFill>
                <a:latin typeface="微软雅黑"/>
                <a:ea typeface="微软雅黑"/>
              </a:rPr>
              <a:t>。</a:t>
            </a:r>
            <a:endParaRPr/>
          </a:p>
        </p:txBody>
      </p:sp>
      <p:sp>
        <p:nvSpPr>
          <p:cNvPr id="63" name=""/>
          <p:cNvSpPr/>
          <p:nvPr/>
        </p:nvSpPr>
        <p:spPr>
          <a:xfrm rot="0" flipH="0" flipV="0">
            <a:off x="7753350" y="4314825"/>
            <a:ext cx="3829050" cy="1933575"/>
          </a:xfrm>
          <a:prstGeom prst="roundRect">
            <a:avLst>
              <a:gd name="adj" fmla="val 4926"/>
            </a:avLst>
          </a:prstGeom>
          <a:solidFill>
            <a:srgbClr val="16223A"/>
          </a:solidFill>
          <a:ln w="12700">
            <a:solidFill>
              <a:srgbClr val="F8FAFC">
                <a:alpha val="1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4" name="" descr="{&quot;isTemplate&quot;:true,&quot;type&quot;:&quot;text&quot;}"/>
          <p:cNvSpPr txBox="1"/>
          <p:nvPr/>
        </p:nvSpPr>
        <p:spPr>
          <a:xfrm rot="0" flipH="0" flipV="0">
            <a:off x="8001000" y="4562475"/>
            <a:ext cx="3333750" cy="14382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85000"/>
              </a:lnSpc>
            </a:pPr>
            <a:r>
              <a:rPr lang="zh-CN" sz="1275">
                <a:solidFill>
                  <a:srgbClr val="F8FAFC">
                    <a:alpha val="70000"/>
                  </a:srgbClr>
                </a:solidFill>
                <a:latin typeface="微软雅黑"/>
                <a:ea typeface="微软雅黑"/>
              </a:rPr>
              <a:t>所以后来立了条规矩：</a:t>
            </a:r>
            <a:endParaRPr/>
          </a:p>
          <a:p>
            <a:pPr>
              <a:lnSpc>
                <a:spcPct val="185000"/>
              </a:lnSpc>
            </a:pPr>
            <a:r>
              <a:rPr lang="zh-CN" sz="1275">
                <a:solidFill>
                  <a:srgbClr val="38BDF8"/>
                </a:solidFill>
                <a:latin typeface="微软雅黑"/>
                <a:ea typeface="微软雅黑"/>
              </a:rPr>
              <a:t>修完一个</a:t>
            </a:r>
            <a:r>
              <a:rPr lang="en-US" sz="1275">
                <a:solidFill>
                  <a:srgbClr val="38BDF8"/>
                </a:solidFill>
                <a:latin typeface="微软雅黑"/>
                <a:ea typeface="微软雅黑"/>
              </a:rPr>
              <a:t xml:space="preserve"> bug</a:t>
            </a:r>
            <a:r>
              <a:rPr lang="zh-CN" sz="1275">
                <a:solidFill>
                  <a:srgbClr val="38BDF8"/>
                </a:solidFill>
                <a:latin typeface="微软雅黑"/>
                <a:ea typeface="微软雅黑"/>
              </a:rPr>
              <a:t>，必须补一条能复现它的用例，并做反向验证</a:t>
            </a:r>
            <a:r>
              <a:rPr lang="zh-CN" sz="1275">
                <a:solidFill>
                  <a:srgbClr val="F8FAFC">
                    <a:alpha val="70000"/>
                  </a:srgbClr>
                </a:solidFill>
                <a:latin typeface="微软雅黑"/>
                <a:ea typeface="微软雅黑"/>
              </a:rPr>
              <a:t>——把修复改回去，确认那条用例真的会红。</a:t>
            </a:r>
            <a:endParaRPr/>
          </a:p>
        </p:txBody>
      </p:sp>
      <p:sp>
        <p:nvSpPr>
          <p:cNvPr id="65" name="" descr="{&quot;isTemplate&quot;:true,&quot;type&quot;:&quot;text&quot;}"/>
          <p:cNvSpPr txBox="1"/>
          <p:nvPr/>
        </p:nvSpPr>
        <p:spPr>
          <a:xfrm rot="0" flipH="0" flipV="0">
            <a:off x="609600" y="6477000"/>
            <a:ext cx="19431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F8FAFC">
                    <a:alpha val="40000"/>
                  </a:srgbClr>
                </a:solidFill>
                <a:latin typeface="微软雅黑"/>
                <a:ea typeface="微软雅黑"/>
              </a:rPr>
              <a:t xml:space="preserve">HomeMind · </a:t>
            </a:r>
            <a:r>
              <a:rPr lang="zh-CN" sz="975">
                <a:solidFill>
                  <a:srgbClr val="F8FAFC">
                    <a:alpha val="40000"/>
                  </a:srgbClr>
                </a:solidFill>
                <a:latin typeface="微软雅黑"/>
                <a:ea typeface="微软雅黑"/>
              </a:rPr>
              <a:t>智能家居多智能体中枢</a:t>
            </a:r>
            <a:endParaRPr/>
          </a:p>
        </p:txBody>
      </p:sp>
      <p:sp>
        <p:nvSpPr>
          <p:cNvPr id="66" name="" descr="{&quot;isTemplate&quot;:true,&quot;type&quot;:&quot;text&quot;}"/>
          <p:cNvSpPr txBox="1"/>
          <p:nvPr/>
        </p:nvSpPr>
        <p:spPr>
          <a:xfrm rot="0" flipH="0" flipV="0">
            <a:off x="11096625" y="6477000"/>
            <a:ext cx="4857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F8FAFC">
                    <a:alpha val="40000"/>
                  </a:srgbClr>
                </a:solidFill>
                <a:latin typeface="Consolas"/>
                <a:ea typeface="Consolas"/>
              </a:rPr>
              <a:t>11 / 13</a:t>
            </a:r>
            <a:endParaRPr/>
          </a:p>
        </p:txBody>
      </p:sp>
    </p:spTree>
  </p:cSld>
</p:sld>
</file>

<file path=ppt/slides/slide12.xml><?xml version="1.0" encoding="utf-8"?>
<p:sld xmlns:p="http://schemas.openxmlformats.org/presentationml/2006/main" xmlns:a="http://schemas.openxmlformats.org/drawingml/2006/main">
  <p:cSld>
    <p:spTree>
      <p:nvGrpSpPr>
        <p:cNvPr id="67" name="" descr="&lt;Slide style={{ width: 1280, height: 720, position: 'relative', overflow: 'hidden', background: '#0B1120', fontFamily: '微软雅黑' }}&gt;&#10;    &lt;Box style={{ height: 110, paddingLeft: 64, paddingRight: 64, paddingTop: 34, flexDirection: 'row', alignItems: 'center', gap: 18 }}&gt;&#10;        &lt;Box style={{ width: 4, height: 34, background: '#38BDF8' }} /&gt;&#10;        &lt;Text style={{ fontSize: 36, fontWeight: 700, color: '#F8FAFC', letterSpacing: 0.5 }}&gt;它现在还不能做什么&lt;/Text&gt;&#10;    &lt;/Box&gt;&#10;&#10;    &lt;Box style={{ height: 546, paddingLeft: 64, paddingRight: 64, flexDirection: 'row', gap: 48 }}&gt;&#10;        &lt;Box style={{ width: 320, justifyContent: 'center', background: '#16223A', border: '1px solid rgba(248,250,252,0.10)', borderRadius: 10, padding: '32px 28px' }}&gt;&#10;            &lt;Text style={{ fontSize: 30, fontWeight: 700, color: '#F8FAFC', lineHeight: 1.5 }}&gt;&#10;                主动说清楚&lt;br /&gt;哪里没做好&#10;            &lt;/Text&gt;&#10;            &lt;Box style={{ width: 56, height: 3, background: '#38BDF8', marginTop: 24 }} /&gt;&#10;            &lt;Text style={{ fontSize: 17, color: 'rgba(248,250,252,0.58)', lineHeight: 1.85, marginTop: 22 }}&gt;&#10;                被问出来才承认，&lt;br /&gt;比主动标注难看一百倍。&lt;br /&gt;下面这些我都能说清&quot;为什么还没做&quot;。&#10;            &lt;/Text&gt;&#10;        &lt;/Box&gt;&#10;&#10;        &lt;Box style={{ width: 720, flexDirection: 'column', gap: 16 }}&gt;&#10;            &lt;Box style={{ flex: 1, background: '#16223A', border: '1px solid rgba(248,250,252,0.10)', borderRadius: 10, padding: '20px 26px' }}&gt;&#10;                &lt;Box style={{ flexDirection: 'row', alignItems: 'center', gap: 12 }}&gt;&#10;                    &lt;Text style={{ fontSize: 18, fontWeight: 700, color: '#F8FAFC' }}&gt;跑的是降级实现&lt;/Text&gt;&#10;                    &lt;Text style={{ fontSize: 13, color: 'rgba(248,250,252,0.42)' }}&gt;代码就绪，换配置即可&lt;/Text&gt;&#10;                &lt;/Box&gt;&#10;                &lt;Text style={{ fontSize: 16, color: 'rgba(248,250,252,0.58)', lineHeight: 1.8, marginTop: 10 }}&gt;&#10;                    Redis 代码完整但本机没起服务，跑进程内存 ｜ Milvus 没接，用的是字符 bigram Jaccard&lt;br /&gt;&#10;                    MySQL 只有建表 DDL ｜ Docker Compose 文件在，没实际起过&#10;                &lt;/Text&gt;&#10;            &lt;/Box&gt;&#10;&#10;            &lt;Box style={{ flex: 1, background: '#16223A', border: '1px solid rgba(248,250,252,0.10)', borderRadius: 10, padding: '20px 26px' }}&gt;&#10;                &lt;Box style={{ flexDirection: 'row', alignItems: 'center', gap: 12 }}&gt;&#10;                    &lt;Text style={{ fontSize: 18, fontWeight: 700, color: '#F8FAFC' }}&gt;根本没做的&lt;/Text&gt;&#10;                    &lt;Text style={{ fontSize: 13, color: 'rgba(248,250,252,0.42)' }}&gt;规划里有，时间不够&lt;/Text&gt;&#10;                &lt;/Box&gt;&#10;                &lt;Text style={{ fontSize: 16, color: 'rgba(248,250,252,0.58)', lineHeight: 1.8, marginTop: 10 }}&gt;&#10;                    多轮指代消解——说&quot;把它关了&quot;，它不知道&quot;它&quot;是哪台 ｜ 主动服务 ｜ 从行为日志学习惯&lt;br /&gt;&#10;                    设备别名只做到房间级：&quot;卧室灯&quot;认得出，&quot;卧室那盏&quot;认不出&#10;                &lt;/Text&gt;&#10;            &lt;/Box&gt;&#10;&#10;            &lt;Box style={{ flex: 1, background: 'rgba(56,189,248,0.08)', border: '1px solid rgba(56,189,248,0.35)', borderRadius: 10, padding: '20px 26px' }}&gt;&#10;                &lt;Box style={{ flexDirection: 'row', alignItems: 'center', gap: 12 }}&gt;&#10;                    &lt;Text style={{ fontSize: 18, fontWeight: 700, color: '#38BDF8' }}&gt;下一步先做这两个&lt;/Text&gt;&#10;                &lt;/Box&gt;&#10;                &lt;Text style={{ fontSize: 16, color: 'rgba(248,250,252,0.66)', lineHeight: 1.8, marginTop: 10 }}&gt;&#10;                    ① 把评测红线挂到 GitHub Actions——让&quot;能拦住回归&quot;变成仓库里有据可查的事实&lt;br /&gt;&#10;                    ② 把 Redis 真跑起来——三层记忆从&quot;设计&quot;变成&quot;实测&quot;，这一条最能提气&#10;                &lt;/Text&gt;&#10;            &lt;/Box&gt;&#10;        &lt;/Box&gt;&#10;    &lt;/Box&gt;&#10;&#10;    &lt;Box style={{ height: 64, paddingLeft: 64, paddingRight: 64, flexDirection: 'row', justifyContent: 'space-between', alignItems: 'center' }}&gt;&#10;        &lt;Text style={{ fontSize: 13, color: 'rgba(248,250,252,0.40)' }}&gt;HomeMind · 智能家居多智能体中枢&lt;/Text&gt;&#10;        &lt;Text style={{ fontSize: 13, color: 'rgba(248,250,252,0.40)', fontFamily: 'Consolas' }}&gt;12 / 13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120"/>
          </a:solidFill>
          <a:ln/>
        </p:spPr>
        <p:txBody>
          <a:bodyPr/>
          <a:p/>
        </p:txBody>
      </p:sp>
      <p:sp>
        <p:nvSpPr>
          <p:cNvPr id="69" name=""/>
          <p:cNvSpPr/>
          <p:nvPr/>
        </p:nvSpPr>
        <p:spPr>
          <a:xfrm rot="0" flipH="0" flipV="0">
            <a:off x="609600" y="523875"/>
            <a:ext cx="38100" cy="323850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p/>
        </p:txBody>
      </p:sp>
      <p:sp>
        <p:nvSpPr>
          <p:cNvPr id="70" name="" descr="{&quot;isTemplate&quot;:true,&quot;type&quot;:&quot;text&quot;}"/>
          <p:cNvSpPr txBox="1"/>
          <p:nvPr/>
        </p:nvSpPr>
        <p:spPr>
          <a:xfrm rot="0" flipH="0" flipV="0">
            <a:off x="819150" y="476250"/>
            <a:ext cx="3133725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700" b="1" spc="38">
                <a:solidFill>
                  <a:srgbClr val="F8FAFC"/>
                </a:solidFill>
                <a:latin typeface="微软雅黑"/>
                <a:ea typeface="微软雅黑"/>
              </a:rPr>
              <a:t>它现在还不能做什么</a:t>
            </a:r>
            <a:endParaRPr/>
          </a:p>
        </p:txBody>
      </p:sp>
      <p:sp>
        <p:nvSpPr>
          <p:cNvPr id="71" name=""/>
          <p:cNvSpPr/>
          <p:nvPr/>
        </p:nvSpPr>
        <p:spPr>
          <a:xfrm rot="0" flipH="0" flipV="0">
            <a:off x="609600" y="1047750"/>
            <a:ext cx="3048000" cy="5200650"/>
          </a:xfrm>
          <a:prstGeom prst="roundRect">
            <a:avLst>
              <a:gd name="adj" fmla="val 3125"/>
            </a:avLst>
          </a:prstGeom>
          <a:solidFill>
            <a:srgbClr val="16223A"/>
          </a:solidFill>
          <a:ln w="12700">
            <a:solidFill>
              <a:srgbClr val="F8FAFC">
                <a:alpha val="1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72" name="" descr="{&quot;isTemplate&quot;:true,&quot;type&quot;:&quot;text&quot;}"/>
          <p:cNvSpPr txBox="1"/>
          <p:nvPr/>
        </p:nvSpPr>
        <p:spPr>
          <a:xfrm rot="0" flipH="0" flipV="0">
            <a:off x="876300" y="2181225"/>
            <a:ext cx="2514600" cy="102870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2250" b="1">
                <a:solidFill>
                  <a:srgbClr val="F8FAFC"/>
                </a:solidFill>
                <a:latin typeface="微软雅黑"/>
                <a:ea typeface="微软雅黑"/>
              </a:rPr>
              <a:t>主动说清楚</a:t>
            </a:r>
            <a:endParaRPr/>
          </a:p>
          <a:p>
            <a:pPr>
              <a:lnSpc>
                <a:spcPct val="150000"/>
              </a:lnSpc>
            </a:pPr>
            <a:r>
              <a:rPr lang="zh-CN" sz="2250" b="1">
                <a:solidFill>
                  <a:srgbClr val="F8FAFC"/>
                </a:solidFill>
                <a:latin typeface="微软雅黑"/>
                <a:ea typeface="微软雅黑"/>
              </a:rPr>
              <a:t>哪里没做好</a:t>
            </a:r>
            <a:endParaRPr/>
          </a:p>
        </p:txBody>
      </p:sp>
      <p:sp>
        <p:nvSpPr>
          <p:cNvPr id="73" name=""/>
          <p:cNvSpPr/>
          <p:nvPr/>
        </p:nvSpPr>
        <p:spPr>
          <a:xfrm rot="0" flipH="0" flipV="0">
            <a:off x="876300" y="3438525"/>
            <a:ext cx="533400" cy="28575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p/>
        </p:txBody>
      </p:sp>
      <p:sp>
        <p:nvSpPr>
          <p:cNvPr id="74" name="" descr="{&quot;isTemplate&quot;:true,&quot;type&quot;:&quot;text&quot;}"/>
          <p:cNvSpPr txBox="1"/>
          <p:nvPr/>
        </p:nvSpPr>
        <p:spPr>
          <a:xfrm rot="0" flipH="0" flipV="0">
            <a:off x="876300" y="3676650"/>
            <a:ext cx="2514600" cy="14382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85000"/>
              </a:lnSpc>
            </a:pPr>
            <a:r>
              <a:rPr lang="zh-CN" sz="1275">
                <a:solidFill>
                  <a:srgbClr val="F8FAFC">
                    <a:alpha val="58000"/>
                  </a:srgbClr>
                </a:solidFill>
                <a:latin typeface="微软雅黑"/>
                <a:ea typeface="微软雅黑"/>
              </a:rPr>
              <a:t>被问出来才承认，</a:t>
            </a:r>
            <a:endParaRPr/>
          </a:p>
          <a:p>
            <a:pPr>
              <a:lnSpc>
                <a:spcPct val="185000"/>
              </a:lnSpc>
            </a:pPr>
            <a:r>
              <a:rPr lang="zh-CN" sz="1275">
                <a:solidFill>
                  <a:srgbClr val="F8FAFC">
                    <a:alpha val="58000"/>
                  </a:srgbClr>
                </a:solidFill>
                <a:latin typeface="微软雅黑"/>
                <a:ea typeface="微软雅黑"/>
              </a:rPr>
              <a:t>比主动标注难看一百倍。</a:t>
            </a:r>
            <a:endParaRPr/>
          </a:p>
          <a:p>
            <a:pPr>
              <a:lnSpc>
                <a:spcPct val="185000"/>
              </a:lnSpc>
            </a:pPr>
            <a:r>
              <a:rPr lang="zh-CN" sz="1275">
                <a:solidFill>
                  <a:srgbClr val="F8FAFC">
                    <a:alpha val="58000"/>
                  </a:srgbClr>
                </a:solidFill>
                <a:latin typeface="微软雅黑"/>
                <a:ea typeface="微软雅黑"/>
              </a:rPr>
              <a:t>下面这些我都能说清</a:t>
            </a:r>
            <a:r>
              <a:rPr lang="en-US" sz="1275">
                <a:solidFill>
                  <a:srgbClr val="F8FAFC">
                    <a:alpha val="58000"/>
                  </a:srgbClr>
                </a:solidFill>
                <a:latin typeface="微软雅黑"/>
                <a:ea typeface="微软雅黑"/>
              </a:rPr>
              <a:t>"</a:t>
            </a:r>
            <a:r>
              <a:rPr lang="zh-CN" sz="1275">
                <a:solidFill>
                  <a:srgbClr val="F8FAFC">
                    <a:alpha val="58000"/>
                  </a:srgbClr>
                </a:solidFill>
                <a:latin typeface="微软雅黑"/>
                <a:ea typeface="微软雅黑"/>
              </a:rPr>
              <a:t>为什么还没做</a:t>
            </a:r>
            <a:r>
              <a:rPr lang="en-US" sz="1275">
                <a:solidFill>
                  <a:srgbClr val="F8FAFC">
                    <a:alpha val="58000"/>
                  </a:srgbClr>
                </a:solidFill>
                <a:latin typeface="微软雅黑"/>
                <a:ea typeface="微软雅黑"/>
              </a:rPr>
              <a:t>"</a:t>
            </a:r>
            <a:r>
              <a:rPr lang="zh-CN" sz="1275">
                <a:solidFill>
                  <a:srgbClr val="F8FAFC">
                    <a:alpha val="58000"/>
                  </a:srgbClr>
                </a:solidFill>
                <a:latin typeface="微软雅黑"/>
                <a:ea typeface="微软雅黑"/>
              </a:rPr>
              <a:t>。</a:t>
            </a:r>
            <a:endParaRPr/>
          </a:p>
        </p:txBody>
      </p:sp>
      <p:sp>
        <p:nvSpPr>
          <p:cNvPr id="75" name=""/>
          <p:cNvSpPr/>
          <p:nvPr/>
        </p:nvSpPr>
        <p:spPr>
          <a:xfrm rot="0" flipH="0" flipV="0">
            <a:off x="4114800" y="1047750"/>
            <a:ext cx="6858000" cy="1628775"/>
          </a:xfrm>
          <a:prstGeom prst="roundRect">
            <a:avLst>
              <a:gd name="adj" fmla="val 5848"/>
            </a:avLst>
          </a:prstGeom>
          <a:solidFill>
            <a:srgbClr val="16223A"/>
          </a:solidFill>
          <a:ln w="12700">
            <a:solidFill>
              <a:srgbClr val="F8FAFC">
                <a:alpha val="1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76" name="" descr="{&quot;isTemplate&quot;:true,&quot;type&quot;:&quot;text&quot;}"/>
          <p:cNvSpPr txBox="1"/>
          <p:nvPr/>
        </p:nvSpPr>
        <p:spPr>
          <a:xfrm rot="0" flipH="0" flipV="0">
            <a:off x="4362450" y="1238250"/>
            <a:ext cx="12001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F8FAFC"/>
                </a:solidFill>
                <a:latin typeface="微软雅黑"/>
                <a:ea typeface="微软雅黑"/>
              </a:rPr>
              <a:t>跑的是降级实现</a:t>
            </a:r>
            <a:endParaRPr/>
          </a:p>
        </p:txBody>
      </p:sp>
      <p:sp>
        <p:nvSpPr>
          <p:cNvPr id="77" name="" descr="{&quot;isTemplate&quot;:true,&quot;type&quot;:&quot;text&quot;}"/>
          <p:cNvSpPr txBox="1"/>
          <p:nvPr/>
        </p:nvSpPr>
        <p:spPr>
          <a:xfrm rot="0" flipH="0" flipV="0">
            <a:off x="5676900" y="1266825"/>
            <a:ext cx="12382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F8FAFC">
                    <a:alpha val="42000"/>
                  </a:srgbClr>
                </a:solidFill>
                <a:latin typeface="微软雅黑"/>
                <a:ea typeface="微软雅黑"/>
              </a:rPr>
              <a:t>代码就绪，换配置即可</a:t>
            </a:r>
            <a:endParaRPr/>
          </a:p>
        </p:txBody>
      </p:sp>
      <p:sp>
        <p:nvSpPr>
          <p:cNvPr id="78" name="" descr="{&quot;isTemplate&quot;:true,&quot;type&quot;:&quot;text&quot;}"/>
          <p:cNvSpPr txBox="1"/>
          <p:nvPr/>
        </p:nvSpPr>
        <p:spPr>
          <a:xfrm rot="0" flipH="0" flipV="0">
            <a:off x="4362450" y="1543050"/>
            <a:ext cx="6362700" cy="666750"/>
          </a:xfrm>
          <a:prstGeom prst="rect"/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en-US" sz="1200">
                <a:solidFill>
                  <a:srgbClr val="F8FAFC">
                    <a:alpha val="58000"/>
                  </a:srgbClr>
                </a:solidFill>
                <a:latin typeface="微软雅黑"/>
                <a:ea typeface="微软雅黑"/>
              </a:rPr>
              <a:t xml:space="preserve">Redis </a:t>
            </a:r>
            <a:r>
              <a:rPr lang="zh-CN" sz="1200">
                <a:solidFill>
                  <a:srgbClr val="F8FAFC">
                    <a:alpha val="58000"/>
                  </a:srgbClr>
                </a:solidFill>
                <a:latin typeface="微软雅黑"/>
                <a:ea typeface="微软雅黑"/>
              </a:rPr>
              <a:t>代码完整但本机没起服务，跑进程内存</a:t>
            </a:r>
            <a:r>
              <a:rPr lang="en-US" sz="1200">
                <a:solidFill>
                  <a:srgbClr val="F8FAFC">
                    <a:alpha val="58000"/>
                  </a:srgbClr>
                </a:solidFill>
                <a:latin typeface="微软雅黑"/>
                <a:ea typeface="微软雅黑"/>
              </a:rPr>
              <a:t xml:space="preserve"> </a:t>
            </a:r>
            <a:r>
              <a:rPr lang="zh-CN" sz="1200">
                <a:solidFill>
                  <a:srgbClr val="F8FAFC">
                    <a:alpha val="58000"/>
                  </a:srgbClr>
                </a:solidFill>
                <a:latin typeface="微软雅黑"/>
                <a:ea typeface="微软雅黑"/>
              </a:rPr>
              <a:t>｜</a:t>
            </a:r>
            <a:r>
              <a:rPr lang="en-US" sz="1200">
                <a:solidFill>
                  <a:srgbClr val="F8FAFC">
                    <a:alpha val="58000"/>
                  </a:srgbClr>
                </a:solidFill>
                <a:latin typeface="微软雅黑"/>
                <a:ea typeface="微软雅黑"/>
              </a:rPr>
              <a:t xml:space="preserve"> Milvus </a:t>
            </a:r>
            <a:r>
              <a:rPr lang="zh-CN" sz="1200">
                <a:solidFill>
                  <a:srgbClr val="F8FAFC">
                    <a:alpha val="58000"/>
                  </a:srgbClr>
                </a:solidFill>
                <a:latin typeface="微软雅黑"/>
                <a:ea typeface="微软雅黑"/>
              </a:rPr>
              <a:t>没接，用的是字符</a:t>
            </a:r>
            <a:r>
              <a:rPr lang="en-US" sz="1200">
                <a:solidFill>
                  <a:srgbClr val="F8FAFC">
                    <a:alpha val="58000"/>
                  </a:srgbClr>
                </a:solidFill>
                <a:latin typeface="微软雅黑"/>
                <a:ea typeface="微软雅黑"/>
              </a:rPr>
              <a:t xml:space="preserve"> bigram Jaccard</a:t>
            </a:r>
            <a:endParaRPr/>
          </a:p>
          <a:p>
            <a:pPr>
              <a:lnSpc>
                <a:spcPct val="180000"/>
              </a:lnSpc>
            </a:pPr>
            <a:r>
              <a:rPr lang="en-US" sz="1200">
                <a:solidFill>
                  <a:srgbClr val="F8FAFC">
                    <a:alpha val="58000"/>
                  </a:srgbClr>
                </a:solidFill>
                <a:latin typeface="微软雅黑"/>
                <a:ea typeface="微软雅黑"/>
              </a:rPr>
              <a:t xml:space="preserve">MySQL </a:t>
            </a:r>
            <a:r>
              <a:rPr lang="zh-CN" sz="1200">
                <a:solidFill>
                  <a:srgbClr val="F8FAFC">
                    <a:alpha val="58000"/>
                  </a:srgbClr>
                </a:solidFill>
                <a:latin typeface="微软雅黑"/>
                <a:ea typeface="微软雅黑"/>
              </a:rPr>
              <a:t>只有建表</a:t>
            </a:r>
            <a:r>
              <a:rPr lang="en-US" sz="1200">
                <a:solidFill>
                  <a:srgbClr val="F8FAFC">
                    <a:alpha val="58000"/>
                  </a:srgbClr>
                </a:solidFill>
                <a:latin typeface="微软雅黑"/>
                <a:ea typeface="微软雅黑"/>
              </a:rPr>
              <a:t xml:space="preserve"> DDL </a:t>
            </a:r>
            <a:r>
              <a:rPr lang="zh-CN" sz="1200">
                <a:solidFill>
                  <a:srgbClr val="F8FAFC">
                    <a:alpha val="58000"/>
                  </a:srgbClr>
                </a:solidFill>
                <a:latin typeface="微软雅黑"/>
                <a:ea typeface="微软雅黑"/>
              </a:rPr>
              <a:t>｜</a:t>
            </a:r>
            <a:r>
              <a:rPr lang="en-US" sz="1200">
                <a:solidFill>
                  <a:srgbClr val="F8FAFC">
                    <a:alpha val="58000"/>
                  </a:srgbClr>
                </a:solidFill>
                <a:latin typeface="微软雅黑"/>
                <a:ea typeface="微软雅黑"/>
              </a:rPr>
              <a:t xml:space="preserve"> Docker Compose </a:t>
            </a:r>
            <a:r>
              <a:rPr lang="zh-CN" sz="1200">
                <a:solidFill>
                  <a:srgbClr val="F8FAFC">
                    <a:alpha val="58000"/>
                  </a:srgbClr>
                </a:solidFill>
                <a:latin typeface="微软雅黑"/>
                <a:ea typeface="微软雅黑"/>
              </a:rPr>
              <a:t>文件在，没实际起过</a:t>
            </a:r>
            <a:endParaRPr/>
          </a:p>
        </p:txBody>
      </p:sp>
      <p:sp>
        <p:nvSpPr>
          <p:cNvPr id="79" name=""/>
          <p:cNvSpPr/>
          <p:nvPr/>
        </p:nvSpPr>
        <p:spPr>
          <a:xfrm rot="0" flipH="0" flipV="0">
            <a:off x="4114800" y="2828925"/>
            <a:ext cx="6858000" cy="1638300"/>
          </a:xfrm>
          <a:prstGeom prst="roundRect">
            <a:avLst>
              <a:gd name="adj" fmla="val 5814"/>
            </a:avLst>
          </a:prstGeom>
          <a:solidFill>
            <a:srgbClr val="16223A"/>
          </a:solidFill>
          <a:ln w="12700">
            <a:solidFill>
              <a:srgbClr val="F8FAFC">
                <a:alpha val="1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80" name="" descr="{&quot;isTemplate&quot;:true,&quot;type&quot;:&quot;text&quot;}"/>
          <p:cNvSpPr txBox="1"/>
          <p:nvPr/>
        </p:nvSpPr>
        <p:spPr>
          <a:xfrm rot="0" flipH="0" flipV="0">
            <a:off x="4362450" y="3019425"/>
            <a:ext cx="8572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F8FAFC"/>
                </a:solidFill>
                <a:latin typeface="微软雅黑"/>
                <a:ea typeface="微软雅黑"/>
              </a:rPr>
              <a:t>根本没做的</a:t>
            </a:r>
            <a:endParaRPr/>
          </a:p>
        </p:txBody>
      </p:sp>
      <p:sp>
        <p:nvSpPr>
          <p:cNvPr id="81" name="" descr="{&quot;isTemplate&quot;:true,&quot;type&quot;:&quot;text&quot;}"/>
          <p:cNvSpPr txBox="1"/>
          <p:nvPr/>
        </p:nvSpPr>
        <p:spPr>
          <a:xfrm rot="0" flipH="0" flipV="0">
            <a:off x="5334000" y="3048000"/>
            <a:ext cx="11144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F8FAFC">
                    <a:alpha val="42000"/>
                  </a:srgbClr>
                </a:solidFill>
                <a:latin typeface="微软雅黑"/>
                <a:ea typeface="微软雅黑"/>
              </a:rPr>
              <a:t>规划里有，时间不够</a:t>
            </a:r>
            <a:endParaRPr/>
          </a:p>
        </p:txBody>
      </p:sp>
      <p:sp>
        <p:nvSpPr>
          <p:cNvPr id="82" name="" descr="{&quot;isTemplate&quot;:true,&quot;type&quot;:&quot;text&quot;}"/>
          <p:cNvSpPr txBox="1"/>
          <p:nvPr/>
        </p:nvSpPr>
        <p:spPr>
          <a:xfrm rot="0" flipH="0" flipV="0">
            <a:off x="4362450" y="3324225"/>
            <a:ext cx="6362700" cy="666750"/>
          </a:xfrm>
          <a:prstGeom prst="rect"/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zh-CN" sz="1200">
                <a:solidFill>
                  <a:srgbClr val="F8FAFC">
                    <a:alpha val="58000"/>
                  </a:srgbClr>
                </a:solidFill>
                <a:latin typeface="微软雅黑"/>
                <a:ea typeface="微软雅黑"/>
              </a:rPr>
              <a:t>多轮指代消解——说</a:t>
            </a:r>
            <a:r>
              <a:rPr lang="en-US" sz="1200">
                <a:solidFill>
                  <a:srgbClr val="F8FAFC">
                    <a:alpha val="58000"/>
                  </a:srgbClr>
                </a:solidFill>
                <a:latin typeface="微软雅黑"/>
                <a:ea typeface="微软雅黑"/>
              </a:rPr>
              <a:t>"</a:t>
            </a:r>
            <a:r>
              <a:rPr lang="zh-CN" sz="1200">
                <a:solidFill>
                  <a:srgbClr val="F8FAFC">
                    <a:alpha val="58000"/>
                  </a:srgbClr>
                </a:solidFill>
                <a:latin typeface="微软雅黑"/>
                <a:ea typeface="微软雅黑"/>
              </a:rPr>
              <a:t>把它关了</a:t>
            </a:r>
            <a:r>
              <a:rPr lang="en-US" sz="1200">
                <a:solidFill>
                  <a:srgbClr val="F8FAFC">
                    <a:alpha val="58000"/>
                  </a:srgbClr>
                </a:solidFill>
                <a:latin typeface="微软雅黑"/>
                <a:ea typeface="微软雅黑"/>
              </a:rPr>
              <a:t>"</a:t>
            </a:r>
            <a:r>
              <a:rPr lang="zh-CN" sz="1200">
                <a:solidFill>
                  <a:srgbClr val="F8FAFC">
                    <a:alpha val="58000"/>
                  </a:srgbClr>
                </a:solidFill>
                <a:latin typeface="微软雅黑"/>
                <a:ea typeface="微软雅黑"/>
              </a:rPr>
              <a:t>，它不知道</a:t>
            </a:r>
            <a:r>
              <a:rPr lang="en-US" sz="1200">
                <a:solidFill>
                  <a:srgbClr val="F8FAFC">
                    <a:alpha val="58000"/>
                  </a:srgbClr>
                </a:solidFill>
                <a:latin typeface="微软雅黑"/>
                <a:ea typeface="微软雅黑"/>
              </a:rPr>
              <a:t>"</a:t>
            </a:r>
            <a:r>
              <a:rPr lang="zh-CN" sz="1200">
                <a:solidFill>
                  <a:srgbClr val="F8FAFC">
                    <a:alpha val="58000"/>
                  </a:srgbClr>
                </a:solidFill>
                <a:latin typeface="微软雅黑"/>
                <a:ea typeface="微软雅黑"/>
              </a:rPr>
              <a:t>它</a:t>
            </a:r>
            <a:r>
              <a:rPr lang="en-US" sz="1200">
                <a:solidFill>
                  <a:srgbClr val="F8FAFC">
                    <a:alpha val="58000"/>
                  </a:srgbClr>
                </a:solidFill>
                <a:latin typeface="微软雅黑"/>
                <a:ea typeface="微软雅黑"/>
              </a:rPr>
              <a:t>"</a:t>
            </a:r>
            <a:r>
              <a:rPr lang="zh-CN" sz="1200">
                <a:solidFill>
                  <a:srgbClr val="F8FAFC">
                    <a:alpha val="58000"/>
                  </a:srgbClr>
                </a:solidFill>
                <a:latin typeface="微软雅黑"/>
                <a:ea typeface="微软雅黑"/>
              </a:rPr>
              <a:t>是哪台</a:t>
            </a:r>
            <a:r>
              <a:rPr lang="en-US" sz="1200">
                <a:solidFill>
                  <a:srgbClr val="F8FAFC">
                    <a:alpha val="58000"/>
                  </a:srgbClr>
                </a:solidFill>
                <a:latin typeface="微软雅黑"/>
                <a:ea typeface="微软雅黑"/>
              </a:rPr>
              <a:t xml:space="preserve"> </a:t>
            </a:r>
            <a:r>
              <a:rPr lang="zh-CN" sz="1200">
                <a:solidFill>
                  <a:srgbClr val="F8FAFC">
                    <a:alpha val="58000"/>
                  </a:srgbClr>
                </a:solidFill>
                <a:latin typeface="微软雅黑"/>
                <a:ea typeface="微软雅黑"/>
              </a:rPr>
              <a:t>｜</a:t>
            </a:r>
            <a:r>
              <a:rPr lang="en-US" sz="1200">
                <a:solidFill>
                  <a:srgbClr val="F8FAFC">
                    <a:alpha val="58000"/>
                  </a:srgbClr>
                </a:solidFill>
                <a:latin typeface="微软雅黑"/>
                <a:ea typeface="微软雅黑"/>
              </a:rPr>
              <a:t xml:space="preserve"> </a:t>
            </a:r>
            <a:r>
              <a:rPr lang="zh-CN" sz="1200">
                <a:solidFill>
                  <a:srgbClr val="F8FAFC">
                    <a:alpha val="58000"/>
                  </a:srgbClr>
                </a:solidFill>
                <a:latin typeface="微软雅黑"/>
                <a:ea typeface="微软雅黑"/>
              </a:rPr>
              <a:t>主动服务</a:t>
            </a:r>
            <a:r>
              <a:rPr lang="en-US" sz="1200">
                <a:solidFill>
                  <a:srgbClr val="F8FAFC">
                    <a:alpha val="58000"/>
                  </a:srgbClr>
                </a:solidFill>
                <a:latin typeface="微软雅黑"/>
                <a:ea typeface="微软雅黑"/>
              </a:rPr>
              <a:t xml:space="preserve"> </a:t>
            </a:r>
            <a:r>
              <a:rPr lang="zh-CN" sz="1200">
                <a:solidFill>
                  <a:srgbClr val="F8FAFC">
                    <a:alpha val="58000"/>
                  </a:srgbClr>
                </a:solidFill>
                <a:latin typeface="微软雅黑"/>
                <a:ea typeface="微软雅黑"/>
              </a:rPr>
              <a:t>｜</a:t>
            </a:r>
            <a:r>
              <a:rPr lang="en-US" sz="1200">
                <a:solidFill>
                  <a:srgbClr val="F8FAFC">
                    <a:alpha val="58000"/>
                  </a:srgbClr>
                </a:solidFill>
                <a:latin typeface="微软雅黑"/>
                <a:ea typeface="微软雅黑"/>
              </a:rPr>
              <a:t xml:space="preserve"> </a:t>
            </a:r>
            <a:r>
              <a:rPr lang="zh-CN" sz="1200">
                <a:solidFill>
                  <a:srgbClr val="F8FAFC">
                    <a:alpha val="58000"/>
                  </a:srgbClr>
                </a:solidFill>
                <a:latin typeface="微软雅黑"/>
                <a:ea typeface="微软雅黑"/>
              </a:rPr>
              <a:t>从行为日志学习惯</a:t>
            </a:r>
            <a:endParaRPr/>
          </a:p>
          <a:p>
            <a:pPr>
              <a:lnSpc>
                <a:spcPct val="180000"/>
              </a:lnSpc>
            </a:pPr>
            <a:r>
              <a:rPr lang="zh-CN" sz="1200">
                <a:solidFill>
                  <a:srgbClr val="F8FAFC">
                    <a:alpha val="58000"/>
                  </a:srgbClr>
                </a:solidFill>
                <a:latin typeface="微软雅黑"/>
                <a:ea typeface="微软雅黑"/>
              </a:rPr>
              <a:t>设备别名只做到房间级：</a:t>
            </a:r>
            <a:r>
              <a:rPr lang="en-US" sz="1200">
                <a:solidFill>
                  <a:srgbClr val="F8FAFC">
                    <a:alpha val="58000"/>
                  </a:srgbClr>
                </a:solidFill>
                <a:latin typeface="微软雅黑"/>
                <a:ea typeface="微软雅黑"/>
              </a:rPr>
              <a:t>"</a:t>
            </a:r>
            <a:r>
              <a:rPr lang="zh-CN" sz="1200">
                <a:solidFill>
                  <a:srgbClr val="F8FAFC">
                    <a:alpha val="58000"/>
                  </a:srgbClr>
                </a:solidFill>
                <a:latin typeface="微软雅黑"/>
                <a:ea typeface="微软雅黑"/>
              </a:rPr>
              <a:t>卧室灯</a:t>
            </a:r>
            <a:r>
              <a:rPr lang="en-US" sz="1200">
                <a:solidFill>
                  <a:srgbClr val="F8FAFC">
                    <a:alpha val="58000"/>
                  </a:srgbClr>
                </a:solidFill>
                <a:latin typeface="微软雅黑"/>
                <a:ea typeface="微软雅黑"/>
              </a:rPr>
              <a:t>"</a:t>
            </a:r>
            <a:r>
              <a:rPr lang="zh-CN" sz="1200">
                <a:solidFill>
                  <a:srgbClr val="F8FAFC">
                    <a:alpha val="58000"/>
                  </a:srgbClr>
                </a:solidFill>
                <a:latin typeface="微软雅黑"/>
                <a:ea typeface="微软雅黑"/>
              </a:rPr>
              <a:t>认得出，</a:t>
            </a:r>
            <a:r>
              <a:rPr lang="en-US" sz="1200">
                <a:solidFill>
                  <a:srgbClr val="F8FAFC">
                    <a:alpha val="58000"/>
                  </a:srgbClr>
                </a:solidFill>
                <a:latin typeface="微软雅黑"/>
                <a:ea typeface="微软雅黑"/>
              </a:rPr>
              <a:t>"</a:t>
            </a:r>
            <a:r>
              <a:rPr lang="zh-CN" sz="1200">
                <a:solidFill>
                  <a:srgbClr val="F8FAFC">
                    <a:alpha val="58000"/>
                  </a:srgbClr>
                </a:solidFill>
                <a:latin typeface="微软雅黑"/>
                <a:ea typeface="微软雅黑"/>
              </a:rPr>
              <a:t>卧室那盏</a:t>
            </a:r>
            <a:r>
              <a:rPr lang="en-US" sz="1200">
                <a:solidFill>
                  <a:srgbClr val="F8FAFC">
                    <a:alpha val="58000"/>
                  </a:srgbClr>
                </a:solidFill>
                <a:latin typeface="微软雅黑"/>
                <a:ea typeface="微软雅黑"/>
              </a:rPr>
              <a:t>"</a:t>
            </a:r>
            <a:r>
              <a:rPr lang="zh-CN" sz="1200">
                <a:solidFill>
                  <a:srgbClr val="F8FAFC">
                    <a:alpha val="58000"/>
                  </a:srgbClr>
                </a:solidFill>
                <a:latin typeface="微软雅黑"/>
                <a:ea typeface="微软雅黑"/>
              </a:rPr>
              <a:t>认不出</a:t>
            </a:r>
            <a:endParaRPr/>
          </a:p>
        </p:txBody>
      </p:sp>
      <p:sp>
        <p:nvSpPr>
          <p:cNvPr id="83" name=""/>
          <p:cNvSpPr/>
          <p:nvPr/>
        </p:nvSpPr>
        <p:spPr>
          <a:xfrm rot="0" flipH="0" flipV="0">
            <a:off x="4114800" y="4619625"/>
            <a:ext cx="6858000" cy="1628775"/>
          </a:xfrm>
          <a:prstGeom prst="roundRect">
            <a:avLst>
              <a:gd name="adj" fmla="val 5848"/>
            </a:avLst>
          </a:prstGeom>
          <a:solidFill>
            <a:srgbClr val="38BDF8">
              <a:alpha val="8000"/>
            </a:srgbClr>
          </a:solidFill>
          <a:ln w="12700">
            <a:solidFill>
              <a:srgbClr val="38BDF8">
                <a:alpha val="3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84" name="" descr="{&quot;isTemplate&quot;:true,&quot;type&quot;:&quot;text&quot;}"/>
          <p:cNvSpPr txBox="1"/>
          <p:nvPr/>
        </p:nvSpPr>
        <p:spPr>
          <a:xfrm rot="0" flipH="0" flipV="0">
            <a:off x="4362450" y="4810125"/>
            <a:ext cx="13716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38BDF8"/>
                </a:solidFill>
                <a:latin typeface="微软雅黑"/>
                <a:ea typeface="微软雅黑"/>
              </a:rPr>
              <a:t>下一步先做这两个</a:t>
            </a:r>
            <a:endParaRPr/>
          </a:p>
        </p:txBody>
      </p:sp>
      <p:sp>
        <p:nvSpPr>
          <p:cNvPr id="85" name="" descr="{&quot;isTemplate&quot;:true,&quot;type&quot;:&quot;text&quot;}"/>
          <p:cNvSpPr txBox="1"/>
          <p:nvPr/>
        </p:nvSpPr>
        <p:spPr>
          <a:xfrm rot="0" flipH="0" flipV="0">
            <a:off x="4362450" y="5114925"/>
            <a:ext cx="6362700" cy="666750"/>
          </a:xfrm>
          <a:prstGeom prst="rect"/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en-US" sz="1200">
                <a:solidFill>
                  <a:srgbClr val="F8FAFC">
                    <a:alpha val="66000"/>
                  </a:srgbClr>
                </a:solidFill>
                <a:latin typeface="微软雅黑"/>
                <a:ea typeface="微软雅黑"/>
              </a:rPr>
              <a:t xml:space="preserve">① </a:t>
            </a:r>
            <a:r>
              <a:rPr lang="zh-CN" sz="1200">
                <a:solidFill>
                  <a:srgbClr val="F8FAFC">
                    <a:alpha val="66000"/>
                  </a:srgbClr>
                </a:solidFill>
                <a:latin typeface="微软雅黑"/>
                <a:ea typeface="微软雅黑"/>
              </a:rPr>
              <a:t>把评测红线挂到</a:t>
            </a:r>
            <a:r>
              <a:rPr lang="en-US" sz="1200">
                <a:solidFill>
                  <a:srgbClr val="F8FAFC">
                    <a:alpha val="66000"/>
                  </a:srgbClr>
                </a:solidFill>
                <a:latin typeface="微软雅黑"/>
                <a:ea typeface="微软雅黑"/>
              </a:rPr>
              <a:t xml:space="preserve"> GitHub Actions——</a:t>
            </a:r>
            <a:r>
              <a:rPr lang="zh-CN" sz="1200">
                <a:solidFill>
                  <a:srgbClr val="F8FAFC">
                    <a:alpha val="66000"/>
                  </a:srgbClr>
                </a:solidFill>
                <a:latin typeface="微软雅黑"/>
                <a:ea typeface="微软雅黑"/>
              </a:rPr>
              <a:t>让</a:t>
            </a:r>
            <a:r>
              <a:rPr lang="en-US" sz="1200">
                <a:solidFill>
                  <a:srgbClr val="F8FAFC">
                    <a:alpha val="66000"/>
                  </a:srgbClr>
                </a:solidFill>
                <a:latin typeface="微软雅黑"/>
                <a:ea typeface="微软雅黑"/>
              </a:rPr>
              <a:t>"</a:t>
            </a:r>
            <a:r>
              <a:rPr lang="zh-CN" sz="1200">
                <a:solidFill>
                  <a:srgbClr val="F8FAFC">
                    <a:alpha val="66000"/>
                  </a:srgbClr>
                </a:solidFill>
                <a:latin typeface="微软雅黑"/>
                <a:ea typeface="微软雅黑"/>
              </a:rPr>
              <a:t>能拦住回归</a:t>
            </a:r>
            <a:r>
              <a:rPr lang="en-US" sz="1200">
                <a:solidFill>
                  <a:srgbClr val="F8FAFC">
                    <a:alpha val="66000"/>
                  </a:srgbClr>
                </a:solidFill>
                <a:latin typeface="微软雅黑"/>
                <a:ea typeface="微软雅黑"/>
              </a:rPr>
              <a:t>"</a:t>
            </a:r>
            <a:r>
              <a:rPr lang="zh-CN" sz="1200">
                <a:solidFill>
                  <a:srgbClr val="F8FAFC">
                    <a:alpha val="66000"/>
                  </a:srgbClr>
                </a:solidFill>
                <a:latin typeface="微软雅黑"/>
                <a:ea typeface="微软雅黑"/>
              </a:rPr>
              <a:t>变成仓库里有据可查的事实</a:t>
            </a:r>
            <a:endParaRPr/>
          </a:p>
          <a:p>
            <a:pPr>
              <a:lnSpc>
                <a:spcPct val="180000"/>
              </a:lnSpc>
            </a:pPr>
            <a:r>
              <a:rPr lang="en-US" sz="1200">
                <a:solidFill>
                  <a:srgbClr val="F8FAFC">
                    <a:alpha val="66000"/>
                  </a:srgbClr>
                </a:solidFill>
                <a:latin typeface="微软雅黑"/>
                <a:ea typeface="微软雅黑"/>
              </a:rPr>
              <a:t xml:space="preserve">② </a:t>
            </a:r>
            <a:r>
              <a:rPr lang="zh-CN" sz="1200">
                <a:solidFill>
                  <a:srgbClr val="F8FAFC">
                    <a:alpha val="66000"/>
                  </a:srgbClr>
                </a:solidFill>
                <a:latin typeface="微软雅黑"/>
                <a:ea typeface="微软雅黑"/>
              </a:rPr>
              <a:t>把</a:t>
            </a:r>
            <a:r>
              <a:rPr lang="en-US" sz="1200">
                <a:solidFill>
                  <a:srgbClr val="F8FAFC">
                    <a:alpha val="66000"/>
                  </a:srgbClr>
                </a:solidFill>
                <a:latin typeface="微软雅黑"/>
                <a:ea typeface="微软雅黑"/>
              </a:rPr>
              <a:t xml:space="preserve"> Redis </a:t>
            </a:r>
            <a:r>
              <a:rPr lang="zh-CN" sz="1200">
                <a:solidFill>
                  <a:srgbClr val="F8FAFC">
                    <a:alpha val="66000"/>
                  </a:srgbClr>
                </a:solidFill>
                <a:latin typeface="微软雅黑"/>
                <a:ea typeface="微软雅黑"/>
              </a:rPr>
              <a:t>真跑起来——三层记忆从</a:t>
            </a:r>
            <a:r>
              <a:rPr lang="en-US" sz="1200">
                <a:solidFill>
                  <a:srgbClr val="F8FAFC">
                    <a:alpha val="66000"/>
                  </a:srgbClr>
                </a:solidFill>
                <a:latin typeface="微软雅黑"/>
                <a:ea typeface="微软雅黑"/>
              </a:rPr>
              <a:t>"</a:t>
            </a:r>
            <a:r>
              <a:rPr lang="zh-CN" sz="1200">
                <a:solidFill>
                  <a:srgbClr val="F8FAFC">
                    <a:alpha val="66000"/>
                  </a:srgbClr>
                </a:solidFill>
                <a:latin typeface="微软雅黑"/>
                <a:ea typeface="微软雅黑"/>
              </a:rPr>
              <a:t>设计</a:t>
            </a:r>
            <a:r>
              <a:rPr lang="en-US" sz="1200">
                <a:solidFill>
                  <a:srgbClr val="F8FAFC">
                    <a:alpha val="66000"/>
                  </a:srgbClr>
                </a:solidFill>
                <a:latin typeface="微软雅黑"/>
                <a:ea typeface="微软雅黑"/>
              </a:rPr>
              <a:t>"</a:t>
            </a:r>
            <a:r>
              <a:rPr lang="zh-CN" sz="1200">
                <a:solidFill>
                  <a:srgbClr val="F8FAFC">
                    <a:alpha val="66000"/>
                  </a:srgbClr>
                </a:solidFill>
                <a:latin typeface="微软雅黑"/>
                <a:ea typeface="微软雅黑"/>
              </a:rPr>
              <a:t>变成</a:t>
            </a:r>
            <a:r>
              <a:rPr lang="en-US" sz="1200">
                <a:solidFill>
                  <a:srgbClr val="F8FAFC">
                    <a:alpha val="66000"/>
                  </a:srgbClr>
                </a:solidFill>
                <a:latin typeface="微软雅黑"/>
                <a:ea typeface="微软雅黑"/>
              </a:rPr>
              <a:t>"</a:t>
            </a:r>
            <a:r>
              <a:rPr lang="zh-CN" sz="1200">
                <a:solidFill>
                  <a:srgbClr val="F8FAFC">
                    <a:alpha val="66000"/>
                  </a:srgbClr>
                </a:solidFill>
                <a:latin typeface="微软雅黑"/>
                <a:ea typeface="微软雅黑"/>
              </a:rPr>
              <a:t>实测</a:t>
            </a:r>
            <a:r>
              <a:rPr lang="en-US" sz="1200">
                <a:solidFill>
                  <a:srgbClr val="F8FAFC">
                    <a:alpha val="66000"/>
                  </a:srgbClr>
                </a:solidFill>
                <a:latin typeface="微软雅黑"/>
                <a:ea typeface="微软雅黑"/>
              </a:rPr>
              <a:t>"</a:t>
            </a:r>
            <a:r>
              <a:rPr lang="zh-CN" sz="1200">
                <a:solidFill>
                  <a:srgbClr val="F8FAFC">
                    <a:alpha val="66000"/>
                  </a:srgbClr>
                </a:solidFill>
                <a:latin typeface="微软雅黑"/>
                <a:ea typeface="微软雅黑"/>
              </a:rPr>
              <a:t>，这一条最能提气</a:t>
            </a:r>
            <a:endParaRPr/>
          </a:p>
        </p:txBody>
      </p:sp>
      <p:sp>
        <p:nvSpPr>
          <p:cNvPr id="86" name="" descr="{&quot;isTemplate&quot;:true,&quot;type&quot;:&quot;text&quot;}"/>
          <p:cNvSpPr txBox="1"/>
          <p:nvPr/>
        </p:nvSpPr>
        <p:spPr>
          <a:xfrm rot="0" flipH="0" flipV="0">
            <a:off x="609600" y="6477000"/>
            <a:ext cx="19431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F8FAFC">
                    <a:alpha val="40000"/>
                  </a:srgbClr>
                </a:solidFill>
                <a:latin typeface="微软雅黑"/>
                <a:ea typeface="微软雅黑"/>
              </a:rPr>
              <a:t xml:space="preserve">HomeMind · </a:t>
            </a:r>
            <a:r>
              <a:rPr lang="zh-CN" sz="975">
                <a:solidFill>
                  <a:srgbClr val="F8FAFC">
                    <a:alpha val="40000"/>
                  </a:srgbClr>
                </a:solidFill>
                <a:latin typeface="微软雅黑"/>
                <a:ea typeface="微软雅黑"/>
              </a:rPr>
              <a:t>智能家居多智能体中枢</a:t>
            </a:r>
            <a:endParaRPr/>
          </a:p>
        </p:txBody>
      </p:sp>
      <p:sp>
        <p:nvSpPr>
          <p:cNvPr id="87" name="" descr="{&quot;isTemplate&quot;:true,&quot;type&quot;:&quot;text&quot;}"/>
          <p:cNvSpPr txBox="1"/>
          <p:nvPr/>
        </p:nvSpPr>
        <p:spPr>
          <a:xfrm rot="0" flipH="0" flipV="0">
            <a:off x="11096625" y="6477000"/>
            <a:ext cx="4857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F8FAFC">
                    <a:alpha val="40000"/>
                  </a:srgbClr>
                </a:solidFill>
                <a:latin typeface="Consolas"/>
                <a:ea typeface="Consolas"/>
              </a:rPr>
              <a:t>12 / 13</a:t>
            </a:r>
            <a:endParaRPr/>
          </a:p>
        </p:txBody>
      </p:sp>
    </p:spTree>
  </p:cSld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88" name="" descr="&lt;Slide style={{ width: 1280, height: 720, position: 'relative', overflow: 'hidden', background: '#0B1120', fontFamily: '微软雅黑' }}&gt;&#10;    &lt;Image src=&quot;assets/home_atmosphere.png&quot; style={{ position: 'absolute', top: 0, left: 0, width: 1280, height: 720, objectFit: 'cover', opacity: 0.55 }} /&gt;&#10;    &lt;Box style={{ position: 'absolute', top: 0, left: 0, width: 1280, height: 720, background: 'linear-gradient(105deg, rgba(11,17,32,0.97) 0%, rgba(11,17,32,0.90) 50%, rgba(11,17,32,0.66) 100%)' }} /&gt;&#10;&#10;    &lt;Box style={{ position: 'relative', zIndex: 1, width: 1280, height: 720, paddingLeft: 80, paddingRight: 80, paddingTop: 64, paddingBottom: 56, flexDirection: 'row', gap: 56 }}&gt;&#10;        &lt;Box style={{ width: 640, flexDirection: 'column', justifyContent: 'space-between' }}&gt;&#10;            &lt;Box&gt;&#10;                &lt;Text style={{ fontSize: 13, color: '#38BDF8', letterSpacing: 4, fontWeight: 700 }}&gt;THANKS FOR LISTENING&lt;/Text&gt;&#10;                &lt;Text style={{ fontSize: 60, fontWeight: 700, color: '#F8FAFC', lineHeight: 1.25, marginTop: 20, letterSpacing: 1 }}&gt;&#10;                    谢谢，&lt;br /&gt;欢迎提问&#10;                &lt;/Text&gt;&#10;                &lt;Box style={{ width: 60, height: 3, background: '#38BDF8', marginTop: 26 }} /&gt;&#10;            &lt;/Box&gt;&#10;&#10;            &lt;Box style={{ flexDirection: 'row', gap: 12, flexWrap: 'wrap', width: 620 }}&gt;&#10;                &lt;Box style={{ background: 'rgba(56,189,248,0.10)', border: '1px solid rgba(56,189,248,0.30)', borderRadius: 6, padding: '10px 18px' }}&gt;&#10;                    &lt;Text style={{ fontSize: 15, color: '#38BDF8' }}&gt;LangGraph&lt;/Text&gt;&#10;                &lt;/Box&gt;&#10;                &lt;Box style={{ background: 'rgba(56,189,248,0.10)', border: '1px solid rgba(56,189,248,0.30)', borderRadius: 6, padding: '10px 18px' }}&gt;&#10;                    &lt;Text style={{ fontSize: 15, color: '#38BDF8' }}&gt;多 Agent 协同&lt;/Text&gt;&#10;                &lt;/Box&gt;&#10;                &lt;Box style={{ background: 'rgba(56,189,248,0.10)', border: '1px solid rgba(56,189,248,0.30)', borderRadius: 6, padding: '10px 18px' }}&gt;&#10;                    &lt;Text style={{ fontSize: 15, color: '#38BDF8' }}&gt;三层记忆&lt;/Text&gt;&#10;                &lt;/Box&gt;&#10;                &lt;Box style={{ background: 'rgba(56,189,248,0.10)', border: '1px solid rgba(56,189,248,0.30)', borderRadius: 6, padding: '10px 18px' }}&gt;&#10;                    &lt;Text style={{ fontSize: 15, color: '#38BDF8' }}&gt;家庭级多租户&lt;/Text&gt;&#10;                &lt;/Box&gt;&#10;                &lt;Box style={{ background: 'rgba(56,189,248,0.10)', border: '1px solid rgba(56,189,248,0.30)', borderRadius: 6, padding: '10px 18px' }}&gt;&#10;                    &lt;Text style={{ fontSize: 15, color: '#38BDF8' }}&gt;四层测试体系&lt;/Text&gt;&#10;                &lt;/Box&gt;&#10;                &lt;Box style={{ background: 'rgba(56,189,248,0.10)', border: '1px solid rgba(56,189,248,0.30)', borderRadius: 6, padding: '10px 18px' }}&gt;&#10;                    &lt;Text style={{ fontSize: 15, color: '#38BDF8' }}&gt;工具治理&lt;/Text&gt;&#10;                &lt;/Box&gt;&#10;            &lt;/Box&gt;&#10;&#10;            &lt;Box&gt;&#10;                &lt;Text style={{ fontSize: 21, color: 'rgba(248,250,252,0.72)', lineHeight: 1.85, width: 600 }}&gt;&#10;                    这个项目最大的收获不是这些功能，&lt;br /&gt;&#10;                    是学会了&lt;span style={{ color: '#38BDF8', fontWeight: 700 }}&gt;怎么证明它们真的能用&lt;/span&gt;。&#10;                &lt;/Text&gt;&#10;                &lt;Text style={{ fontSize: 15, color: 'rgba(248,250,252,0.42)', marginTop: 22, letterSpacing: 1 }}&gt;&#10;                    [ 你的名字 ] · 2026 年 10 月&#10;                &lt;/Text&gt;&#10;            &lt;/Box&gt;&#10;        &lt;/Box&gt;&#10;&#10;        &lt;Box style={{ width: 424, flexDirection: 'column', justifyContent: 'space-between' }}&gt;&#10;            &lt;Box style={{ background: 'rgba(56,189,248,0.10)', border: '1px solid rgba(56,189,248,0.32)', borderRadius: 12, padding: '28px 30px' }}&gt;&#10;                &lt;Text style={{ fontSize: 12, color: 'rgba(248,250,252,0.45)', letterSpacing: 2 }}&gt;项目规模&lt;/Text&gt;&#10;                &lt;Text style={{ fontSize: 68, fontWeight: 700, color: '#38BDF8', fontFamily: 'Consolas', lineHeight: 1, marginTop: 10 }}&gt;15,093&lt;/Text&gt;&#10;                &lt;Text style={{ fontSize: 16, color: 'rgba(248,250,252,0.62)', marginTop: 14 }}&gt;行 Python 代码 · 76 个文件&lt;/Text&gt;&#10;                &lt;Box style={{ height: 1, background: 'rgba(248,250,252,0.14)', marginTop: 18, marginBottom: 16 }} /&gt;&#10;                &lt;Text style={{ fontSize: 15, color: 'rgba(248,250,252,0.55)', lineHeight: 1.8 }}&gt;&#10;                    71 次模块化提交&lt;br /&gt;247 条单测 · 54 条评测全绿&lt;br /&gt;一键自检 10 / 10&#10;                &lt;/Text&gt;&#10;            &lt;/Box&gt;&#10;&#10;            &lt;Box style={{ background: '#16223A', border: '1px solid rgba(248,250,252,0.12)', borderRadius: 12, padding: '24px 30px' }}&gt;&#10;                &lt;Text style={{ fontSize: 12, color: 'rgba(248,250,252,0.42)', letterSpacing: 2 }}&gt;代码可查&lt;/Text&gt;&#10;                &lt;Text style={{ fontSize: 16, color: '#F8FAFC', marginTop: 10, fontFamily: 'Consolas' }}&gt;github.com/RicaedoWang&lt;/Text&gt;&#10;                &lt;Text style={{ fontSize: 16, color: 'rgba(248,250,252,0.62)', marginTop: 6, fontFamily: 'Consolas' }}&gt;/HomeMind&lt;/Text&gt;&#10;            &lt;/Box&gt;&#10;        &lt;/Box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120"/>
          </a:solidFill>
          <a:ln/>
        </p:spPr>
        <p:txBody>
          <a:bodyPr/>
          <a:p/>
        </p:txBody>
      </p:sp>
      <p:pic>
        <p:nvPicPr>
          <p:cNvPr id="90" name=""/>
          <p:cNvPicPr>
            <a:picLocks noChangeAspect="1"/>
          </p:cNvPicPr>
          <p:nvPr/>
        </p:nvPicPr>
        <p:blipFill>
          <a:blip r:embed="rId1">
            <a:alphaModFix amt="55000"/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  <p:sp>
        <p:nvSpPr>
          <p:cNvPr id="9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B1120">
                  <a:alpha val="97000"/>
                </a:srgbClr>
              </a:gs>
              <a:gs pos="50000">
                <a:srgbClr val="0B1120">
                  <a:alpha val="90000"/>
                </a:srgbClr>
              </a:gs>
              <a:gs pos="100000">
                <a:srgbClr val="0B1120">
                  <a:alpha val="66000"/>
                </a:srgbClr>
              </a:gs>
            </a:gsLst>
            <a:lin ang="900000" scaled="1"/>
          </a:gradFill>
          <a:ln/>
        </p:spPr>
        <p:txBody>
          <a:bodyPr/>
          <a:p/>
        </p:txBody>
      </p:sp>
      <p:sp>
        <p:nvSpPr>
          <p:cNvPr id="92" name="" descr="{&quot;isTemplate&quot;:true,&quot;type&quot;:&quot;text&quot;}"/>
          <p:cNvSpPr txBox="1"/>
          <p:nvPr/>
        </p:nvSpPr>
        <p:spPr>
          <a:xfrm rot="0" flipH="0" flipV="0">
            <a:off x="762000" y="609600"/>
            <a:ext cx="60960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 spc="300">
                <a:solidFill>
                  <a:srgbClr val="38BDF8"/>
                </a:solidFill>
                <a:latin typeface="微软雅黑"/>
                <a:ea typeface="微软雅黑"/>
              </a:rPr>
              <a:t>THANKS FOR LISTENING</a:t>
            </a:r>
            <a:endParaRPr/>
          </a:p>
        </p:txBody>
      </p:sp>
      <p:sp>
        <p:nvSpPr>
          <p:cNvPr id="93" name="" descr="{&quot;isTemplate&quot;:true,&quot;type&quot;:&quot;text&quot;}"/>
          <p:cNvSpPr txBox="1"/>
          <p:nvPr/>
        </p:nvSpPr>
        <p:spPr>
          <a:xfrm rot="0" flipH="0" flipV="0">
            <a:off x="762000" y="952500"/>
            <a:ext cx="6096000" cy="1714500"/>
          </a:xfrm>
          <a:prstGeom prst="rect"/>
        </p:spPr>
        <p:txBody>
          <a:bodyPr wrap="none" lIns="0" tIns="0" rIns="0" bIns="0"/>
          <a:p>
            <a:pPr>
              <a:lnSpc>
                <a:spcPct val="125000"/>
              </a:lnSpc>
            </a:pPr>
            <a:r>
              <a:rPr lang="zh-CN" sz="4500" b="1" spc="75">
                <a:solidFill>
                  <a:srgbClr val="F8FAFC"/>
                </a:solidFill>
                <a:latin typeface="微软雅黑"/>
                <a:ea typeface="微软雅黑"/>
              </a:rPr>
              <a:t>谢谢，</a:t>
            </a:r>
            <a:endParaRPr/>
          </a:p>
          <a:p>
            <a:pPr>
              <a:lnSpc>
                <a:spcPct val="125000"/>
              </a:lnSpc>
            </a:pPr>
            <a:r>
              <a:rPr lang="zh-CN" sz="4500" b="1" spc="75">
                <a:solidFill>
                  <a:srgbClr val="F8FAFC"/>
                </a:solidFill>
                <a:latin typeface="微软雅黑"/>
                <a:ea typeface="微软雅黑"/>
              </a:rPr>
              <a:t>欢迎提问</a:t>
            </a:r>
            <a:endParaRPr/>
          </a:p>
        </p:txBody>
      </p:sp>
      <p:sp>
        <p:nvSpPr>
          <p:cNvPr id="94" name=""/>
          <p:cNvSpPr/>
          <p:nvPr/>
        </p:nvSpPr>
        <p:spPr>
          <a:xfrm rot="0" flipH="0" flipV="0">
            <a:off x="762000" y="2914650"/>
            <a:ext cx="571500" cy="28575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p/>
        </p:txBody>
      </p:sp>
      <p:sp>
        <p:nvSpPr>
          <p:cNvPr id="95" name=""/>
          <p:cNvSpPr/>
          <p:nvPr/>
        </p:nvSpPr>
        <p:spPr>
          <a:xfrm rot="0" flipH="0" flipV="0">
            <a:off x="762000" y="3581400"/>
            <a:ext cx="1028700" cy="361950"/>
          </a:xfrm>
          <a:prstGeom prst="roundRect">
            <a:avLst>
              <a:gd name="adj" fmla="val 15789"/>
            </a:avLst>
          </a:prstGeom>
          <a:solidFill>
            <a:srgbClr val="38BDF8">
              <a:alpha val="10000"/>
            </a:srgbClr>
          </a:solidFill>
          <a:ln w="12700">
            <a:solidFill>
              <a:srgbClr val="38BDF8">
                <a:alpha val="3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96" name="" descr="{&quot;isTemplate&quot;:true,&quot;type&quot;:&quot;text&quot;}"/>
          <p:cNvSpPr txBox="1"/>
          <p:nvPr/>
        </p:nvSpPr>
        <p:spPr>
          <a:xfrm rot="0" flipH="0" flipV="0">
            <a:off x="933450" y="3676650"/>
            <a:ext cx="6858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38BDF8"/>
                </a:solidFill>
                <a:latin typeface="微软雅黑"/>
                <a:ea typeface="微软雅黑"/>
              </a:rPr>
              <a:t>LangGraph</a:t>
            </a:r>
            <a:endParaRPr/>
          </a:p>
        </p:txBody>
      </p:sp>
      <p:sp>
        <p:nvSpPr>
          <p:cNvPr id="97" name=""/>
          <p:cNvSpPr/>
          <p:nvPr/>
        </p:nvSpPr>
        <p:spPr>
          <a:xfrm rot="0" flipH="0" flipV="0">
            <a:off x="1905000" y="3581400"/>
            <a:ext cx="1228725" cy="361950"/>
          </a:xfrm>
          <a:prstGeom prst="roundRect">
            <a:avLst>
              <a:gd name="adj" fmla="val 15789"/>
            </a:avLst>
          </a:prstGeom>
          <a:solidFill>
            <a:srgbClr val="38BDF8">
              <a:alpha val="10000"/>
            </a:srgbClr>
          </a:solidFill>
          <a:ln w="12700">
            <a:solidFill>
              <a:srgbClr val="38BDF8">
                <a:alpha val="3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98" name="" descr="{&quot;isTemplate&quot;:true,&quot;type&quot;:&quot;text&quot;}"/>
          <p:cNvSpPr txBox="1"/>
          <p:nvPr/>
        </p:nvSpPr>
        <p:spPr>
          <a:xfrm rot="0" flipH="0" flipV="0">
            <a:off x="2076450" y="3676650"/>
            <a:ext cx="8858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38BDF8"/>
                </a:solidFill>
                <a:latin typeface="微软雅黑"/>
                <a:ea typeface="微软雅黑"/>
              </a:rPr>
              <a:t>多</a:t>
            </a:r>
            <a:r>
              <a:rPr lang="en-US" sz="1125">
                <a:solidFill>
                  <a:srgbClr val="38BDF8"/>
                </a:solidFill>
                <a:latin typeface="微软雅黑"/>
                <a:ea typeface="微软雅黑"/>
              </a:rPr>
              <a:t xml:space="preserve"> Agent </a:t>
            </a:r>
            <a:r>
              <a:rPr lang="zh-CN" sz="1125">
                <a:solidFill>
                  <a:srgbClr val="38BDF8"/>
                </a:solidFill>
                <a:latin typeface="微软雅黑"/>
                <a:ea typeface="微软雅黑"/>
              </a:rPr>
              <a:t>协同</a:t>
            </a:r>
            <a:endParaRPr/>
          </a:p>
        </p:txBody>
      </p:sp>
      <p:sp>
        <p:nvSpPr>
          <p:cNvPr id="99" name=""/>
          <p:cNvSpPr/>
          <p:nvPr/>
        </p:nvSpPr>
        <p:spPr>
          <a:xfrm rot="0" flipH="0" flipV="0">
            <a:off x="3248025" y="3581400"/>
            <a:ext cx="914400" cy="361950"/>
          </a:xfrm>
          <a:prstGeom prst="roundRect">
            <a:avLst>
              <a:gd name="adj" fmla="val 15789"/>
            </a:avLst>
          </a:prstGeom>
          <a:solidFill>
            <a:srgbClr val="38BDF8">
              <a:alpha val="10000"/>
            </a:srgbClr>
          </a:solidFill>
          <a:ln w="12700">
            <a:solidFill>
              <a:srgbClr val="38BDF8">
                <a:alpha val="3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00" name="" descr="{&quot;isTemplate&quot;:true,&quot;type&quot;:&quot;text&quot;}"/>
          <p:cNvSpPr txBox="1"/>
          <p:nvPr/>
        </p:nvSpPr>
        <p:spPr>
          <a:xfrm rot="0" flipH="0" flipV="0">
            <a:off x="3419475" y="3676650"/>
            <a:ext cx="5715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38BDF8"/>
                </a:solidFill>
                <a:latin typeface="微软雅黑"/>
                <a:ea typeface="微软雅黑"/>
              </a:rPr>
              <a:t>三层记忆</a:t>
            </a:r>
            <a:endParaRPr/>
          </a:p>
        </p:txBody>
      </p:sp>
      <p:sp>
        <p:nvSpPr>
          <p:cNvPr id="101" name=""/>
          <p:cNvSpPr/>
          <p:nvPr/>
        </p:nvSpPr>
        <p:spPr>
          <a:xfrm rot="0" flipH="0" flipV="0">
            <a:off x="4276725" y="3581400"/>
            <a:ext cx="1200150" cy="361950"/>
          </a:xfrm>
          <a:prstGeom prst="roundRect">
            <a:avLst>
              <a:gd name="adj" fmla="val 15789"/>
            </a:avLst>
          </a:prstGeom>
          <a:solidFill>
            <a:srgbClr val="38BDF8">
              <a:alpha val="10000"/>
            </a:srgbClr>
          </a:solidFill>
          <a:ln w="12700">
            <a:solidFill>
              <a:srgbClr val="38BDF8">
                <a:alpha val="3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02" name="" descr="{&quot;isTemplate&quot;:true,&quot;type&quot;:&quot;text&quot;}"/>
          <p:cNvSpPr txBox="1"/>
          <p:nvPr/>
        </p:nvSpPr>
        <p:spPr>
          <a:xfrm rot="0" flipH="0" flipV="0">
            <a:off x="4448175" y="3676650"/>
            <a:ext cx="8572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38BDF8"/>
                </a:solidFill>
                <a:latin typeface="微软雅黑"/>
                <a:ea typeface="微软雅黑"/>
              </a:rPr>
              <a:t>家庭级多租户</a:t>
            </a:r>
            <a:endParaRPr/>
          </a:p>
        </p:txBody>
      </p:sp>
      <p:sp>
        <p:nvSpPr>
          <p:cNvPr id="103" name=""/>
          <p:cNvSpPr/>
          <p:nvPr/>
        </p:nvSpPr>
        <p:spPr>
          <a:xfrm rot="0" flipH="0" flipV="0">
            <a:off x="762000" y="4057650"/>
            <a:ext cx="1200150" cy="361950"/>
          </a:xfrm>
          <a:prstGeom prst="roundRect">
            <a:avLst>
              <a:gd name="adj" fmla="val 15789"/>
            </a:avLst>
          </a:prstGeom>
          <a:solidFill>
            <a:srgbClr val="38BDF8">
              <a:alpha val="10000"/>
            </a:srgbClr>
          </a:solidFill>
          <a:ln w="12700">
            <a:solidFill>
              <a:srgbClr val="38BDF8">
                <a:alpha val="3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04" name="" descr="{&quot;isTemplate&quot;:true,&quot;type&quot;:&quot;text&quot;}"/>
          <p:cNvSpPr txBox="1"/>
          <p:nvPr/>
        </p:nvSpPr>
        <p:spPr>
          <a:xfrm rot="0" flipH="0" flipV="0">
            <a:off x="933450" y="4152900"/>
            <a:ext cx="8572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38BDF8"/>
                </a:solidFill>
                <a:latin typeface="微软雅黑"/>
                <a:ea typeface="微软雅黑"/>
              </a:rPr>
              <a:t>四层测试体系</a:t>
            </a:r>
            <a:endParaRPr/>
          </a:p>
        </p:txBody>
      </p:sp>
      <p:sp>
        <p:nvSpPr>
          <p:cNvPr id="105" name=""/>
          <p:cNvSpPr/>
          <p:nvPr/>
        </p:nvSpPr>
        <p:spPr>
          <a:xfrm rot="0" flipH="0" flipV="0">
            <a:off x="2076450" y="4057650"/>
            <a:ext cx="914400" cy="361950"/>
          </a:xfrm>
          <a:prstGeom prst="roundRect">
            <a:avLst>
              <a:gd name="adj" fmla="val 15789"/>
            </a:avLst>
          </a:prstGeom>
          <a:solidFill>
            <a:srgbClr val="38BDF8">
              <a:alpha val="10000"/>
            </a:srgbClr>
          </a:solidFill>
          <a:ln w="12700">
            <a:solidFill>
              <a:srgbClr val="38BDF8">
                <a:alpha val="3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06" name="" descr="{&quot;isTemplate&quot;:true,&quot;type&quot;:&quot;text&quot;}"/>
          <p:cNvSpPr txBox="1"/>
          <p:nvPr/>
        </p:nvSpPr>
        <p:spPr>
          <a:xfrm rot="0" flipH="0" flipV="0">
            <a:off x="2247900" y="4152900"/>
            <a:ext cx="5715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38BDF8"/>
                </a:solidFill>
                <a:latin typeface="微软雅黑"/>
                <a:ea typeface="微软雅黑"/>
              </a:rPr>
              <a:t>工具治理</a:t>
            </a:r>
            <a:endParaRPr/>
          </a:p>
        </p:txBody>
      </p:sp>
      <p:sp>
        <p:nvSpPr>
          <p:cNvPr id="107" name="" descr="{&quot;isTemplate&quot;:true,&quot;type&quot;:&quot;text&quot;}"/>
          <p:cNvSpPr txBox="1"/>
          <p:nvPr/>
        </p:nvSpPr>
        <p:spPr>
          <a:xfrm rot="0" flipH="0" flipV="0">
            <a:off x="762000" y="5048250"/>
            <a:ext cx="5715000" cy="895350"/>
          </a:xfrm>
          <a:prstGeom prst="rect"/>
        </p:spPr>
        <p:txBody>
          <a:bodyPr wrap="none" lIns="0" tIns="0" rIns="0" bIns="0"/>
          <a:p>
            <a:pPr>
              <a:lnSpc>
                <a:spcPct val="185000"/>
              </a:lnSpc>
            </a:pPr>
            <a:r>
              <a:rPr lang="zh-CN" sz="1575">
                <a:solidFill>
                  <a:srgbClr val="F8FAFC">
                    <a:alpha val="72000"/>
                  </a:srgbClr>
                </a:solidFill>
                <a:latin typeface="微软雅黑"/>
                <a:ea typeface="微软雅黑"/>
              </a:rPr>
              <a:t>这个项目最大的收获不是这些功能，</a:t>
            </a:r>
            <a:endParaRPr/>
          </a:p>
          <a:p>
            <a:pPr>
              <a:lnSpc>
                <a:spcPct val="185000"/>
              </a:lnSpc>
            </a:pPr>
            <a:r>
              <a:rPr lang="zh-CN" sz="1575">
                <a:solidFill>
                  <a:srgbClr val="F8FAFC">
                    <a:alpha val="72000"/>
                  </a:srgbClr>
                </a:solidFill>
                <a:latin typeface="微软雅黑"/>
                <a:ea typeface="微软雅黑"/>
              </a:rPr>
              <a:t>是学会了</a:t>
            </a:r>
            <a:r>
              <a:rPr lang="zh-CN" sz="1575" b="1">
                <a:solidFill>
                  <a:srgbClr val="38BDF8"/>
                </a:solidFill>
                <a:latin typeface="微软雅黑"/>
                <a:ea typeface="微软雅黑"/>
              </a:rPr>
              <a:t>怎么证明它们真的能用</a:t>
            </a:r>
            <a:r>
              <a:rPr lang="zh-CN" sz="1575">
                <a:solidFill>
                  <a:srgbClr val="F8FAFC">
                    <a:alpha val="72000"/>
                  </a:srgbClr>
                </a:solidFill>
                <a:latin typeface="微软雅黑"/>
                <a:ea typeface="微软雅黑"/>
              </a:rPr>
              <a:t>。</a:t>
            </a:r>
            <a:endParaRPr/>
          </a:p>
        </p:txBody>
      </p:sp>
      <p:sp>
        <p:nvSpPr>
          <p:cNvPr id="108" name="" descr="{&quot;isTemplate&quot;:true,&quot;type&quot;:&quot;text&quot;}"/>
          <p:cNvSpPr txBox="1"/>
          <p:nvPr/>
        </p:nvSpPr>
        <p:spPr>
          <a:xfrm rot="0" flipH="0" flipV="0">
            <a:off x="762000" y="6153150"/>
            <a:ext cx="6096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F8FAFC">
                    <a:alpha val="42000"/>
                  </a:srgbClr>
                </a:solidFill>
                <a:latin typeface="微软雅黑"/>
                <a:ea typeface="微软雅黑"/>
              </a:rPr>
              <a:t xml:space="preserve">[ </a:t>
            </a:r>
            <a:r>
              <a:rPr lang="zh-CN" sz="1125" spc="75">
                <a:solidFill>
                  <a:srgbClr val="F8FAFC">
                    <a:alpha val="42000"/>
                  </a:srgbClr>
                </a:solidFill>
                <a:latin typeface="微软雅黑"/>
                <a:ea typeface="微软雅黑"/>
              </a:rPr>
              <a:t>你的名字</a:t>
            </a:r>
            <a:r>
              <a:rPr lang="en-US" sz="1125" spc="75">
                <a:solidFill>
                  <a:srgbClr val="F8FAFC">
                    <a:alpha val="42000"/>
                  </a:srgbClr>
                </a:solidFill>
                <a:latin typeface="微软雅黑"/>
                <a:ea typeface="微软雅黑"/>
              </a:rPr>
              <a:t xml:space="preserve"> ] · 2026 </a:t>
            </a:r>
            <a:r>
              <a:rPr lang="zh-CN" sz="1125" spc="75">
                <a:solidFill>
                  <a:srgbClr val="F8FAFC">
                    <a:alpha val="42000"/>
                  </a:srgbClr>
                </a:solidFill>
                <a:latin typeface="微软雅黑"/>
                <a:ea typeface="微软雅黑"/>
              </a:rPr>
              <a:t>年</a:t>
            </a:r>
            <a:r>
              <a:rPr lang="en-US" sz="1125" spc="75">
                <a:solidFill>
                  <a:srgbClr val="F8FAFC">
                    <a:alpha val="42000"/>
                  </a:srgbClr>
                </a:solidFill>
                <a:latin typeface="微软雅黑"/>
                <a:ea typeface="微软雅黑"/>
              </a:rPr>
              <a:t xml:space="preserve"> 10 </a:t>
            </a:r>
            <a:r>
              <a:rPr lang="zh-CN" sz="1125" spc="75">
                <a:solidFill>
                  <a:srgbClr val="F8FAFC">
                    <a:alpha val="42000"/>
                  </a:srgbClr>
                </a:solidFill>
                <a:latin typeface="微软雅黑"/>
                <a:ea typeface="微软雅黑"/>
              </a:rPr>
              <a:t>月</a:t>
            </a:r>
            <a:endParaRPr/>
          </a:p>
        </p:txBody>
      </p:sp>
      <p:sp>
        <p:nvSpPr>
          <p:cNvPr id="109" name=""/>
          <p:cNvSpPr/>
          <p:nvPr/>
        </p:nvSpPr>
        <p:spPr>
          <a:xfrm rot="0" flipH="0" flipV="0">
            <a:off x="7391400" y="609600"/>
            <a:ext cx="4038600" cy="3143250"/>
          </a:xfrm>
          <a:prstGeom prst="roundRect">
            <a:avLst>
              <a:gd name="adj" fmla="val 3636"/>
            </a:avLst>
          </a:prstGeom>
          <a:solidFill>
            <a:srgbClr val="38BDF8">
              <a:alpha val="10000"/>
            </a:srgbClr>
          </a:solidFill>
          <a:ln w="12700">
            <a:solidFill>
              <a:srgbClr val="38BDF8">
                <a:alpha val="32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10" name="" descr="{&quot;isTemplate&quot;:true,&quot;type&quot;:&quot;text&quot;}"/>
          <p:cNvSpPr txBox="1"/>
          <p:nvPr/>
        </p:nvSpPr>
        <p:spPr>
          <a:xfrm rot="0" flipH="0" flipV="0">
            <a:off x="7677150" y="876300"/>
            <a:ext cx="34671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 spc="150">
                <a:solidFill>
                  <a:srgbClr val="F8FAFC">
                    <a:alpha val="45000"/>
                  </a:srgbClr>
                </a:solidFill>
                <a:latin typeface="微软雅黑"/>
                <a:ea typeface="微软雅黑"/>
              </a:rPr>
              <a:t>项目规模</a:t>
            </a:r>
            <a:endParaRPr/>
          </a:p>
        </p:txBody>
      </p:sp>
      <p:sp>
        <p:nvSpPr>
          <p:cNvPr id="111" name="" descr="{&quot;isTemplate&quot;:true,&quot;type&quot;:&quot;text&quot;}"/>
          <p:cNvSpPr txBox="1"/>
          <p:nvPr/>
        </p:nvSpPr>
        <p:spPr>
          <a:xfrm rot="0" flipH="0" flipV="0">
            <a:off x="7677150" y="1114425"/>
            <a:ext cx="3467100" cy="7810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5100" b="1">
                <a:solidFill>
                  <a:srgbClr val="38BDF8"/>
                </a:solidFill>
                <a:latin typeface="Consolas"/>
                <a:ea typeface="Consolas"/>
              </a:rPr>
              <a:t>15,093</a:t>
            </a:r>
            <a:endParaRPr/>
          </a:p>
        </p:txBody>
      </p:sp>
      <p:sp>
        <p:nvSpPr>
          <p:cNvPr id="112" name="" descr="{&quot;isTemplate&quot;:true,&quot;type&quot;:&quot;text&quot;}"/>
          <p:cNvSpPr txBox="1"/>
          <p:nvPr/>
        </p:nvSpPr>
        <p:spPr>
          <a:xfrm rot="0" flipH="0" flipV="0">
            <a:off x="7677150" y="2028825"/>
            <a:ext cx="34671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F8FAFC">
                    <a:alpha val="62000"/>
                  </a:srgbClr>
                </a:solidFill>
                <a:latin typeface="微软雅黑"/>
                <a:ea typeface="微软雅黑"/>
              </a:rPr>
              <a:t>行</a:t>
            </a:r>
            <a:r>
              <a:rPr lang="en-US" sz="1200">
                <a:solidFill>
                  <a:srgbClr val="F8FAFC">
                    <a:alpha val="62000"/>
                  </a:srgbClr>
                </a:solidFill>
                <a:latin typeface="微软雅黑"/>
                <a:ea typeface="微软雅黑"/>
              </a:rPr>
              <a:t xml:space="preserve"> Python </a:t>
            </a:r>
            <a:r>
              <a:rPr lang="zh-CN" sz="1200">
                <a:solidFill>
                  <a:srgbClr val="F8FAFC">
                    <a:alpha val="62000"/>
                  </a:srgbClr>
                </a:solidFill>
                <a:latin typeface="微软雅黑"/>
                <a:ea typeface="微软雅黑"/>
              </a:rPr>
              <a:t>代码</a:t>
            </a:r>
            <a:r>
              <a:rPr lang="en-US" sz="1200">
                <a:solidFill>
                  <a:srgbClr val="F8FAFC">
                    <a:alpha val="62000"/>
                  </a:srgbClr>
                </a:solidFill>
                <a:latin typeface="微软雅黑"/>
                <a:ea typeface="微软雅黑"/>
              </a:rPr>
              <a:t xml:space="preserve"> · 76 </a:t>
            </a:r>
            <a:r>
              <a:rPr lang="zh-CN" sz="1200">
                <a:solidFill>
                  <a:srgbClr val="F8FAFC">
                    <a:alpha val="62000"/>
                  </a:srgbClr>
                </a:solidFill>
                <a:latin typeface="微软雅黑"/>
                <a:ea typeface="微软雅黑"/>
              </a:rPr>
              <a:t>个文件</a:t>
            </a:r>
            <a:endParaRPr/>
          </a:p>
        </p:txBody>
      </p:sp>
      <p:sp>
        <p:nvSpPr>
          <p:cNvPr id="113" name=""/>
          <p:cNvSpPr/>
          <p:nvPr/>
        </p:nvSpPr>
        <p:spPr>
          <a:xfrm rot="0" flipH="0" flipV="0">
            <a:off x="7677150" y="2390775"/>
            <a:ext cx="3467100" cy="9525"/>
          </a:xfrm>
          <a:prstGeom prst="rect">
            <a:avLst/>
          </a:prstGeom>
          <a:solidFill>
            <a:srgbClr val="F8FAFC">
              <a:alpha val="14000"/>
            </a:srgbClr>
          </a:solidFill>
          <a:ln/>
        </p:spPr>
        <p:txBody>
          <a:bodyPr/>
          <a:p/>
        </p:txBody>
      </p:sp>
      <p:sp>
        <p:nvSpPr>
          <p:cNvPr id="114" name="" descr="{&quot;isTemplate&quot;:true,&quot;type&quot;:&quot;text&quot;}"/>
          <p:cNvSpPr txBox="1"/>
          <p:nvPr/>
        </p:nvSpPr>
        <p:spPr>
          <a:xfrm rot="0" flipH="0" flipV="0">
            <a:off x="7677150" y="2552700"/>
            <a:ext cx="3467100" cy="933450"/>
          </a:xfrm>
          <a:prstGeom prst="rect"/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en-US" sz="1125">
                <a:solidFill>
                  <a:srgbClr val="F8FAFC">
                    <a:alpha val="55000"/>
                  </a:srgbClr>
                </a:solidFill>
                <a:latin typeface="微软雅黑"/>
                <a:ea typeface="微软雅黑"/>
              </a:rPr>
              <a:t xml:space="preserve">71 </a:t>
            </a:r>
            <a:r>
              <a:rPr lang="zh-CN" sz="1125">
                <a:solidFill>
                  <a:srgbClr val="F8FAFC">
                    <a:alpha val="55000"/>
                  </a:srgbClr>
                </a:solidFill>
                <a:latin typeface="微软雅黑"/>
                <a:ea typeface="微软雅黑"/>
              </a:rPr>
              <a:t>次模块化提交</a:t>
            </a:r>
            <a:endParaRPr/>
          </a:p>
          <a:p>
            <a:pPr>
              <a:lnSpc>
                <a:spcPct val="180000"/>
              </a:lnSpc>
            </a:pPr>
            <a:r>
              <a:rPr lang="en-US" sz="1125">
                <a:solidFill>
                  <a:srgbClr val="F8FAFC">
                    <a:alpha val="55000"/>
                  </a:srgbClr>
                </a:solidFill>
                <a:latin typeface="微软雅黑"/>
                <a:ea typeface="微软雅黑"/>
              </a:rPr>
              <a:t xml:space="preserve">247 </a:t>
            </a:r>
            <a:r>
              <a:rPr lang="zh-CN" sz="1125">
                <a:solidFill>
                  <a:srgbClr val="F8FAFC">
                    <a:alpha val="55000"/>
                  </a:srgbClr>
                </a:solidFill>
                <a:latin typeface="微软雅黑"/>
                <a:ea typeface="微软雅黑"/>
              </a:rPr>
              <a:t>条单测</a:t>
            </a:r>
            <a:r>
              <a:rPr lang="en-US" sz="1125">
                <a:solidFill>
                  <a:srgbClr val="F8FAFC">
                    <a:alpha val="55000"/>
                  </a:srgbClr>
                </a:solidFill>
                <a:latin typeface="微软雅黑"/>
                <a:ea typeface="微软雅黑"/>
              </a:rPr>
              <a:t xml:space="preserve"> · 54 </a:t>
            </a:r>
            <a:r>
              <a:rPr lang="zh-CN" sz="1125">
                <a:solidFill>
                  <a:srgbClr val="F8FAFC">
                    <a:alpha val="55000"/>
                  </a:srgbClr>
                </a:solidFill>
                <a:latin typeface="微软雅黑"/>
                <a:ea typeface="微软雅黑"/>
              </a:rPr>
              <a:t>条评测全绿</a:t>
            </a:r>
            <a:endParaRPr/>
          </a:p>
          <a:p>
            <a:pPr>
              <a:lnSpc>
                <a:spcPct val="180000"/>
              </a:lnSpc>
            </a:pPr>
            <a:r>
              <a:rPr lang="zh-CN" sz="1125">
                <a:solidFill>
                  <a:srgbClr val="F8FAFC">
                    <a:alpha val="55000"/>
                  </a:srgbClr>
                </a:solidFill>
                <a:latin typeface="微软雅黑"/>
                <a:ea typeface="微软雅黑"/>
              </a:rPr>
              <a:t>一键自检</a:t>
            </a:r>
            <a:r>
              <a:rPr lang="en-US" sz="1125">
                <a:solidFill>
                  <a:srgbClr val="F8FAFC">
                    <a:alpha val="55000"/>
                  </a:srgbClr>
                </a:solidFill>
                <a:latin typeface="微软雅黑"/>
                <a:ea typeface="微软雅黑"/>
              </a:rPr>
              <a:t xml:space="preserve"> 10 / 10</a:t>
            </a:r>
            <a:endParaRPr/>
          </a:p>
        </p:txBody>
      </p:sp>
      <p:sp>
        <p:nvSpPr>
          <p:cNvPr id="115" name=""/>
          <p:cNvSpPr/>
          <p:nvPr/>
        </p:nvSpPr>
        <p:spPr>
          <a:xfrm rot="0" flipH="0" flipV="0">
            <a:off x="7391400" y="5191125"/>
            <a:ext cx="4038600" cy="1133475"/>
          </a:xfrm>
          <a:prstGeom prst="roundRect">
            <a:avLst>
              <a:gd name="adj" fmla="val 10084"/>
            </a:avLst>
          </a:prstGeom>
          <a:solidFill>
            <a:srgbClr val="16223A"/>
          </a:solidFill>
          <a:ln w="12700">
            <a:solidFill>
              <a:srgbClr val="F8FAFC">
                <a:alpha val="12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16" name="" descr="{&quot;isTemplate&quot;:true,&quot;type&quot;:&quot;text&quot;}"/>
          <p:cNvSpPr txBox="1"/>
          <p:nvPr/>
        </p:nvSpPr>
        <p:spPr>
          <a:xfrm rot="0" flipH="0" flipV="0">
            <a:off x="7677150" y="5419725"/>
            <a:ext cx="34671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 spc="150">
                <a:solidFill>
                  <a:srgbClr val="F8FAFC">
                    <a:alpha val="42000"/>
                  </a:srgbClr>
                </a:solidFill>
                <a:latin typeface="微软雅黑"/>
                <a:ea typeface="微软雅黑"/>
              </a:rPr>
              <a:t>代码可查</a:t>
            </a:r>
            <a:endParaRPr/>
          </a:p>
        </p:txBody>
      </p:sp>
      <p:sp>
        <p:nvSpPr>
          <p:cNvPr id="117" name="" descr="{&quot;isTemplate&quot;:true,&quot;type&quot;:&quot;text&quot;}"/>
          <p:cNvSpPr txBox="1"/>
          <p:nvPr/>
        </p:nvSpPr>
        <p:spPr>
          <a:xfrm rot="0" flipH="0" flipV="0">
            <a:off x="7677150" y="5657850"/>
            <a:ext cx="34671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F8FAFC"/>
                </a:solidFill>
                <a:latin typeface="Consolas"/>
                <a:ea typeface="Consolas"/>
              </a:rPr>
              <a:t>github.com/RicaedoWang</a:t>
            </a:r>
            <a:endParaRPr/>
          </a:p>
        </p:txBody>
      </p:sp>
      <p:sp>
        <p:nvSpPr>
          <p:cNvPr id="118" name="" descr="{&quot;isTemplate&quot;:true,&quot;type&quot;:&quot;text&quot;}"/>
          <p:cNvSpPr txBox="1"/>
          <p:nvPr/>
        </p:nvSpPr>
        <p:spPr>
          <a:xfrm rot="0" flipH="0" flipV="0">
            <a:off x="7677150" y="5905500"/>
            <a:ext cx="34671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F8FAFC">
                    <a:alpha val="62000"/>
                  </a:srgbClr>
                </a:solidFill>
                <a:latin typeface="Consolas"/>
                <a:ea typeface="Consolas"/>
              </a:rPr>
              <a:t>/HomeMind</a:t>
            </a:r>
            <a:endParaRP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Tencent office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2026-10-21T13:15:17Z</dcterms:created>
  <dcterms:modified xsi:type="dcterms:W3CDTF">2026-10-21T13:15:17Z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{"AIGC":{"Label":"1","ContentProducer":"00119111010856365494821B355","ProduceID":"01a15cd10b8b7d99851419a8df76cdc2","ReservedCode1":"","ContentPropagator":"00119111010856365494821B355","PropagateID":"01a15cd10b8b7d99851419a8df76cdc2","ReservedCode2":""}}</vt:lpwstr>
  </property>
</Properties>
</file>